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7" d="100"/>
          <a:sy n="87" d="100"/>
        </p:scale>
        <p:origin x="680" y="2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110112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343563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28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png"/><Relationship Id="rId5" Type="http://schemas.openxmlformats.org/officeDocument/2006/relationships/image" Target="../media/image31.png"/><Relationship Id="rId4" Type="http://schemas.openxmlformats.org/officeDocument/2006/relationships/image" Target="../media/image34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40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png"/><Relationship Id="rId5" Type="http://schemas.openxmlformats.org/officeDocument/2006/relationships/image" Target="../media/image32.png"/><Relationship Id="rId4" Type="http://schemas.openxmlformats.org/officeDocument/2006/relationships/image" Target="../media/image4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4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2926080"/>
            <a:ext cx="3474720" cy="3474720"/>
          </a:xfrm>
          <a:prstGeom prst="ellipse">
            <a:avLst/>
          </a:prstGeom>
          <a:solidFill>
            <a:srgbClr val="38BDF8">
              <a:alpha val="6000"/>
            </a:srgbClr>
          </a:solidFill>
          <a:ln w="12700">
            <a:solidFill>
              <a:srgbClr val="38BDF8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-1097280" y="-731520"/>
            <a:ext cx="3200400" cy="3200400"/>
          </a:xfrm>
          <a:prstGeom prst="ellipse">
            <a:avLst/>
          </a:prstGeom>
          <a:solidFill>
            <a:srgbClr val="818CF8">
              <a:alpha val="8000"/>
            </a:srgbClr>
          </a:solidFill>
          <a:ln w="12700">
            <a:solidFill>
              <a:srgbClr val="818CF8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7772400" y="-457200"/>
            <a:ext cx="1828800" cy="1828800"/>
          </a:xfrm>
          <a:prstGeom prst="ellipse">
            <a:avLst/>
          </a:prstGeom>
          <a:solidFill>
            <a:srgbClr val="34D399">
              <a:alpha val="6000"/>
            </a:srgbClr>
          </a:solidFill>
          <a:ln w="12700">
            <a:solidFill>
              <a:srgbClr val="34D399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0" y="1325880"/>
            <a:ext cx="9144000" cy="2514600"/>
          </a:xfrm>
          <a:prstGeom prst="rect">
            <a:avLst/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274320" y="329184"/>
            <a:ext cx="731520" cy="320040"/>
          </a:xfrm>
          <a:prstGeom prst="roundRect">
            <a:avLst>
              <a:gd name="adj" fmla="val 14286"/>
            </a:avLst>
          </a:prstGeom>
          <a:solidFill>
            <a:srgbClr val="38BDF8">
              <a:alpha val="18000"/>
            </a:srgbClr>
          </a:solidFill>
          <a:ln w="12700">
            <a:solidFill>
              <a:srgbClr val="38BDF8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20040" y="36576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097280" y="329184"/>
            <a:ext cx="731520" cy="320040"/>
          </a:xfrm>
          <a:prstGeom prst="roundRect">
            <a:avLst>
              <a:gd name="adj" fmla="val 14286"/>
            </a:avLst>
          </a:prstGeom>
          <a:solidFill>
            <a:srgbClr val="34D399">
              <a:alpha val="18000"/>
            </a:srgbClr>
          </a:solidFill>
          <a:ln w="12700">
            <a:solidFill>
              <a:srgbClr val="34D399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1143000" y="36576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039112" y="329184"/>
            <a:ext cx="731520" cy="320040"/>
          </a:xfrm>
          <a:prstGeom prst="roundRect">
            <a:avLst>
              <a:gd name="adj" fmla="val 14286"/>
            </a:avLst>
          </a:prstGeom>
          <a:solidFill>
            <a:srgbClr val="818CF8">
              <a:alpha val="18000"/>
            </a:srgbClr>
          </a:solidFill>
          <a:ln w="12700">
            <a:solidFill>
              <a:srgbClr val="818CF8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2084832" y="36576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898648" y="329184"/>
            <a:ext cx="731520" cy="320040"/>
          </a:xfrm>
          <a:prstGeom prst="roundRect">
            <a:avLst>
              <a:gd name="adj" fmla="val 14286"/>
            </a:avLst>
          </a:prstGeom>
          <a:solidFill>
            <a:srgbClr val="FBBF24">
              <a:alpha val="18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2944368" y="36576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584448" y="329184"/>
            <a:ext cx="731520" cy="320040"/>
          </a:xfrm>
          <a:prstGeom prst="roundRect">
            <a:avLst>
              <a:gd name="adj" fmla="val 14286"/>
            </a:avLst>
          </a:prstGeom>
          <a:solidFill>
            <a:srgbClr val="F472B6">
              <a:alpha val="18000"/>
            </a:srgbClr>
          </a:solidFill>
          <a:ln w="12700">
            <a:solidFill>
              <a:srgbClr val="F472B6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630168" y="36576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727448" y="329184"/>
            <a:ext cx="731520" cy="320040"/>
          </a:xfrm>
          <a:prstGeom prst="roundRect">
            <a:avLst>
              <a:gd name="adj" fmla="val 14286"/>
            </a:avLst>
          </a:prstGeom>
          <a:solidFill>
            <a:srgbClr val="38BDF8">
              <a:alpha val="18000"/>
            </a:srgbClr>
          </a:solidFill>
          <a:ln w="12700">
            <a:solidFill>
              <a:srgbClr val="38BDF8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773168" y="36576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57200" y="9692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57200" y="13258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Workshop</a:t>
            </a:r>
            <a:endParaRPr lang="en-US" sz="5800" dirty="0"/>
          </a:p>
        </p:txBody>
      </p:sp>
      <p:sp>
        <p:nvSpPr>
          <p:cNvPr id="20" name="Text 18"/>
          <p:cNvSpPr/>
          <p:nvPr/>
        </p:nvSpPr>
        <p:spPr>
          <a:xfrm>
            <a:off x="457200" y="23042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ideas to reliable intelligent software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457200" y="281635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+ data + APIs + product engineering + governance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457200" y="4160520"/>
            <a:ext cx="2011680" cy="502920"/>
          </a:xfrm>
          <a:prstGeom prst="roundRect">
            <a:avLst>
              <a:gd name="adj" fmla="val 21818"/>
            </a:avLst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457200" y="418795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START WITH AGENDA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651760" y="4160520"/>
            <a:ext cx="2011680" cy="502920"/>
          </a:xfrm>
          <a:prstGeom prst="roundRect">
            <a:avLst>
              <a:gd name="adj" fmla="val 21818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2651760" y="418795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⊞  OPEN DEMO PORTFOLIO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669280" y="1005840"/>
            <a:ext cx="3200400" cy="3200400"/>
          </a:xfrm>
          <a:prstGeom prst="ellipse">
            <a:avLst/>
          </a:prstGeom>
          <a:solidFill>
            <a:srgbClr val="1A2F4A">
              <a:alpha val="65000"/>
            </a:srgbClr>
          </a:solidFill>
          <a:ln w="6350">
            <a:solidFill>
              <a:srgbClr val="38BDF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7223760" y="640080"/>
            <a:ext cx="566928" cy="566928"/>
          </a:xfrm>
          <a:prstGeom prst="ellipse">
            <a:avLst/>
          </a:prstGeom>
          <a:solidFill>
            <a:srgbClr val="38BDF8">
              <a:alpha val="18000"/>
            </a:srgbClr>
          </a:solidFill>
          <a:ln w="12700">
            <a:solidFill>
              <a:srgbClr val="38BDF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731520"/>
            <a:ext cx="384048" cy="384048"/>
          </a:xfrm>
          <a:prstGeom prst="rect">
            <a:avLst/>
          </a:prstGeom>
        </p:spPr>
      </p:pic>
      <p:sp>
        <p:nvSpPr>
          <p:cNvPr id="29" name="Shape 26"/>
          <p:cNvSpPr/>
          <p:nvPr/>
        </p:nvSpPr>
        <p:spPr>
          <a:xfrm>
            <a:off x="7955280" y="1737360"/>
            <a:ext cx="566928" cy="566928"/>
          </a:xfrm>
          <a:prstGeom prst="ellipse">
            <a:avLst/>
          </a:prstGeom>
          <a:solidFill>
            <a:srgbClr val="818CF8">
              <a:alpha val="18000"/>
            </a:srgbClr>
          </a:solidFill>
          <a:ln w="12700">
            <a:solidFill>
              <a:srgbClr val="818CF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1828800"/>
            <a:ext cx="384048" cy="384048"/>
          </a:xfrm>
          <a:prstGeom prst="rect">
            <a:avLst/>
          </a:prstGeom>
        </p:spPr>
      </p:pic>
      <p:sp>
        <p:nvSpPr>
          <p:cNvPr id="31" name="Shape 27"/>
          <p:cNvSpPr/>
          <p:nvPr/>
        </p:nvSpPr>
        <p:spPr>
          <a:xfrm>
            <a:off x="7498080" y="2926080"/>
            <a:ext cx="566928" cy="566928"/>
          </a:xfrm>
          <a:prstGeom prst="ellipse">
            <a:avLst/>
          </a:prstGeom>
          <a:solidFill>
            <a:srgbClr val="34D399">
              <a:alpha val="18000"/>
            </a:srgbClr>
          </a:solidFill>
          <a:ln w="12700">
            <a:solidFill>
              <a:srgbClr val="34D399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9520" y="3017520"/>
            <a:ext cx="384048" cy="384048"/>
          </a:xfrm>
          <a:prstGeom prst="rect">
            <a:avLst/>
          </a:prstGeom>
        </p:spPr>
      </p:pic>
      <p:sp>
        <p:nvSpPr>
          <p:cNvPr id="33" name="Shape 28"/>
          <p:cNvSpPr/>
          <p:nvPr/>
        </p:nvSpPr>
        <p:spPr>
          <a:xfrm>
            <a:off x="6583680" y="3657600"/>
            <a:ext cx="566928" cy="566928"/>
          </a:xfrm>
          <a:prstGeom prst="ellipse">
            <a:avLst/>
          </a:prstGeom>
          <a:solidFill>
            <a:srgbClr val="FBBF24">
              <a:alpha val="18000"/>
            </a:srgbClr>
          </a:solidFill>
          <a:ln w="12700">
            <a:solidFill>
              <a:srgbClr val="FBBF24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75120" y="3749040"/>
            <a:ext cx="384048" cy="384048"/>
          </a:xfrm>
          <a:prstGeom prst="rect">
            <a:avLst/>
          </a:prstGeom>
        </p:spPr>
      </p:pic>
      <p:sp>
        <p:nvSpPr>
          <p:cNvPr id="35" name="Shape 29"/>
          <p:cNvSpPr/>
          <p:nvPr/>
        </p:nvSpPr>
        <p:spPr>
          <a:xfrm>
            <a:off x="5760720" y="2834640"/>
            <a:ext cx="566928" cy="566928"/>
          </a:xfrm>
          <a:prstGeom prst="ellipse">
            <a:avLst/>
          </a:prstGeom>
          <a:solidFill>
            <a:srgbClr val="F472B6">
              <a:alpha val="18000"/>
            </a:srgbClr>
          </a:solidFill>
          <a:ln w="12700">
            <a:solidFill>
              <a:srgbClr val="F472B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52160" y="2926080"/>
            <a:ext cx="384048" cy="384048"/>
          </a:xfrm>
          <a:prstGeom prst="rect">
            <a:avLst/>
          </a:prstGeom>
        </p:spPr>
      </p:pic>
      <p:sp>
        <p:nvSpPr>
          <p:cNvPr id="37" name="Shape 30"/>
          <p:cNvSpPr/>
          <p:nvPr/>
        </p:nvSpPr>
        <p:spPr>
          <a:xfrm>
            <a:off x="6035040" y="1554480"/>
            <a:ext cx="566928" cy="566928"/>
          </a:xfrm>
          <a:prstGeom prst="ellipse">
            <a:avLst/>
          </a:prstGeom>
          <a:solidFill>
            <a:srgbClr val="38BDF8">
              <a:alpha val="18000"/>
            </a:srgbClr>
          </a:solidFill>
          <a:ln w="12700">
            <a:solidFill>
              <a:srgbClr val="38BDF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26480" y="1645920"/>
            <a:ext cx="384048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164592" y="36576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417320" y="36576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3063240" y="36576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DEMOS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0" y="36576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5806440" y="36576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7178040" y="36576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6583680" y="36576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 •  02 / 24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Control Room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457200" y="111556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Jump into any section, return home anytime, and keep the day moving.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64592" y="612648"/>
            <a:ext cx="164592" cy="16459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365760" y="1691640"/>
            <a:ext cx="2651760" cy="1188720"/>
          </a:xfrm>
          <a:prstGeom prst="rect">
            <a:avLst/>
          </a:prstGeom>
          <a:solidFill>
            <a:srgbClr val="1A2F4A"/>
          </a:solidFill>
          <a:ln w="12700">
            <a:solidFill>
              <a:srgbClr val="1A2F4A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365760" y="1691640"/>
            <a:ext cx="50292" cy="11887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892808"/>
            <a:ext cx="384048" cy="384048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051560" y="1837944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1051560" y="2167128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Seven-hour flow and pacing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3246120" y="1691640"/>
            <a:ext cx="2651760" cy="1188720"/>
          </a:xfrm>
          <a:prstGeom prst="rect">
            <a:avLst/>
          </a:prstGeom>
          <a:solidFill>
            <a:srgbClr val="1A2F4A"/>
          </a:solidFill>
          <a:ln w="12700">
            <a:solidFill>
              <a:srgbClr val="1A2F4A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6"/>
          <p:cNvSpPr/>
          <p:nvPr/>
        </p:nvSpPr>
        <p:spPr>
          <a:xfrm>
            <a:off x="3246120" y="1691640"/>
            <a:ext cx="50292" cy="1188720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7288" y="1892808"/>
            <a:ext cx="384048" cy="384048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3931920" y="1837944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3931920" y="2167128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AI/ML basics, RAG, architecture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6126480" y="1691640"/>
            <a:ext cx="2651760" cy="1188720"/>
          </a:xfrm>
          <a:prstGeom prst="rect">
            <a:avLst/>
          </a:prstGeom>
          <a:solidFill>
            <a:srgbClr val="1A2F4A"/>
          </a:solidFill>
          <a:ln w="12700">
            <a:solidFill>
              <a:srgbClr val="1A2F4A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Shape 20"/>
          <p:cNvSpPr/>
          <p:nvPr/>
        </p:nvSpPr>
        <p:spPr>
          <a:xfrm>
            <a:off x="6126480" y="1691640"/>
            <a:ext cx="50292" cy="118872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7648" y="1892808"/>
            <a:ext cx="384048" cy="384048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6812280" y="1837944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DEMOS</a:t>
            </a:r>
            <a:endParaRPr lang="en-US" sz="1300" dirty="0"/>
          </a:p>
        </p:txBody>
      </p:sp>
      <p:sp>
        <p:nvSpPr>
          <p:cNvPr id="27" name="Text 22"/>
          <p:cNvSpPr/>
          <p:nvPr/>
        </p:nvSpPr>
        <p:spPr>
          <a:xfrm>
            <a:off x="6812280" y="2167128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showcase demos and runbook</a:t>
            </a:r>
            <a:endParaRPr lang="en-US" sz="1000" dirty="0"/>
          </a:p>
        </p:txBody>
      </p:sp>
      <p:sp>
        <p:nvSpPr>
          <p:cNvPr id="28" name="Shape 23"/>
          <p:cNvSpPr/>
          <p:nvPr/>
        </p:nvSpPr>
        <p:spPr>
          <a:xfrm>
            <a:off x="365760" y="3154680"/>
            <a:ext cx="2651760" cy="1188720"/>
          </a:xfrm>
          <a:prstGeom prst="rect">
            <a:avLst/>
          </a:prstGeom>
          <a:solidFill>
            <a:srgbClr val="1A2F4A"/>
          </a:solidFill>
          <a:ln w="12700">
            <a:solidFill>
              <a:srgbClr val="1A2F4A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Shape 24"/>
          <p:cNvSpPr/>
          <p:nvPr/>
        </p:nvSpPr>
        <p:spPr>
          <a:xfrm>
            <a:off x="365760" y="3154680"/>
            <a:ext cx="50292" cy="118872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6928" y="3355848"/>
            <a:ext cx="384048" cy="384048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1051560" y="3300984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1300" dirty="0"/>
          </a:p>
        </p:txBody>
      </p:sp>
      <p:sp>
        <p:nvSpPr>
          <p:cNvPr id="32" name="Text 26"/>
          <p:cNvSpPr/>
          <p:nvPr/>
        </p:nvSpPr>
        <p:spPr>
          <a:xfrm>
            <a:off x="1051560" y="3630168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stack and API connects</a:t>
            </a:r>
            <a:endParaRPr lang="en-US" sz="1000" dirty="0"/>
          </a:p>
        </p:txBody>
      </p:sp>
      <p:sp>
        <p:nvSpPr>
          <p:cNvPr id="33" name="Shape 27"/>
          <p:cNvSpPr/>
          <p:nvPr/>
        </p:nvSpPr>
        <p:spPr>
          <a:xfrm>
            <a:off x="3246120" y="3154680"/>
            <a:ext cx="2651760" cy="1188720"/>
          </a:xfrm>
          <a:prstGeom prst="rect">
            <a:avLst/>
          </a:prstGeom>
          <a:solidFill>
            <a:srgbClr val="1A2F4A"/>
          </a:solidFill>
          <a:ln w="12700">
            <a:solidFill>
              <a:srgbClr val="1A2F4A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4" name="Shape 28"/>
          <p:cNvSpPr/>
          <p:nvPr/>
        </p:nvSpPr>
        <p:spPr>
          <a:xfrm>
            <a:off x="3246120" y="3154680"/>
            <a:ext cx="50292" cy="1188720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47288" y="3355848"/>
            <a:ext cx="384048" cy="384048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3931920" y="3300984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1300" dirty="0"/>
          </a:p>
        </p:txBody>
      </p:sp>
      <p:sp>
        <p:nvSpPr>
          <p:cNvPr id="37" name="Text 30"/>
          <p:cNvSpPr/>
          <p:nvPr/>
        </p:nvSpPr>
        <p:spPr>
          <a:xfrm>
            <a:off x="3931920" y="3630168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Security, evals, responsible AI</a:t>
            </a:r>
            <a:endParaRPr lang="en-US" sz="1000" dirty="0"/>
          </a:p>
        </p:txBody>
      </p:sp>
      <p:sp>
        <p:nvSpPr>
          <p:cNvPr id="38" name="Shape 31"/>
          <p:cNvSpPr/>
          <p:nvPr/>
        </p:nvSpPr>
        <p:spPr>
          <a:xfrm>
            <a:off x="6126480" y="3154680"/>
            <a:ext cx="2651760" cy="1188720"/>
          </a:xfrm>
          <a:prstGeom prst="rect">
            <a:avLst/>
          </a:prstGeom>
          <a:solidFill>
            <a:srgbClr val="1A2F4A"/>
          </a:solidFill>
          <a:ln w="12700">
            <a:solidFill>
              <a:srgbClr val="1A2F4A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9" name="Shape 32"/>
          <p:cNvSpPr/>
          <p:nvPr/>
        </p:nvSpPr>
        <p:spPr>
          <a:xfrm>
            <a:off x="6126480" y="3154680"/>
            <a:ext cx="50292" cy="11887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27648" y="3355848"/>
            <a:ext cx="384048" cy="384048"/>
          </a:xfrm>
          <a:prstGeom prst="rect">
            <a:avLst/>
          </a:prstGeom>
        </p:spPr>
      </p:pic>
      <p:sp>
        <p:nvSpPr>
          <p:cNvPr id="41" name="Text 33"/>
          <p:cNvSpPr/>
          <p:nvPr/>
        </p:nvSpPr>
        <p:spPr>
          <a:xfrm>
            <a:off x="6812280" y="3300984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300" dirty="0"/>
          </a:p>
        </p:txBody>
      </p:sp>
      <p:sp>
        <p:nvSpPr>
          <p:cNvPr id="42" name="Text 34"/>
          <p:cNvSpPr/>
          <p:nvPr/>
        </p:nvSpPr>
        <p:spPr>
          <a:xfrm>
            <a:off x="6812280" y="3630168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 plan and 30-60-90 path</a:t>
            </a:r>
            <a:endParaRPr lang="en-US" sz="1000" dirty="0"/>
          </a:p>
        </p:txBody>
      </p:sp>
      <p:sp>
        <p:nvSpPr>
          <p:cNvPr id="43" name="Text 35"/>
          <p:cNvSpPr/>
          <p:nvPr/>
        </p:nvSpPr>
        <p:spPr>
          <a:xfrm>
            <a:off x="365760" y="459028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use slideshow mode - use this control room as your navigation cue.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164592" y="36576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417320" y="36576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3063240" y="36576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DEMOS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0" y="36576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5806440" y="36576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7178040" y="36576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6583680" y="36576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  •  04 / 24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Star</a:t>
            </a:r>
            <a:endParaRPr lang="en-US" sz="3200" dirty="0"/>
          </a:p>
        </p:txBody>
      </p:sp>
      <p:sp>
        <p:nvSpPr>
          <p:cNvPr id="11" name="Shape 9"/>
          <p:cNvSpPr/>
          <p:nvPr/>
        </p:nvSpPr>
        <p:spPr>
          <a:xfrm>
            <a:off x="164592" y="612648"/>
            <a:ext cx="164592" cy="164592"/>
          </a:xfrm>
          <a:prstGeom prst="ellipse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411480" y="1234440"/>
            <a:ext cx="8321040" cy="1115568"/>
          </a:xfrm>
          <a:prstGeom prst="rect">
            <a:avLst/>
          </a:prstGeom>
          <a:solidFill>
            <a:srgbClr val="1A2F4A"/>
          </a:solidFill>
          <a:ln w="12700">
            <a:solidFill>
              <a:srgbClr val="1A2F4A"/>
            </a:solidFill>
            <a:prstDash val="solid"/>
          </a:ln>
          <a:effectLst>
            <a:outerShdw blurRad="2032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11480" y="1234440"/>
            <a:ext cx="73152" cy="1115568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40080" y="1298448"/>
            <a:ext cx="79552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i="1" dirty="0">
                <a:solidFill>
                  <a:srgbClr val="E2E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"AI is a capability layer: data, models, APIs, UX, evaluation, security, and operations working together."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411480" y="2633472"/>
            <a:ext cx="2651760" cy="2103120"/>
          </a:xfrm>
          <a:prstGeom prst="rect">
            <a:avLst/>
          </a:prstGeom>
          <a:solidFill>
            <a:srgbClr val="1A2F4A"/>
          </a:solidFill>
          <a:ln w="12700">
            <a:solidFill>
              <a:srgbClr val="1A2F4A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411480" y="2633472"/>
            <a:ext cx="2651760" cy="5486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816352"/>
            <a:ext cx="502920" cy="50292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271016" y="2798064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576072" y="3401568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Reasoning, generation, classification, embeddings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3218688" y="2633472"/>
            <a:ext cx="2651760" cy="2103120"/>
          </a:xfrm>
          <a:prstGeom prst="rect">
            <a:avLst/>
          </a:prstGeom>
          <a:solidFill>
            <a:srgbClr val="1A2F4A"/>
          </a:solidFill>
          <a:ln w="12700">
            <a:solidFill>
              <a:srgbClr val="1A2F4A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8"/>
          <p:cNvSpPr/>
          <p:nvPr/>
        </p:nvSpPr>
        <p:spPr>
          <a:xfrm>
            <a:off x="3218688" y="2633472"/>
            <a:ext cx="2651760" cy="54864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7288" y="2816352"/>
            <a:ext cx="502920" cy="502920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4078224" y="2798064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1700" dirty="0"/>
          </a:p>
        </p:txBody>
      </p:sp>
      <p:sp>
        <p:nvSpPr>
          <p:cNvPr id="24" name="Text 20"/>
          <p:cNvSpPr/>
          <p:nvPr/>
        </p:nvSpPr>
        <p:spPr>
          <a:xfrm>
            <a:off x="3383280" y="3401568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Retrieval, tools, jobs, data, APIs, state</a:t>
            </a:r>
            <a:endParaRPr lang="en-US" sz="1100" dirty="0"/>
          </a:p>
        </p:txBody>
      </p:sp>
      <p:sp>
        <p:nvSpPr>
          <p:cNvPr id="25" name="Shape 21"/>
          <p:cNvSpPr/>
          <p:nvPr/>
        </p:nvSpPr>
        <p:spPr>
          <a:xfrm>
            <a:off x="6025896" y="2633472"/>
            <a:ext cx="2651760" cy="2103120"/>
          </a:xfrm>
          <a:prstGeom prst="rect">
            <a:avLst/>
          </a:prstGeom>
          <a:solidFill>
            <a:srgbClr val="1A2F4A"/>
          </a:solidFill>
          <a:ln w="12700">
            <a:solidFill>
              <a:srgbClr val="1A2F4A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2"/>
          <p:cNvSpPr/>
          <p:nvPr/>
        </p:nvSpPr>
        <p:spPr>
          <a:xfrm>
            <a:off x="6025896" y="2633472"/>
            <a:ext cx="2651760" cy="54864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54496" y="2816352"/>
            <a:ext cx="502920" cy="502920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6885432" y="2798064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</a:t>
            </a:r>
            <a:endParaRPr lang="en-US" sz="1700" dirty="0"/>
          </a:p>
        </p:txBody>
      </p:sp>
      <p:sp>
        <p:nvSpPr>
          <p:cNvPr id="29" name="Text 24"/>
          <p:cNvSpPr/>
          <p:nvPr/>
        </p:nvSpPr>
        <p:spPr>
          <a:xfrm>
            <a:off x="6190488" y="3401568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Permissions, evals, audit logs, human approval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164592" y="36576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417320" y="36576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3063240" y="36576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DEMOS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0" y="36576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5806440" y="36576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7178040" y="36576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6583680" y="36576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  •  05 / 24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57200" y="47548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 Map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164592" y="594360"/>
            <a:ext cx="164592" cy="164592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pillars show breadth without turning the workshop into a random collection of experiments.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65760" y="1508760"/>
            <a:ext cx="26517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365760" y="1508760"/>
            <a:ext cx="50292" cy="13716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691640"/>
            <a:ext cx="384048" cy="384048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033272" y="1636776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AI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1033272" y="2002536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RAG, semantic search, citations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3246120" y="1508760"/>
            <a:ext cx="26517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6"/>
          <p:cNvSpPr/>
          <p:nvPr/>
        </p:nvSpPr>
        <p:spPr>
          <a:xfrm>
            <a:off x="3246120" y="1508760"/>
            <a:ext cx="50292" cy="1371600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0712" y="1691640"/>
            <a:ext cx="384048" cy="384048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3913632" y="1636776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Intelligence</a:t>
            </a:r>
            <a:endParaRPr lang="en-US" sz="1250" dirty="0"/>
          </a:p>
        </p:txBody>
      </p:sp>
      <p:sp>
        <p:nvSpPr>
          <p:cNvPr id="22" name="Text 18"/>
          <p:cNvSpPr/>
          <p:nvPr/>
        </p:nvSpPr>
        <p:spPr>
          <a:xfrm>
            <a:off x="3913632" y="2002536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OCR, extraction, validation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6126480" y="1508760"/>
            <a:ext cx="26517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Shape 20"/>
          <p:cNvSpPr/>
          <p:nvPr/>
        </p:nvSpPr>
        <p:spPr>
          <a:xfrm>
            <a:off x="6126480" y="1508760"/>
            <a:ext cx="50292" cy="13716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1072" y="1691640"/>
            <a:ext cx="384048" cy="384048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6793992" y="1636776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ML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6793992" y="2002536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Forecasting, anomalies, risk</a:t>
            </a:r>
            <a:endParaRPr lang="en-US" sz="1000" dirty="0"/>
          </a:p>
        </p:txBody>
      </p:sp>
      <p:sp>
        <p:nvSpPr>
          <p:cNvPr id="28" name="Shape 23"/>
          <p:cNvSpPr/>
          <p:nvPr/>
        </p:nvSpPr>
        <p:spPr>
          <a:xfrm>
            <a:off x="365760" y="3063240"/>
            <a:ext cx="26517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Shape 24"/>
          <p:cNvSpPr/>
          <p:nvPr/>
        </p:nvSpPr>
        <p:spPr>
          <a:xfrm>
            <a:off x="365760" y="3063240"/>
            <a:ext cx="50292" cy="137160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0352" y="3246120"/>
            <a:ext cx="384048" cy="384048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1033272" y="3191256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Agents</a:t>
            </a:r>
            <a:endParaRPr lang="en-US" sz="1250" dirty="0"/>
          </a:p>
        </p:txBody>
      </p:sp>
      <p:sp>
        <p:nvSpPr>
          <p:cNvPr id="32" name="Text 26"/>
          <p:cNvSpPr/>
          <p:nvPr/>
        </p:nvSpPr>
        <p:spPr>
          <a:xfrm>
            <a:off x="1033272" y="3557016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calling, approvals, logs</a:t>
            </a:r>
            <a:endParaRPr lang="en-US" sz="1000" dirty="0"/>
          </a:p>
        </p:txBody>
      </p:sp>
      <p:sp>
        <p:nvSpPr>
          <p:cNvPr id="33" name="Shape 27"/>
          <p:cNvSpPr/>
          <p:nvPr/>
        </p:nvSpPr>
        <p:spPr>
          <a:xfrm>
            <a:off x="3246120" y="3063240"/>
            <a:ext cx="26517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4" name="Shape 28"/>
          <p:cNvSpPr/>
          <p:nvPr/>
        </p:nvSpPr>
        <p:spPr>
          <a:xfrm>
            <a:off x="3246120" y="3063240"/>
            <a:ext cx="50292" cy="1371600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10712" y="3246120"/>
            <a:ext cx="384048" cy="384048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3913632" y="3191256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AI</a:t>
            </a:r>
            <a:endParaRPr lang="en-US" sz="1250" dirty="0"/>
          </a:p>
        </p:txBody>
      </p:sp>
      <p:sp>
        <p:nvSpPr>
          <p:cNvPr id="37" name="Text 30"/>
          <p:cNvSpPr/>
          <p:nvPr/>
        </p:nvSpPr>
        <p:spPr>
          <a:xfrm>
            <a:off x="3913632" y="3557016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Images, charts, screenshots</a:t>
            </a:r>
            <a:endParaRPr lang="en-US" sz="1000" dirty="0"/>
          </a:p>
        </p:txBody>
      </p:sp>
      <p:sp>
        <p:nvSpPr>
          <p:cNvPr id="38" name="Shape 31"/>
          <p:cNvSpPr/>
          <p:nvPr/>
        </p:nvSpPr>
        <p:spPr>
          <a:xfrm>
            <a:off x="6126480" y="3063240"/>
            <a:ext cx="26517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9" name="Shape 32"/>
          <p:cNvSpPr/>
          <p:nvPr/>
        </p:nvSpPr>
        <p:spPr>
          <a:xfrm>
            <a:off x="6126480" y="3063240"/>
            <a:ext cx="50292" cy="13716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91072" y="3246120"/>
            <a:ext cx="384048" cy="384048"/>
          </a:xfrm>
          <a:prstGeom prst="rect">
            <a:avLst/>
          </a:prstGeom>
        </p:spPr>
      </p:pic>
      <p:sp>
        <p:nvSpPr>
          <p:cNvPr id="41" name="Text 33"/>
          <p:cNvSpPr/>
          <p:nvPr/>
        </p:nvSpPr>
        <p:spPr>
          <a:xfrm>
            <a:off x="6793992" y="3191256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Intelligence</a:t>
            </a:r>
            <a:endParaRPr lang="en-US" sz="1250" dirty="0"/>
          </a:p>
        </p:txBody>
      </p:sp>
      <p:sp>
        <p:nvSpPr>
          <p:cNvPr id="42" name="Text 34"/>
          <p:cNvSpPr/>
          <p:nvPr/>
        </p:nvSpPr>
        <p:spPr>
          <a:xfrm>
            <a:off x="6793992" y="3557016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Code, tests, review, docs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164592" y="36576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417320" y="36576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3063240" y="36576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DEMOS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0" y="36576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5806440" y="36576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7178040" y="36576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6583680" y="36576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  •  06 / 24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Architecture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457200" y="111556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production-minded AI system coordinates UX, APIs, orchestration, models, retrieval, data, and operations.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64592" y="612648"/>
            <a:ext cx="164592" cy="164592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365760" y="1572768"/>
            <a:ext cx="8412480" cy="438912"/>
          </a:xfrm>
          <a:prstGeom prst="rect">
            <a:avLst/>
          </a:prstGeom>
          <a:solidFill>
            <a:srgbClr val="1A2F4A"/>
          </a:solidFill>
          <a:ln w="6350">
            <a:solidFill>
              <a:srgbClr val="38BDF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365760" y="1572768"/>
            <a:ext cx="50292" cy="43891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548640" y="1609344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880360" y="1627632"/>
            <a:ext cx="5760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app, dashboards, chat, admin console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046720" y="164592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2093976"/>
            <a:ext cx="8412480" cy="438912"/>
          </a:xfrm>
          <a:prstGeom prst="rect">
            <a:avLst/>
          </a:prstGeom>
          <a:solidFill>
            <a:srgbClr val="1A2F4A"/>
          </a:solidFill>
          <a:ln w="6350">
            <a:solidFill>
              <a:srgbClr val="818CF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365760" y="2093976"/>
            <a:ext cx="50292" cy="438912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548640" y="213055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API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880360" y="2148840"/>
            <a:ext cx="5760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REST/GraphQL, auth, validation, rate limits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046720" y="2167128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5760" y="2615184"/>
            <a:ext cx="8412480" cy="438912"/>
          </a:xfrm>
          <a:prstGeom prst="rect">
            <a:avLst/>
          </a:prstGeom>
          <a:solidFill>
            <a:srgbClr val="1A2F4A"/>
          </a:solidFill>
          <a:ln w="6350">
            <a:solidFill>
              <a:srgbClr val="34D399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365760" y="2615184"/>
            <a:ext cx="50292" cy="43891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548640" y="265176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880360" y="2670048"/>
            <a:ext cx="5760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engine, agent planner, queues, approvals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8046720" y="2688336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65760" y="3136392"/>
            <a:ext cx="8412480" cy="438912"/>
          </a:xfrm>
          <a:prstGeom prst="rect">
            <a:avLst/>
          </a:prstGeom>
          <a:solidFill>
            <a:srgbClr val="1A2F4A"/>
          </a:solidFill>
          <a:ln w="6350">
            <a:solidFill>
              <a:srgbClr val="FBBF24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365760" y="3136392"/>
            <a:ext cx="50292" cy="438912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548640" y="317296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+ Retrieval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2880360" y="3191256"/>
            <a:ext cx="5760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LLMs, embeddings, vector search, reranking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8046720" y="3209544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65760" y="3657600"/>
            <a:ext cx="8412480" cy="438912"/>
          </a:xfrm>
          <a:prstGeom prst="rect">
            <a:avLst/>
          </a:prstGeom>
          <a:solidFill>
            <a:srgbClr val="1A2F4A"/>
          </a:solidFill>
          <a:ln w="6350">
            <a:solidFill>
              <a:srgbClr val="F472B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365760" y="3657600"/>
            <a:ext cx="50292" cy="438912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548640" y="3694176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+ Integrations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2880360" y="3712464"/>
            <a:ext cx="5760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SQL, files, CRM, ERP, email, calendar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8046720" y="373075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65760" y="4178808"/>
            <a:ext cx="8412480" cy="438912"/>
          </a:xfrm>
          <a:prstGeom prst="rect">
            <a:avLst/>
          </a:prstGeom>
          <a:solidFill>
            <a:srgbClr val="1A2F4A"/>
          </a:solidFill>
          <a:ln w="6350">
            <a:solidFill>
              <a:srgbClr val="38BDF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Shape 37"/>
          <p:cNvSpPr/>
          <p:nvPr/>
        </p:nvSpPr>
        <p:spPr>
          <a:xfrm>
            <a:off x="365760" y="4178808"/>
            <a:ext cx="50292" cy="43891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548640" y="4215384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+ Ops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2880360" y="4233672"/>
            <a:ext cx="5760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RBAC, audit logs, evals, monitoring, CI/CD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8046720" y="425196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164592" y="36576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417320" y="36576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3063240" y="36576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DEMOS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0" y="36576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5806440" y="36576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7178040" y="36576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6583680" y="36576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  •  07 / 24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57200" y="47548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Pipeline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164592" y="594360"/>
            <a:ext cx="164592" cy="164592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augmented generation grounds answers in trusted sources instead of asking the model to guess.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182880" y="1536192"/>
            <a:ext cx="1389888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182880" y="1536192"/>
            <a:ext cx="1389888" cy="5029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658368" y="1664208"/>
            <a:ext cx="438912" cy="43891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58368" y="166420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231136"/>
            <a:ext cx="365760" cy="36576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256032" y="2679192"/>
            <a:ext cx="12435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237744" y="3017520"/>
            <a:ext cx="1280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Docs, tickets, reports, wikis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1572768" y="2633472"/>
            <a:ext cx="228600" cy="3657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8"/>
          <p:cNvSpPr/>
          <p:nvPr/>
        </p:nvSpPr>
        <p:spPr>
          <a:xfrm>
            <a:off x="1618488" y="1536192"/>
            <a:ext cx="1389888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19"/>
          <p:cNvSpPr/>
          <p:nvPr/>
        </p:nvSpPr>
        <p:spPr>
          <a:xfrm>
            <a:off x="1618488" y="1536192"/>
            <a:ext cx="1389888" cy="50292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0"/>
          <p:cNvSpPr/>
          <p:nvPr/>
        </p:nvSpPr>
        <p:spPr>
          <a:xfrm>
            <a:off x="2093976" y="1664208"/>
            <a:ext cx="438912" cy="438912"/>
          </a:xfrm>
          <a:prstGeom prst="ellipse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1"/>
          <p:cNvSpPr/>
          <p:nvPr/>
        </p:nvSpPr>
        <p:spPr>
          <a:xfrm>
            <a:off x="2093976" y="166420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21408" y="2231136"/>
            <a:ext cx="365760" cy="365760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1691640" y="2679192"/>
            <a:ext cx="12435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</a:t>
            </a:r>
            <a:endParaRPr lang="en-US" sz="1200" dirty="0"/>
          </a:p>
        </p:txBody>
      </p:sp>
      <p:sp>
        <p:nvSpPr>
          <p:cNvPr id="27" name="Text 23"/>
          <p:cNvSpPr/>
          <p:nvPr/>
        </p:nvSpPr>
        <p:spPr>
          <a:xfrm>
            <a:off x="1673352" y="3017520"/>
            <a:ext cx="1280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Extract, clean, chunk, enrich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3008376" y="2633472"/>
            <a:ext cx="228600" cy="3657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5"/>
          <p:cNvSpPr/>
          <p:nvPr/>
        </p:nvSpPr>
        <p:spPr>
          <a:xfrm>
            <a:off x="3054096" y="1536192"/>
            <a:ext cx="1389888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Shape 26"/>
          <p:cNvSpPr/>
          <p:nvPr/>
        </p:nvSpPr>
        <p:spPr>
          <a:xfrm>
            <a:off x="3054096" y="1536192"/>
            <a:ext cx="1389888" cy="5029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7"/>
          <p:cNvSpPr/>
          <p:nvPr/>
        </p:nvSpPr>
        <p:spPr>
          <a:xfrm>
            <a:off x="3529584" y="1664208"/>
            <a:ext cx="438912" cy="438912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28"/>
          <p:cNvSpPr/>
          <p:nvPr/>
        </p:nvSpPr>
        <p:spPr>
          <a:xfrm>
            <a:off x="3529584" y="166420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pic>
        <p:nvPicPr>
          <p:cNvPr id="3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7016" y="2231136"/>
            <a:ext cx="365760" cy="365760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3127248" y="2679192"/>
            <a:ext cx="12435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</a:t>
            </a:r>
            <a:endParaRPr lang="en-US" sz="1200" dirty="0"/>
          </a:p>
        </p:txBody>
      </p:sp>
      <p:sp>
        <p:nvSpPr>
          <p:cNvPr id="35" name="Text 30"/>
          <p:cNvSpPr/>
          <p:nvPr/>
        </p:nvSpPr>
        <p:spPr>
          <a:xfrm>
            <a:off x="3108960" y="3017520"/>
            <a:ext cx="1280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searchable vector signals</a:t>
            </a:r>
            <a:endParaRPr lang="en-US" sz="900" dirty="0"/>
          </a:p>
        </p:txBody>
      </p:sp>
      <p:sp>
        <p:nvSpPr>
          <p:cNvPr id="36" name="Shape 31"/>
          <p:cNvSpPr/>
          <p:nvPr/>
        </p:nvSpPr>
        <p:spPr>
          <a:xfrm>
            <a:off x="4443984" y="2633472"/>
            <a:ext cx="228600" cy="3657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Shape 32"/>
          <p:cNvSpPr/>
          <p:nvPr/>
        </p:nvSpPr>
        <p:spPr>
          <a:xfrm>
            <a:off x="4489704" y="1536192"/>
            <a:ext cx="1389888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8" name="Shape 33"/>
          <p:cNvSpPr/>
          <p:nvPr/>
        </p:nvSpPr>
        <p:spPr>
          <a:xfrm>
            <a:off x="4489704" y="1536192"/>
            <a:ext cx="1389888" cy="50292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Shape 34"/>
          <p:cNvSpPr/>
          <p:nvPr/>
        </p:nvSpPr>
        <p:spPr>
          <a:xfrm>
            <a:off x="4965192" y="1664208"/>
            <a:ext cx="438912" cy="438912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5"/>
          <p:cNvSpPr/>
          <p:nvPr/>
        </p:nvSpPr>
        <p:spPr>
          <a:xfrm>
            <a:off x="4965192" y="166420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pic>
        <p:nvPicPr>
          <p:cNvPr id="4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92624" y="2231136"/>
            <a:ext cx="365760" cy="365760"/>
          </a:xfrm>
          <a:prstGeom prst="rect">
            <a:avLst/>
          </a:prstGeom>
        </p:spPr>
      </p:pic>
      <p:sp>
        <p:nvSpPr>
          <p:cNvPr id="42" name="Text 36"/>
          <p:cNvSpPr/>
          <p:nvPr/>
        </p:nvSpPr>
        <p:spPr>
          <a:xfrm>
            <a:off x="4562856" y="2679192"/>
            <a:ext cx="12435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</a:t>
            </a:r>
            <a:endParaRPr lang="en-US" sz="1200" dirty="0"/>
          </a:p>
        </p:txBody>
      </p:sp>
      <p:sp>
        <p:nvSpPr>
          <p:cNvPr id="43" name="Text 37"/>
          <p:cNvSpPr/>
          <p:nvPr/>
        </p:nvSpPr>
        <p:spPr>
          <a:xfrm>
            <a:off x="4544568" y="3017520"/>
            <a:ext cx="1280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search and reranking</a:t>
            </a:r>
            <a:endParaRPr lang="en-US" sz="900" dirty="0"/>
          </a:p>
        </p:txBody>
      </p:sp>
      <p:sp>
        <p:nvSpPr>
          <p:cNvPr id="44" name="Shape 38"/>
          <p:cNvSpPr/>
          <p:nvPr/>
        </p:nvSpPr>
        <p:spPr>
          <a:xfrm>
            <a:off x="5879592" y="2633472"/>
            <a:ext cx="228600" cy="3657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Shape 39"/>
          <p:cNvSpPr/>
          <p:nvPr/>
        </p:nvSpPr>
        <p:spPr>
          <a:xfrm>
            <a:off x="5925312" y="1536192"/>
            <a:ext cx="1389888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6" name="Shape 40"/>
          <p:cNvSpPr/>
          <p:nvPr/>
        </p:nvSpPr>
        <p:spPr>
          <a:xfrm>
            <a:off x="5925312" y="1536192"/>
            <a:ext cx="1389888" cy="50292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Shape 41"/>
          <p:cNvSpPr/>
          <p:nvPr/>
        </p:nvSpPr>
        <p:spPr>
          <a:xfrm>
            <a:off x="6400800" y="1664208"/>
            <a:ext cx="438912" cy="438912"/>
          </a:xfrm>
          <a:prstGeom prst="ellipse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42"/>
          <p:cNvSpPr/>
          <p:nvPr/>
        </p:nvSpPr>
        <p:spPr>
          <a:xfrm>
            <a:off x="6400800" y="166420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pic>
        <p:nvPicPr>
          <p:cNvPr id="4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28232" y="2231136"/>
            <a:ext cx="365760" cy="365760"/>
          </a:xfrm>
          <a:prstGeom prst="rect">
            <a:avLst/>
          </a:prstGeom>
        </p:spPr>
      </p:pic>
      <p:sp>
        <p:nvSpPr>
          <p:cNvPr id="50" name="Text 43"/>
          <p:cNvSpPr/>
          <p:nvPr/>
        </p:nvSpPr>
        <p:spPr>
          <a:xfrm>
            <a:off x="5998464" y="2679192"/>
            <a:ext cx="12435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200" dirty="0"/>
          </a:p>
        </p:txBody>
      </p:sp>
      <p:sp>
        <p:nvSpPr>
          <p:cNvPr id="51" name="Text 44"/>
          <p:cNvSpPr/>
          <p:nvPr/>
        </p:nvSpPr>
        <p:spPr>
          <a:xfrm>
            <a:off x="5980176" y="3017520"/>
            <a:ext cx="1280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response with citations</a:t>
            </a:r>
            <a:endParaRPr lang="en-US" sz="900" dirty="0"/>
          </a:p>
        </p:txBody>
      </p:sp>
      <p:sp>
        <p:nvSpPr>
          <p:cNvPr id="52" name="Shape 45"/>
          <p:cNvSpPr/>
          <p:nvPr/>
        </p:nvSpPr>
        <p:spPr>
          <a:xfrm>
            <a:off x="7315200" y="2633472"/>
            <a:ext cx="228600" cy="3657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" name="Shape 46"/>
          <p:cNvSpPr/>
          <p:nvPr/>
        </p:nvSpPr>
        <p:spPr>
          <a:xfrm>
            <a:off x="7360920" y="1536192"/>
            <a:ext cx="1389888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4" name="Shape 47"/>
          <p:cNvSpPr/>
          <p:nvPr/>
        </p:nvSpPr>
        <p:spPr>
          <a:xfrm>
            <a:off x="7360920" y="1536192"/>
            <a:ext cx="1389888" cy="5029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Shape 48"/>
          <p:cNvSpPr/>
          <p:nvPr/>
        </p:nvSpPr>
        <p:spPr>
          <a:xfrm>
            <a:off x="7836408" y="1664208"/>
            <a:ext cx="438912" cy="43891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Text 49"/>
          <p:cNvSpPr/>
          <p:nvPr/>
        </p:nvSpPr>
        <p:spPr>
          <a:xfrm>
            <a:off x="7836408" y="166420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pic>
        <p:nvPicPr>
          <p:cNvPr id="5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63840" y="2231136"/>
            <a:ext cx="365760" cy="365760"/>
          </a:xfrm>
          <a:prstGeom prst="rect">
            <a:avLst/>
          </a:prstGeom>
        </p:spPr>
      </p:pic>
      <p:sp>
        <p:nvSpPr>
          <p:cNvPr id="58" name="Text 50"/>
          <p:cNvSpPr/>
          <p:nvPr/>
        </p:nvSpPr>
        <p:spPr>
          <a:xfrm>
            <a:off x="7434072" y="2679192"/>
            <a:ext cx="12435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</a:t>
            </a:r>
            <a:endParaRPr lang="en-US" sz="1200" dirty="0"/>
          </a:p>
        </p:txBody>
      </p:sp>
      <p:sp>
        <p:nvSpPr>
          <p:cNvPr id="59" name="Text 51"/>
          <p:cNvSpPr/>
          <p:nvPr/>
        </p:nvSpPr>
        <p:spPr>
          <a:xfrm>
            <a:off x="7415784" y="3017520"/>
            <a:ext cx="1280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Feedback, golden tests, refusal checks</a:t>
            </a:r>
            <a:endParaRPr lang="en-US" sz="900" dirty="0"/>
          </a:p>
        </p:txBody>
      </p:sp>
      <p:sp>
        <p:nvSpPr>
          <p:cNvPr id="60" name="Shape 52"/>
          <p:cNvSpPr/>
          <p:nvPr/>
        </p:nvSpPr>
        <p:spPr>
          <a:xfrm>
            <a:off x="182880" y="3913632"/>
            <a:ext cx="8778240" cy="8686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1" name="Shape 53"/>
          <p:cNvSpPr/>
          <p:nvPr/>
        </p:nvSpPr>
        <p:spPr>
          <a:xfrm>
            <a:off x="182880" y="3913632"/>
            <a:ext cx="64008" cy="86868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2" name="Text 54"/>
          <p:cNvSpPr/>
          <p:nvPr/>
        </p:nvSpPr>
        <p:spPr>
          <a:xfrm>
            <a:off x="384048" y="393192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Contract</a:t>
            </a:r>
            <a:endParaRPr lang="en-US" sz="1100" dirty="0"/>
          </a:p>
        </p:txBody>
      </p:sp>
      <p:sp>
        <p:nvSpPr>
          <p:cNvPr id="63" name="Text 55"/>
          <p:cNvSpPr/>
          <p:nvPr/>
        </p:nvSpPr>
        <p:spPr>
          <a:xfrm>
            <a:off x="384048" y="4242816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directly, cite sources, separate fact from interpretation, show uncertainty, and refuse unsupported questions.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164592" y="36576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417320" y="36576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3063240" y="36576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DEMOS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0" y="36576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5806440" y="36576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7178040" y="36576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6583680" y="36576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DEMOS  •  08 / 24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1: Knowledge Copilot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457200" y="111556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private knowledge assistant that answers from approved documents with citations and refusal behavior.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64592" y="612648"/>
            <a:ext cx="164592" cy="16459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365760" y="1664208"/>
            <a:ext cx="1965960" cy="2331720"/>
          </a:xfrm>
          <a:prstGeom prst="rect">
            <a:avLst/>
          </a:prstGeom>
          <a:solidFill>
            <a:srgbClr val="1A2F4A"/>
          </a:solidFill>
          <a:ln w="12700">
            <a:solidFill>
              <a:srgbClr val="1A2F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365760" y="1664208"/>
            <a:ext cx="1965960" cy="5029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1124712" y="1828800"/>
            <a:ext cx="457200" cy="45720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1124712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57200" y="240487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/ connect docs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2907792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library and metadata filters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331720" y="2734056"/>
            <a:ext cx="182880" cy="36576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2514600" y="1664208"/>
            <a:ext cx="1965960" cy="2331720"/>
          </a:xfrm>
          <a:prstGeom prst="rect">
            <a:avLst/>
          </a:prstGeom>
          <a:solidFill>
            <a:srgbClr val="1A2F4A"/>
          </a:solidFill>
          <a:ln w="12700">
            <a:solidFill>
              <a:srgbClr val="1A2F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2514600" y="1664208"/>
            <a:ext cx="1965960" cy="50292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3273552" y="1828800"/>
            <a:ext cx="457200" cy="457200"/>
          </a:xfrm>
          <a:prstGeom prst="ellipse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3273552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2606040" y="240487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grounded question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606040" y="2907792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Retriever selects evidence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480560" y="2734056"/>
            <a:ext cx="182880" cy="36576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4663440" y="1664208"/>
            <a:ext cx="1965960" cy="2331720"/>
          </a:xfrm>
          <a:prstGeom prst="rect">
            <a:avLst/>
          </a:prstGeom>
          <a:solidFill>
            <a:srgbClr val="1A2F4A"/>
          </a:solidFill>
          <a:ln w="12700">
            <a:solidFill>
              <a:srgbClr val="1A2F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4663440" y="1664208"/>
            <a:ext cx="1965960" cy="5029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5422392" y="1828800"/>
            <a:ext cx="457200" cy="45720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5422392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754880" y="240487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with citations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754880" y="2907792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 and inspect context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629400" y="2734056"/>
            <a:ext cx="182880" cy="36576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6812280" y="1664208"/>
            <a:ext cx="1965960" cy="2331720"/>
          </a:xfrm>
          <a:prstGeom prst="rect">
            <a:avLst/>
          </a:prstGeom>
          <a:solidFill>
            <a:srgbClr val="1A2F4A"/>
          </a:solidFill>
          <a:ln w="12700">
            <a:solidFill>
              <a:srgbClr val="1A2F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6812280" y="1664208"/>
            <a:ext cx="1965960" cy="50292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7571232" y="1828800"/>
            <a:ext cx="457200" cy="45720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7571232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903720" y="240487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Unsupported question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903720" y="2907792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Refuse or ask for clarification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65760" y="4206240"/>
            <a:ext cx="8412480" cy="640080"/>
          </a:xfrm>
          <a:prstGeom prst="rect">
            <a:avLst/>
          </a:prstGeom>
          <a:solidFill>
            <a:srgbClr val="1A2F4A"/>
          </a:solidFill>
          <a:ln w="12700">
            <a:solidFill>
              <a:srgbClr val="1A2F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Shape 39"/>
          <p:cNvSpPr/>
          <p:nvPr/>
        </p:nvSpPr>
        <p:spPr>
          <a:xfrm>
            <a:off x="365760" y="4206240"/>
            <a:ext cx="54864" cy="64008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548640" y="4233672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proof  ·  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48640" y="44348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Chunking, embeddings, hybrid retrieval, reranking, citations, feedback loop, evaluation set.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164592" y="36576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417320" y="36576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3063240" y="36576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DEMOS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0" y="36576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5806440" y="36576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7178040" y="36576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6583680" y="36576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DEMOS  •  09 / 24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57200" y="47548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2: Document Intelligence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164592" y="594360"/>
            <a:ext cx="164592" cy="164592"/>
          </a:xfrm>
          <a:prstGeom prst="ellipse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unstructured documents into validated, reviewable, API-ready structured data.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47472" y="1572768"/>
            <a:ext cx="1508760" cy="47548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347472" y="1572768"/>
            <a:ext cx="1508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856232" y="1755648"/>
            <a:ext cx="228600" cy="10972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2084832" y="1572768"/>
            <a:ext cx="1508760" cy="475488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2084832" y="1572768"/>
            <a:ext cx="1508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593592" y="1755648"/>
            <a:ext cx="228600" cy="10972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3822192" y="1572768"/>
            <a:ext cx="1508760" cy="47548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3822192" y="1572768"/>
            <a:ext cx="1508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330952" y="1755648"/>
            <a:ext cx="228600" cy="10972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5559552" y="1572768"/>
            <a:ext cx="1508760" cy="475488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5559552" y="1572768"/>
            <a:ext cx="1508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068312" y="1755648"/>
            <a:ext cx="228600" cy="10972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7296912" y="1572768"/>
            <a:ext cx="1508760" cy="475488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7296912" y="1572768"/>
            <a:ext cx="1508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47472" y="2331720"/>
            <a:ext cx="269748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347472" y="2331720"/>
            <a:ext cx="50292" cy="23317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468880"/>
            <a:ext cx="411480" cy="411480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1078992" y="24231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Schema-driven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484632" y="2971800"/>
            <a:ext cx="2423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 fields are defined up front and validated before export.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3227832" y="2331720"/>
            <a:ext cx="269748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3" name="Shape 30"/>
          <p:cNvSpPr/>
          <p:nvPr/>
        </p:nvSpPr>
        <p:spPr>
          <a:xfrm>
            <a:off x="3227832" y="2331720"/>
            <a:ext cx="50292" cy="2331720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0712" y="2468880"/>
            <a:ext cx="411480" cy="411480"/>
          </a:xfrm>
          <a:prstGeom prst="rect">
            <a:avLst/>
          </a:prstGeom>
        </p:spPr>
      </p:pic>
      <p:sp>
        <p:nvSpPr>
          <p:cNvPr id="35" name="Text 31"/>
          <p:cNvSpPr/>
          <p:nvPr/>
        </p:nvSpPr>
        <p:spPr>
          <a:xfrm>
            <a:off x="3959352" y="24231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Confidence-aware</a:t>
            </a:r>
            <a:endParaRPr lang="en-US" sz="1300" dirty="0"/>
          </a:p>
        </p:txBody>
      </p:sp>
      <p:sp>
        <p:nvSpPr>
          <p:cNvPr id="36" name="Text 32"/>
          <p:cNvSpPr/>
          <p:nvPr/>
        </p:nvSpPr>
        <p:spPr>
          <a:xfrm>
            <a:off x="3364992" y="2971800"/>
            <a:ext cx="2423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Low-confidence values are routed to human review instead of hidden.</a:t>
            </a:r>
            <a:endParaRPr lang="en-US" sz="1050" dirty="0"/>
          </a:p>
        </p:txBody>
      </p:sp>
      <p:sp>
        <p:nvSpPr>
          <p:cNvPr id="37" name="Shape 33"/>
          <p:cNvSpPr/>
          <p:nvPr/>
        </p:nvSpPr>
        <p:spPr>
          <a:xfrm>
            <a:off x="6108192" y="2331720"/>
            <a:ext cx="269748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8" name="Shape 34"/>
          <p:cNvSpPr/>
          <p:nvPr/>
        </p:nvSpPr>
        <p:spPr>
          <a:xfrm>
            <a:off x="6108192" y="2331720"/>
            <a:ext cx="50292" cy="233172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1072" y="2468880"/>
            <a:ext cx="411480" cy="411480"/>
          </a:xfrm>
          <a:prstGeom prst="rect">
            <a:avLst/>
          </a:prstGeom>
        </p:spPr>
      </p:pic>
      <p:sp>
        <p:nvSpPr>
          <p:cNvPr id="40" name="Text 35"/>
          <p:cNvSpPr/>
          <p:nvPr/>
        </p:nvSpPr>
        <p:spPr>
          <a:xfrm>
            <a:off x="6839712" y="24231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API-ready</a:t>
            </a:r>
            <a:endParaRPr lang="en-US" sz="1300" dirty="0"/>
          </a:p>
        </p:txBody>
      </p:sp>
      <p:sp>
        <p:nvSpPr>
          <p:cNvPr id="41" name="Text 36"/>
          <p:cNvSpPr/>
          <p:nvPr/>
        </p:nvSpPr>
        <p:spPr>
          <a:xfrm>
            <a:off x="6245352" y="2971800"/>
            <a:ext cx="2423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JSON payloads can move into workflow systems safely.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164592" y="36576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417320" y="36576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3063240" y="36576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DEMOS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0" y="36576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5806440" y="36576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7178040" y="36576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6583680" y="36576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DEMOS  •  10 / 24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3: Predictive ML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457200" y="111556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that applied AI is broader than chat: forecasting, anomaly detection, scoring, and decision support.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64592" y="612648"/>
            <a:ext cx="164592" cy="164592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65760" y="1664208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Lifecycle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75488" y="2157984"/>
            <a:ext cx="201168" cy="201168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557784" y="2359152"/>
            <a:ext cx="36576" cy="14630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804672" y="21214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data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75488" y="2505456"/>
            <a:ext cx="201168" cy="201168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557784" y="2706624"/>
            <a:ext cx="36576" cy="14630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804672" y="2468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75488" y="2852928"/>
            <a:ext cx="201168" cy="201168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557784" y="3054096"/>
            <a:ext cx="36576" cy="14630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804672" y="28163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75488" y="3200400"/>
            <a:ext cx="201168" cy="201168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557784" y="3401568"/>
            <a:ext cx="36576" cy="14630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804672" y="316382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75488" y="3547872"/>
            <a:ext cx="201168" cy="201168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557784" y="3749040"/>
            <a:ext cx="36576" cy="14630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804672" y="351129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75488" y="3895344"/>
            <a:ext cx="201168" cy="201168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557784" y="4096512"/>
            <a:ext cx="36576" cy="14630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804672" y="385876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475488" y="4242816"/>
            <a:ext cx="201168" cy="201168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804672" y="42062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4572000" y="1664208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Demo Scorecard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4572000" y="2212848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806440" y="2286000"/>
            <a:ext cx="2560320" cy="182880"/>
          </a:xfrm>
          <a:prstGeom prst="rect">
            <a:avLst/>
          </a:prstGeom>
          <a:solidFill>
            <a:srgbClr val="1A2F4A"/>
          </a:solidFill>
          <a:ln w="12700">
            <a:solidFill>
              <a:srgbClr val="1A2F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Shape 35"/>
          <p:cNvSpPr/>
          <p:nvPr/>
        </p:nvSpPr>
        <p:spPr>
          <a:xfrm>
            <a:off x="5806440" y="2286000"/>
            <a:ext cx="2099462" cy="18288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8430768" y="2212848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0.82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572000" y="283464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806440" y="2907792"/>
            <a:ext cx="2560320" cy="182880"/>
          </a:xfrm>
          <a:prstGeom prst="rect">
            <a:avLst/>
          </a:prstGeom>
          <a:solidFill>
            <a:srgbClr val="1A2F4A"/>
          </a:solidFill>
          <a:ln w="12700">
            <a:solidFill>
              <a:srgbClr val="1A2F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Shape 39"/>
          <p:cNvSpPr/>
          <p:nvPr/>
        </p:nvSpPr>
        <p:spPr>
          <a:xfrm>
            <a:off x="5806440" y="2907792"/>
            <a:ext cx="1715414" cy="182880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8430768" y="2834640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0.67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572000" y="3456432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5806440" y="3529584"/>
            <a:ext cx="2560320" cy="182880"/>
          </a:xfrm>
          <a:prstGeom prst="rect">
            <a:avLst/>
          </a:prstGeom>
          <a:solidFill>
            <a:srgbClr val="1A2F4A"/>
          </a:solidFill>
          <a:ln w="12700">
            <a:solidFill>
              <a:srgbClr val="1A2F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Shape 43"/>
          <p:cNvSpPr/>
          <p:nvPr/>
        </p:nvSpPr>
        <p:spPr>
          <a:xfrm>
            <a:off x="5806440" y="3529584"/>
            <a:ext cx="2329891" cy="18288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8430768" y="3456432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0.91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4572000" y="4078224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5806440" y="4151376"/>
            <a:ext cx="2560320" cy="182880"/>
          </a:xfrm>
          <a:prstGeom prst="rect">
            <a:avLst/>
          </a:prstGeom>
          <a:solidFill>
            <a:srgbClr val="1A2F4A"/>
          </a:solidFill>
          <a:ln w="12700">
            <a:solidFill>
              <a:srgbClr val="1A2F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Shape 47"/>
          <p:cNvSpPr/>
          <p:nvPr/>
        </p:nvSpPr>
        <p:spPr>
          <a:xfrm>
            <a:off x="5806440" y="4151376"/>
            <a:ext cx="2253082" cy="18288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Text 48"/>
          <p:cNvSpPr/>
          <p:nvPr/>
        </p:nvSpPr>
        <p:spPr>
          <a:xfrm>
            <a:off x="8430768" y="4078224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88%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4572000" y="4663440"/>
            <a:ext cx="4206240" cy="320040"/>
          </a:xfrm>
          <a:prstGeom prst="rect">
            <a:avLst/>
          </a:prstGeom>
          <a:solidFill>
            <a:srgbClr val="1A2F4A"/>
          </a:solidFill>
          <a:ln w="12700">
            <a:solidFill>
              <a:srgbClr val="1A2F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4617720" y="46634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BB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 metrics to show that ML is measurable, not magical.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164592" y="36576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417320" y="36576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3063240" y="36576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DEMOS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0" y="36576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5806440" y="36576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7178040" y="36576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6583680" y="36576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DEMOS  •  11 / 24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57200" y="47548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4: Agentic Workflow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164592" y="594360"/>
            <a:ext cx="164592" cy="164592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from answers to controlled actions through typed tools, approvals, API execution, and audit logs.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182880" y="1536192"/>
            <a:ext cx="1115568" cy="438912"/>
          </a:xfrm>
          <a:prstGeom prst="roundRect">
            <a:avLst>
              <a:gd name="adj" fmla="val 16667"/>
            </a:avLst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182880" y="1536192"/>
            <a:ext cx="11155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1298448" y="1719072"/>
            <a:ext cx="146304" cy="7315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1444752" y="1536192"/>
            <a:ext cx="1115568" cy="438912"/>
          </a:xfrm>
          <a:prstGeom prst="roundRect">
            <a:avLst>
              <a:gd name="adj" fmla="val 16667"/>
            </a:avLst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1444752" y="1536192"/>
            <a:ext cx="11155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560320" y="1719072"/>
            <a:ext cx="146304" cy="7315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2706624" y="1536192"/>
            <a:ext cx="1115568" cy="438912"/>
          </a:xfrm>
          <a:prstGeom prst="roundRect">
            <a:avLst>
              <a:gd name="adj" fmla="val 16667"/>
            </a:avLst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2706624" y="1536192"/>
            <a:ext cx="11155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 context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822192" y="1719072"/>
            <a:ext cx="146304" cy="7315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3968496" y="1536192"/>
            <a:ext cx="1115568" cy="438912"/>
          </a:xfrm>
          <a:prstGeom prst="roundRect">
            <a:avLst>
              <a:gd name="adj" fmla="val 16667"/>
            </a:avLst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3968496" y="1536192"/>
            <a:ext cx="11155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084064" y="1719072"/>
            <a:ext cx="146304" cy="7315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5230368" y="1536192"/>
            <a:ext cx="1115568" cy="438912"/>
          </a:xfrm>
          <a:prstGeom prst="roundRect">
            <a:avLst>
              <a:gd name="adj" fmla="val 16667"/>
            </a:avLst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5230368" y="1536192"/>
            <a:ext cx="11155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345936" y="1719072"/>
            <a:ext cx="146304" cy="7315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6492240" y="1536192"/>
            <a:ext cx="1115568" cy="438912"/>
          </a:xfrm>
          <a:prstGeom prst="roundRect">
            <a:avLst>
              <a:gd name="adj" fmla="val 16667"/>
            </a:avLst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6492240" y="1536192"/>
            <a:ext cx="11155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7607808" y="1719072"/>
            <a:ext cx="146304" cy="7315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7754112" y="1536192"/>
            <a:ext cx="1115568" cy="438912"/>
          </a:xfrm>
          <a:prstGeom prst="roundRect">
            <a:avLst>
              <a:gd name="adj" fmla="val 16667"/>
            </a:avLst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7754112" y="1536192"/>
            <a:ext cx="11155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65760" y="2359152"/>
            <a:ext cx="269748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365760" y="2359152"/>
            <a:ext cx="50292" cy="2331720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505456"/>
            <a:ext cx="402336" cy="402336"/>
          </a:xfrm>
          <a:prstGeom prst="rect">
            <a:avLst/>
          </a:prstGeom>
        </p:spPr>
      </p:pic>
      <p:sp>
        <p:nvSpPr>
          <p:cNvPr id="36" name="Text 33"/>
          <p:cNvSpPr/>
          <p:nvPr/>
        </p:nvSpPr>
        <p:spPr>
          <a:xfrm>
            <a:off x="1060704" y="245059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Boundary</a:t>
            </a:r>
            <a:endParaRPr lang="en-US" sz="1250" dirty="0"/>
          </a:p>
        </p:txBody>
      </p:sp>
      <p:sp>
        <p:nvSpPr>
          <p:cNvPr id="37" name="Text 34"/>
          <p:cNvSpPr/>
          <p:nvPr/>
        </p:nvSpPr>
        <p:spPr>
          <a:xfrm>
            <a:off x="493776" y="2971800"/>
            <a:ext cx="243230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tools and write tools are separate. External writes require explicit approval.</a:t>
            </a:r>
            <a:endParaRPr lang="en-US" sz="1050" dirty="0"/>
          </a:p>
        </p:txBody>
      </p:sp>
      <p:sp>
        <p:nvSpPr>
          <p:cNvPr id="38" name="Shape 35"/>
          <p:cNvSpPr/>
          <p:nvPr/>
        </p:nvSpPr>
        <p:spPr>
          <a:xfrm>
            <a:off x="3246120" y="2359152"/>
            <a:ext cx="269748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9" name="Shape 36"/>
          <p:cNvSpPr/>
          <p:nvPr/>
        </p:nvSpPr>
        <p:spPr>
          <a:xfrm>
            <a:off x="3246120" y="2359152"/>
            <a:ext cx="50292" cy="233172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0712" y="2505456"/>
            <a:ext cx="402336" cy="402336"/>
          </a:xfrm>
          <a:prstGeom prst="rect">
            <a:avLst/>
          </a:prstGeom>
        </p:spPr>
      </p:pic>
      <p:sp>
        <p:nvSpPr>
          <p:cNvPr id="41" name="Text 37"/>
          <p:cNvSpPr/>
          <p:nvPr/>
        </p:nvSpPr>
        <p:spPr>
          <a:xfrm>
            <a:off x="3941064" y="245059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 Tools</a:t>
            </a:r>
            <a:endParaRPr lang="en-US" sz="1250" dirty="0"/>
          </a:p>
        </p:txBody>
      </p:sp>
      <p:sp>
        <p:nvSpPr>
          <p:cNvPr id="42" name="Text 38"/>
          <p:cNvSpPr/>
          <p:nvPr/>
        </p:nvSpPr>
        <p:spPr>
          <a:xfrm>
            <a:off x="3374136" y="2971800"/>
            <a:ext cx="243230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tool has a schema, validation, timeout, retry behavior, and audit payload.</a:t>
            </a:r>
            <a:endParaRPr lang="en-US" sz="1050" dirty="0"/>
          </a:p>
        </p:txBody>
      </p:sp>
      <p:sp>
        <p:nvSpPr>
          <p:cNvPr id="43" name="Shape 39"/>
          <p:cNvSpPr/>
          <p:nvPr/>
        </p:nvSpPr>
        <p:spPr>
          <a:xfrm>
            <a:off x="6126480" y="2359152"/>
            <a:ext cx="269748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4" name="Shape 40"/>
          <p:cNvSpPr/>
          <p:nvPr/>
        </p:nvSpPr>
        <p:spPr>
          <a:xfrm>
            <a:off x="6126480" y="2359152"/>
            <a:ext cx="50292" cy="233172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1072" y="2505456"/>
            <a:ext cx="402336" cy="402336"/>
          </a:xfrm>
          <a:prstGeom prst="rect">
            <a:avLst/>
          </a:prstGeom>
        </p:spPr>
      </p:pic>
      <p:sp>
        <p:nvSpPr>
          <p:cNvPr id="46" name="Text 41"/>
          <p:cNvSpPr/>
          <p:nvPr/>
        </p:nvSpPr>
        <p:spPr>
          <a:xfrm>
            <a:off x="6821424" y="245059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 Run Mode</a:t>
            </a:r>
            <a:endParaRPr lang="en-US" sz="1250" dirty="0"/>
          </a:p>
        </p:txBody>
      </p:sp>
      <p:sp>
        <p:nvSpPr>
          <p:cNvPr id="47" name="Text 42"/>
          <p:cNvSpPr/>
          <p:nvPr/>
        </p:nvSpPr>
        <p:spPr>
          <a:xfrm>
            <a:off x="6254496" y="2971800"/>
            <a:ext cx="243230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proposed actions before execution. Keep demos safe and inspectable.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164592" y="36576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417320" y="36576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3063240" y="36576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DEMOS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0" y="36576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5806440" y="36576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7178040" y="36576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6583680" y="36576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DEMOS  •  12 / 24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Integration Topology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457200" y="111556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becomes useful when it can safely read context, call tools, and write approved outcomes.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64592" y="612648"/>
            <a:ext cx="164592" cy="16459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3474720" y="1965960"/>
            <a:ext cx="2194560" cy="118872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  <a:effectLst>
            <a:outerShdw blurRad="1778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3474720" y="196596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Orchestration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74320" y="1463040"/>
            <a:ext cx="1600200" cy="640080"/>
          </a:xfrm>
          <a:prstGeom prst="rect">
            <a:avLst/>
          </a:prstGeom>
          <a:solidFill>
            <a:srgbClr val="1A2F4A"/>
          </a:solidFill>
          <a:ln w="10160">
            <a:solidFill>
              <a:srgbClr val="818CF8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600200"/>
            <a:ext cx="329184" cy="329184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749808" y="1591056"/>
            <a:ext cx="1078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274320" y="3154680"/>
            <a:ext cx="1600200" cy="640080"/>
          </a:xfrm>
          <a:prstGeom prst="rect">
            <a:avLst/>
          </a:prstGeom>
          <a:solidFill>
            <a:srgbClr val="1A2F4A"/>
          </a:solidFill>
          <a:ln w="10160">
            <a:solidFill>
              <a:srgbClr val="34D399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3291840"/>
            <a:ext cx="329184" cy="329184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749808" y="3282696"/>
            <a:ext cx="1078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</a:t>
            </a:r>
            <a:endParaRPr lang="en-US" sz="950" dirty="0"/>
          </a:p>
        </p:txBody>
      </p:sp>
      <p:sp>
        <p:nvSpPr>
          <p:cNvPr id="21" name="Shape 17"/>
          <p:cNvSpPr/>
          <p:nvPr/>
        </p:nvSpPr>
        <p:spPr>
          <a:xfrm>
            <a:off x="2011680" y="4343400"/>
            <a:ext cx="1600200" cy="640080"/>
          </a:xfrm>
          <a:prstGeom prst="rect">
            <a:avLst/>
          </a:prstGeom>
          <a:solidFill>
            <a:srgbClr val="1A2F4A"/>
          </a:solidFill>
          <a:ln w="10160">
            <a:solidFill>
              <a:srgbClr val="FBBF24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03120" y="4480560"/>
            <a:ext cx="329184" cy="329184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2487168" y="4471416"/>
            <a:ext cx="1078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Systems</a:t>
            </a:r>
            <a:endParaRPr lang="en-US" sz="950" dirty="0"/>
          </a:p>
        </p:txBody>
      </p:sp>
      <p:sp>
        <p:nvSpPr>
          <p:cNvPr id="24" name="Shape 19"/>
          <p:cNvSpPr/>
          <p:nvPr/>
        </p:nvSpPr>
        <p:spPr>
          <a:xfrm>
            <a:off x="5623560" y="4343400"/>
            <a:ext cx="1600200" cy="640080"/>
          </a:xfrm>
          <a:prstGeom prst="rect">
            <a:avLst/>
          </a:prstGeom>
          <a:solidFill>
            <a:srgbClr val="1A2F4A"/>
          </a:solidFill>
          <a:ln w="10160">
            <a:solidFill>
              <a:srgbClr val="38BDF8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0" y="4480560"/>
            <a:ext cx="329184" cy="329184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6099048" y="4471416"/>
            <a:ext cx="1078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Providers</a:t>
            </a:r>
            <a:endParaRPr lang="en-US" sz="950" dirty="0"/>
          </a:p>
        </p:txBody>
      </p:sp>
      <p:sp>
        <p:nvSpPr>
          <p:cNvPr id="27" name="Shape 21"/>
          <p:cNvSpPr/>
          <p:nvPr/>
        </p:nvSpPr>
        <p:spPr>
          <a:xfrm>
            <a:off x="7498080" y="1463040"/>
            <a:ext cx="1600200" cy="640080"/>
          </a:xfrm>
          <a:prstGeom prst="rect">
            <a:avLst/>
          </a:prstGeom>
          <a:solidFill>
            <a:srgbClr val="1A2F4A"/>
          </a:solidFill>
          <a:ln w="10160">
            <a:solidFill>
              <a:srgbClr val="818CF8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89520" y="1600200"/>
            <a:ext cx="329184" cy="329184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7973568" y="1591056"/>
            <a:ext cx="1078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Systems</a:t>
            </a:r>
            <a:endParaRPr lang="en-US" sz="950" dirty="0"/>
          </a:p>
        </p:txBody>
      </p:sp>
      <p:sp>
        <p:nvSpPr>
          <p:cNvPr id="30" name="Shape 23"/>
          <p:cNvSpPr/>
          <p:nvPr/>
        </p:nvSpPr>
        <p:spPr>
          <a:xfrm>
            <a:off x="7498080" y="3154680"/>
            <a:ext cx="1600200" cy="640080"/>
          </a:xfrm>
          <a:prstGeom prst="rect">
            <a:avLst/>
          </a:prstGeom>
          <a:solidFill>
            <a:srgbClr val="1A2F4A"/>
          </a:solidFill>
          <a:ln w="10160">
            <a:solidFill>
              <a:srgbClr val="34D399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89520" y="3291840"/>
            <a:ext cx="329184" cy="32918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973568" y="3282696"/>
            <a:ext cx="1078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Systems</a:t>
            </a:r>
            <a:endParaRPr lang="en-US" sz="950" dirty="0"/>
          </a:p>
        </p:txBody>
      </p:sp>
      <p:sp>
        <p:nvSpPr>
          <p:cNvPr id="33" name="Shape 25"/>
          <p:cNvSpPr/>
          <p:nvPr/>
        </p:nvSpPr>
        <p:spPr>
          <a:xfrm>
            <a:off x="365760" y="4709160"/>
            <a:ext cx="8412480" cy="320040"/>
          </a:xfrm>
          <a:prstGeom prst="rect">
            <a:avLst/>
          </a:prstGeom>
          <a:solidFill>
            <a:srgbClr val="1A2F4A"/>
          </a:solidFill>
          <a:ln w="12700">
            <a:solidFill>
              <a:srgbClr val="1A2F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26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Rule: Permission first, then retrieval, then action.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164592" y="36576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417320" y="36576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3063240" y="36576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DEMOS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0" y="36576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5806440" y="36576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7178040" y="36576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6583680" y="36576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DEMOS  •  13 / 24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57200" y="47548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and Visual AI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164592" y="594360"/>
            <a:ext cx="164592" cy="164592"/>
          </a:xfrm>
          <a:prstGeom prst="ellipse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Images, screenshots, charts, forms, and video frames become first-class inputs for intelligent workflows.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65760" y="1627632"/>
            <a:ext cx="1965960" cy="297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365760" y="1627632"/>
            <a:ext cx="1965960" cy="5029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1024128" y="1874520"/>
            <a:ext cx="658368" cy="658368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1288" y="1993392"/>
            <a:ext cx="384048" cy="384048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457200" y="2633472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Analyzer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75488" y="3108960"/>
            <a:ext cx="175564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UI states and errors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2514600" y="1627632"/>
            <a:ext cx="1965960" cy="297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7"/>
          <p:cNvSpPr/>
          <p:nvPr/>
        </p:nvSpPr>
        <p:spPr>
          <a:xfrm>
            <a:off x="2514600" y="1627632"/>
            <a:ext cx="1965960" cy="50292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8"/>
          <p:cNvSpPr/>
          <p:nvPr/>
        </p:nvSpPr>
        <p:spPr>
          <a:xfrm>
            <a:off x="3172968" y="1874520"/>
            <a:ext cx="658368" cy="658368"/>
          </a:xfrm>
          <a:prstGeom prst="ellipse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0128" y="1993392"/>
            <a:ext cx="384048" cy="384048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2606040" y="2633472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Image Reader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2624328" y="3108960"/>
            <a:ext cx="175564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+ structured extraction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4663440" y="1627632"/>
            <a:ext cx="1965960" cy="297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2"/>
          <p:cNvSpPr/>
          <p:nvPr/>
        </p:nvSpPr>
        <p:spPr>
          <a:xfrm>
            <a:off x="4663440" y="1627632"/>
            <a:ext cx="1965960" cy="5029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3"/>
          <p:cNvSpPr/>
          <p:nvPr/>
        </p:nvSpPr>
        <p:spPr>
          <a:xfrm>
            <a:off x="5321808" y="1874520"/>
            <a:ext cx="658368" cy="658368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58968" y="1993392"/>
            <a:ext cx="384048" cy="384048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4754880" y="2633472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Explainer</a:t>
            </a:r>
            <a:endParaRPr lang="en-US" sz="1200" dirty="0"/>
          </a:p>
        </p:txBody>
      </p:sp>
      <p:sp>
        <p:nvSpPr>
          <p:cNvPr id="30" name="Text 25"/>
          <p:cNvSpPr/>
          <p:nvPr/>
        </p:nvSpPr>
        <p:spPr>
          <a:xfrm>
            <a:off x="4773168" y="3108960"/>
            <a:ext cx="175564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questions about visual data</a:t>
            </a:r>
            <a:endParaRPr lang="en-US" sz="1000" dirty="0"/>
          </a:p>
        </p:txBody>
      </p:sp>
      <p:sp>
        <p:nvSpPr>
          <p:cNvPr id="31" name="Shape 26"/>
          <p:cNvSpPr/>
          <p:nvPr/>
        </p:nvSpPr>
        <p:spPr>
          <a:xfrm>
            <a:off x="6812280" y="1627632"/>
            <a:ext cx="1965960" cy="297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2" name="Shape 27"/>
          <p:cNvSpPr/>
          <p:nvPr/>
        </p:nvSpPr>
        <p:spPr>
          <a:xfrm>
            <a:off x="6812280" y="1627632"/>
            <a:ext cx="1965960" cy="50292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28"/>
          <p:cNvSpPr/>
          <p:nvPr/>
        </p:nvSpPr>
        <p:spPr>
          <a:xfrm>
            <a:off x="7470648" y="1874520"/>
            <a:ext cx="658368" cy="658368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07808" y="1993392"/>
            <a:ext cx="384048" cy="384048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6903720" y="2633472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QA</a:t>
            </a:r>
            <a:endParaRPr lang="en-US" sz="1200" dirty="0"/>
          </a:p>
        </p:txBody>
      </p:sp>
      <p:sp>
        <p:nvSpPr>
          <p:cNvPr id="36" name="Text 30"/>
          <p:cNvSpPr/>
          <p:nvPr/>
        </p:nvSpPr>
        <p:spPr>
          <a:xfrm>
            <a:off x="6922008" y="3108960"/>
            <a:ext cx="175564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defects and flag uncertainty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365760" y="470916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4755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Confidence + Human Review keeps AI visual outputs safe and auditable.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164592" y="36576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417320" y="36576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3063240" y="36576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DEMOS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0" y="36576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5806440" y="36576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7178040" y="36576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6583680" y="36576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DEMOS  •  14 / 24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Intelligence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457200" y="111556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AI to understand code, generate tests, review diffs, explain logs, and speed up delivery.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64592" y="612648"/>
            <a:ext cx="164592" cy="164592"/>
          </a:xfrm>
          <a:prstGeom prst="ellipse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365760" y="1719072"/>
            <a:ext cx="1965960" cy="2606040"/>
          </a:xfrm>
          <a:prstGeom prst="rect">
            <a:avLst/>
          </a:prstGeom>
          <a:solidFill>
            <a:srgbClr val="152237"/>
          </a:solidFill>
          <a:ln w="12700">
            <a:solidFill>
              <a:srgbClr val="152237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365760" y="1719072"/>
            <a:ext cx="54864" cy="26060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1024128" y="1920240"/>
            <a:ext cx="658368" cy="658368"/>
          </a:xfrm>
          <a:prstGeom prst="ellipse">
            <a:avLst/>
          </a:prstGeom>
          <a:solidFill>
            <a:srgbClr val="38BDF8">
              <a:alpha val="18000"/>
            </a:srgbClr>
          </a:solidFill>
          <a:ln w="12700">
            <a:solidFill>
              <a:srgbClr val="38BDF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856" y="2039112"/>
            <a:ext cx="402336" cy="402336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475488" y="2697480"/>
            <a:ext cx="175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475488" y="3127248"/>
            <a:ext cx="17556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a repo, explain modules, map dependencies.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2514600" y="1719072"/>
            <a:ext cx="1965960" cy="2606040"/>
          </a:xfrm>
          <a:prstGeom prst="rect">
            <a:avLst/>
          </a:prstGeom>
          <a:solidFill>
            <a:srgbClr val="152237"/>
          </a:solidFill>
          <a:ln w="12700">
            <a:solidFill>
              <a:srgbClr val="152237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7"/>
          <p:cNvSpPr/>
          <p:nvPr/>
        </p:nvSpPr>
        <p:spPr>
          <a:xfrm>
            <a:off x="2514600" y="1719072"/>
            <a:ext cx="54864" cy="2606040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8"/>
          <p:cNvSpPr/>
          <p:nvPr/>
        </p:nvSpPr>
        <p:spPr>
          <a:xfrm>
            <a:off x="3172968" y="1920240"/>
            <a:ext cx="658368" cy="658368"/>
          </a:xfrm>
          <a:prstGeom prst="ellipse">
            <a:avLst/>
          </a:prstGeom>
          <a:solidFill>
            <a:srgbClr val="818CF8">
              <a:alpha val="18000"/>
            </a:srgbClr>
          </a:solidFill>
          <a:ln w="12700">
            <a:solidFill>
              <a:srgbClr val="818CF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82696" y="2039112"/>
            <a:ext cx="402336" cy="402336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2624328" y="2697480"/>
            <a:ext cx="175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</a:t>
            </a:r>
            <a:endParaRPr lang="en-US" sz="1400" dirty="0"/>
          </a:p>
        </p:txBody>
      </p:sp>
      <p:sp>
        <p:nvSpPr>
          <p:cNvPr id="24" name="Text 20"/>
          <p:cNvSpPr/>
          <p:nvPr/>
        </p:nvSpPr>
        <p:spPr>
          <a:xfrm>
            <a:off x="2624328" y="3127248"/>
            <a:ext cx="17556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focused unit tests and API documentation.</a:t>
            </a:r>
            <a:endParaRPr lang="en-US" sz="1050" dirty="0"/>
          </a:p>
        </p:txBody>
      </p:sp>
      <p:sp>
        <p:nvSpPr>
          <p:cNvPr id="25" name="Shape 21"/>
          <p:cNvSpPr/>
          <p:nvPr/>
        </p:nvSpPr>
        <p:spPr>
          <a:xfrm>
            <a:off x="4663440" y="1719072"/>
            <a:ext cx="1965960" cy="2606040"/>
          </a:xfrm>
          <a:prstGeom prst="rect">
            <a:avLst/>
          </a:prstGeom>
          <a:solidFill>
            <a:srgbClr val="152237"/>
          </a:solidFill>
          <a:ln w="12700">
            <a:solidFill>
              <a:srgbClr val="152237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2"/>
          <p:cNvSpPr/>
          <p:nvPr/>
        </p:nvSpPr>
        <p:spPr>
          <a:xfrm>
            <a:off x="4663440" y="1719072"/>
            <a:ext cx="54864" cy="260604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3"/>
          <p:cNvSpPr/>
          <p:nvPr/>
        </p:nvSpPr>
        <p:spPr>
          <a:xfrm>
            <a:off x="5321808" y="1920240"/>
            <a:ext cx="658368" cy="658368"/>
          </a:xfrm>
          <a:prstGeom prst="ellipse">
            <a:avLst/>
          </a:prstGeom>
          <a:solidFill>
            <a:srgbClr val="34D399">
              <a:alpha val="18000"/>
            </a:srgbClr>
          </a:solidFill>
          <a:ln w="12700">
            <a:solidFill>
              <a:srgbClr val="34D399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31536" y="2039112"/>
            <a:ext cx="402336" cy="402336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4773168" y="2697480"/>
            <a:ext cx="175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400" dirty="0"/>
          </a:p>
        </p:txBody>
      </p:sp>
      <p:sp>
        <p:nvSpPr>
          <p:cNvPr id="30" name="Text 25"/>
          <p:cNvSpPr/>
          <p:nvPr/>
        </p:nvSpPr>
        <p:spPr>
          <a:xfrm>
            <a:off x="4773168" y="3127248"/>
            <a:ext cx="17556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diffs for bugs, regressions, missing tests.</a:t>
            </a:r>
            <a:endParaRPr lang="en-US" sz="1050" dirty="0"/>
          </a:p>
        </p:txBody>
      </p:sp>
      <p:sp>
        <p:nvSpPr>
          <p:cNvPr id="31" name="Shape 26"/>
          <p:cNvSpPr/>
          <p:nvPr/>
        </p:nvSpPr>
        <p:spPr>
          <a:xfrm>
            <a:off x="6812280" y="1719072"/>
            <a:ext cx="1965960" cy="2606040"/>
          </a:xfrm>
          <a:prstGeom prst="rect">
            <a:avLst/>
          </a:prstGeom>
          <a:solidFill>
            <a:srgbClr val="152237"/>
          </a:solidFill>
          <a:ln w="12700">
            <a:solidFill>
              <a:srgbClr val="152237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2" name="Shape 27"/>
          <p:cNvSpPr/>
          <p:nvPr/>
        </p:nvSpPr>
        <p:spPr>
          <a:xfrm>
            <a:off x="6812280" y="1719072"/>
            <a:ext cx="54864" cy="260604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28"/>
          <p:cNvSpPr/>
          <p:nvPr/>
        </p:nvSpPr>
        <p:spPr>
          <a:xfrm>
            <a:off x="7470648" y="1920240"/>
            <a:ext cx="658368" cy="658368"/>
          </a:xfrm>
          <a:prstGeom prst="ellipse">
            <a:avLst/>
          </a:prstGeom>
          <a:solidFill>
            <a:srgbClr val="FBBF24">
              <a:alpha val="18000"/>
            </a:srgbClr>
          </a:solidFill>
          <a:ln w="12700">
            <a:solidFill>
              <a:srgbClr val="FBBF24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80376" y="2039112"/>
            <a:ext cx="402336" cy="402336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6922008" y="2697480"/>
            <a:ext cx="175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</a:t>
            </a:r>
            <a:endParaRPr lang="en-US" sz="1400" dirty="0"/>
          </a:p>
        </p:txBody>
      </p:sp>
      <p:sp>
        <p:nvSpPr>
          <p:cNvPr id="36" name="Text 30"/>
          <p:cNvSpPr/>
          <p:nvPr/>
        </p:nvSpPr>
        <p:spPr>
          <a:xfrm>
            <a:off x="6922008" y="3127248"/>
            <a:ext cx="17556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Summarize logs and propose next diagnostic checks.</a:t>
            </a:r>
            <a:endParaRPr lang="en-US" sz="1050" dirty="0"/>
          </a:p>
        </p:txBody>
      </p:sp>
      <p:sp>
        <p:nvSpPr>
          <p:cNvPr id="37" name="Shape 31"/>
          <p:cNvSpPr/>
          <p:nvPr/>
        </p:nvSpPr>
        <p:spPr>
          <a:xfrm>
            <a:off x="365760" y="4526280"/>
            <a:ext cx="8412480" cy="457200"/>
          </a:xfrm>
          <a:prstGeom prst="rect">
            <a:avLst/>
          </a:prstGeom>
          <a:solidFill>
            <a:srgbClr val="1A2F4A"/>
          </a:solidFill>
          <a:ln w="12700">
            <a:solidFill>
              <a:srgbClr val="1A2F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Shape 32"/>
          <p:cNvSpPr/>
          <p:nvPr/>
        </p:nvSpPr>
        <p:spPr>
          <a:xfrm>
            <a:off x="365760" y="4526280"/>
            <a:ext cx="64008" cy="457200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3"/>
          <p:cNvSpPr/>
          <p:nvPr/>
        </p:nvSpPr>
        <p:spPr>
          <a:xfrm>
            <a:off x="548640" y="4544568"/>
            <a:ext cx="8138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818C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Human review remains the gate: AI proposes, engineers verify, tests prove.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164592" y="36576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417320" y="36576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3063240" y="36576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DEMOS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0" y="36576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5806440" y="36576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7178040" y="36576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6583680" y="36576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 •  15 / 24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57200" y="47548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Stack Deep Dive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164592" y="594360"/>
            <a:ext cx="164592" cy="16459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workshop should prove full-stack competence, not only model familiarity.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65760" y="1536192"/>
            <a:ext cx="41148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365760" y="1536192"/>
            <a:ext cx="50292" cy="86868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" y="1719072"/>
            <a:ext cx="384048" cy="384048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987552" y="162763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987552" y="1975104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React-style UI, dashboards, chat, uploads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617720" y="1536192"/>
            <a:ext cx="41148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6"/>
          <p:cNvSpPr/>
          <p:nvPr/>
        </p:nvSpPr>
        <p:spPr>
          <a:xfrm>
            <a:off x="4617720" y="1536192"/>
            <a:ext cx="50292" cy="868680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5736" y="1719072"/>
            <a:ext cx="384048" cy="384048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5239512" y="162763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5239512" y="1975104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 APIs, auth, validation, background jobs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365760" y="2587752"/>
            <a:ext cx="41148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Shape 20"/>
          <p:cNvSpPr/>
          <p:nvPr/>
        </p:nvSpPr>
        <p:spPr>
          <a:xfrm>
            <a:off x="365760" y="2587752"/>
            <a:ext cx="50292" cy="86868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" y="2770632"/>
            <a:ext cx="384048" cy="384048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987552" y="267919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300" dirty="0"/>
          </a:p>
        </p:txBody>
      </p:sp>
      <p:sp>
        <p:nvSpPr>
          <p:cNvPr id="27" name="Text 22"/>
          <p:cNvSpPr/>
          <p:nvPr/>
        </p:nvSpPr>
        <p:spPr>
          <a:xfrm>
            <a:off x="987552" y="3026664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SQL, object storage, vector search, cache</a:t>
            </a:r>
            <a:endParaRPr lang="en-US" sz="1000" dirty="0"/>
          </a:p>
        </p:txBody>
      </p:sp>
      <p:sp>
        <p:nvSpPr>
          <p:cNvPr id="28" name="Shape 23"/>
          <p:cNvSpPr/>
          <p:nvPr/>
        </p:nvSpPr>
        <p:spPr>
          <a:xfrm>
            <a:off x="4617720" y="2587752"/>
            <a:ext cx="41148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Shape 24"/>
          <p:cNvSpPr/>
          <p:nvPr/>
        </p:nvSpPr>
        <p:spPr>
          <a:xfrm>
            <a:off x="4617720" y="2587752"/>
            <a:ext cx="50292" cy="86868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45736" y="2770632"/>
            <a:ext cx="384048" cy="384048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5239512" y="267919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ML</a:t>
            </a:r>
            <a:endParaRPr lang="en-US" sz="1300" dirty="0"/>
          </a:p>
        </p:txBody>
      </p:sp>
      <p:sp>
        <p:nvSpPr>
          <p:cNvPr id="32" name="Text 26"/>
          <p:cNvSpPr/>
          <p:nvPr/>
        </p:nvSpPr>
        <p:spPr>
          <a:xfrm>
            <a:off x="5239512" y="3026664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LLMs, embeddings, vision, speech, classical ML</a:t>
            </a:r>
            <a:endParaRPr lang="en-US" sz="1000" dirty="0"/>
          </a:p>
        </p:txBody>
      </p:sp>
      <p:sp>
        <p:nvSpPr>
          <p:cNvPr id="33" name="Shape 27"/>
          <p:cNvSpPr/>
          <p:nvPr/>
        </p:nvSpPr>
        <p:spPr>
          <a:xfrm>
            <a:off x="365760" y="3639312"/>
            <a:ext cx="41148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4" name="Shape 28"/>
          <p:cNvSpPr/>
          <p:nvPr/>
        </p:nvSpPr>
        <p:spPr>
          <a:xfrm>
            <a:off x="365760" y="3639312"/>
            <a:ext cx="50292" cy="868680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3776" y="3822192"/>
            <a:ext cx="384048" cy="384048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987552" y="373075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</a:t>
            </a:r>
            <a:endParaRPr lang="en-US" sz="1300" dirty="0"/>
          </a:p>
        </p:txBody>
      </p:sp>
      <p:sp>
        <p:nvSpPr>
          <p:cNvPr id="37" name="Text 30"/>
          <p:cNvSpPr/>
          <p:nvPr/>
        </p:nvSpPr>
        <p:spPr>
          <a:xfrm>
            <a:off x="987552" y="4078224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CI/CD, tests, containers, staged deploys</a:t>
            </a:r>
            <a:endParaRPr lang="en-US" sz="1000" dirty="0"/>
          </a:p>
        </p:txBody>
      </p:sp>
      <p:sp>
        <p:nvSpPr>
          <p:cNvPr id="38" name="Shape 31"/>
          <p:cNvSpPr/>
          <p:nvPr/>
        </p:nvSpPr>
        <p:spPr>
          <a:xfrm>
            <a:off x="4617720" y="3639312"/>
            <a:ext cx="41148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9" name="Shape 32"/>
          <p:cNvSpPr/>
          <p:nvPr/>
        </p:nvSpPr>
        <p:spPr>
          <a:xfrm>
            <a:off x="4617720" y="3639312"/>
            <a:ext cx="50292" cy="86868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45736" y="3822192"/>
            <a:ext cx="384048" cy="384048"/>
          </a:xfrm>
          <a:prstGeom prst="rect">
            <a:avLst/>
          </a:prstGeom>
        </p:spPr>
      </p:pic>
      <p:sp>
        <p:nvSpPr>
          <p:cNvPr id="41" name="Text 33"/>
          <p:cNvSpPr/>
          <p:nvPr/>
        </p:nvSpPr>
        <p:spPr>
          <a:xfrm>
            <a:off x="5239512" y="373075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</a:t>
            </a:r>
            <a:endParaRPr lang="en-US" sz="1300" dirty="0"/>
          </a:p>
        </p:txBody>
      </p:sp>
      <p:sp>
        <p:nvSpPr>
          <p:cNvPr id="42" name="Text 34"/>
          <p:cNvSpPr/>
          <p:nvPr/>
        </p:nvSpPr>
        <p:spPr>
          <a:xfrm>
            <a:off x="5239512" y="4078224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Logs, traces, metrics, cost controls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164592" y="36576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417320" y="36576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3063240" y="36576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DEMOS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0" y="36576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5806440" y="36576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7178040" y="36576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6583680" y="36576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 •  16 / 24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&amp; Security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457200" y="111556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mature question is not only what the model can do — it is how we know it works and keeps it safe.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64592" y="612648"/>
            <a:ext cx="164592" cy="164592"/>
          </a:xfrm>
          <a:prstGeom prst="ellipse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65760" y="16002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Methods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2176272"/>
            <a:ext cx="219456" cy="219456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786384" y="2121408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Q&amp;A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2706624"/>
            <a:ext cx="219456" cy="219456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786384" y="265176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236976"/>
            <a:ext cx="219456" cy="219456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786384" y="318211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and source checks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3767328"/>
            <a:ext cx="219456" cy="219456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786384" y="3712464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Red-team prompts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09160" y="160020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AI Controls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709160" y="2084832"/>
            <a:ext cx="4114800" cy="365760"/>
          </a:xfrm>
          <a:prstGeom prst="rect">
            <a:avLst/>
          </a:prstGeom>
          <a:solidFill>
            <a:srgbClr val="1A2F4A"/>
          </a:solidFill>
          <a:ln w="12700">
            <a:solidFill>
              <a:srgbClr val="1A2F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4709160" y="2084832"/>
            <a:ext cx="36576" cy="365760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4828032" y="212140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 privilege — 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309360" y="212140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connector gets only the scope it needs.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709160" y="2523744"/>
            <a:ext cx="4114800" cy="3657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4709160" y="2523744"/>
            <a:ext cx="36576" cy="365760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4828032" y="256032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Access-aware retrieval — 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309360" y="256032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content before the model sees it.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709160" y="2962656"/>
            <a:ext cx="4114800" cy="365760"/>
          </a:xfrm>
          <a:prstGeom prst="rect">
            <a:avLst/>
          </a:prstGeom>
          <a:solidFill>
            <a:srgbClr val="1A2F4A"/>
          </a:solidFill>
          <a:ln w="12700">
            <a:solidFill>
              <a:srgbClr val="1A2F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4709160" y="2962656"/>
            <a:ext cx="36576" cy="365760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4828032" y="299923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gates — 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309360" y="299923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writes require explicit human approval.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709160" y="3401568"/>
            <a:ext cx="4114800" cy="3657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4709160" y="3401568"/>
            <a:ext cx="36576" cy="365760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4828032" y="3438144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logs — 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309360" y="3438144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prompts, tool calls, decisions, and outcomes.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709160" y="3840480"/>
            <a:ext cx="4114800" cy="365760"/>
          </a:xfrm>
          <a:prstGeom prst="rect">
            <a:avLst/>
          </a:prstGeom>
          <a:solidFill>
            <a:srgbClr val="1A2F4A"/>
          </a:solidFill>
          <a:ln w="12700">
            <a:solidFill>
              <a:srgbClr val="1A2F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Shape 38"/>
          <p:cNvSpPr/>
          <p:nvPr/>
        </p:nvSpPr>
        <p:spPr>
          <a:xfrm>
            <a:off x="4709160" y="3840480"/>
            <a:ext cx="36576" cy="365760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4828032" y="3877056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injection defense — 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6309360" y="3877056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Retrieved text cannot override system/tool rules.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709160" y="4279392"/>
            <a:ext cx="4114800" cy="3657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Shape 42"/>
          <p:cNvSpPr/>
          <p:nvPr/>
        </p:nvSpPr>
        <p:spPr>
          <a:xfrm>
            <a:off x="4709160" y="4279392"/>
            <a:ext cx="36576" cy="365760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4828032" y="431596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controls — 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6309360" y="431596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limits, quotas, caching, and model routing.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434840" y="1554480"/>
            <a:ext cx="45720" cy="32918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164592" y="36576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417320" y="36576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3063240" y="36576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DEMOS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0" y="36576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5806440" y="36576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7178040" y="36576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6583680" y="36576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 •  17 / 24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57200" y="47548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 Timeline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164592" y="594360"/>
            <a:ext cx="164592" cy="164592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Wednesday, April 22, 2026 to Workshop Day on Tuesday, April 28, 2026.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2212848"/>
            <a:ext cx="7863840" cy="54864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484632" y="2084832"/>
            <a:ext cx="310896" cy="310896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182880" y="166420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22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91440" y="25146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story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057400" y="2084832"/>
            <a:ext cx="310896" cy="310896"/>
          </a:xfrm>
          <a:prstGeom prst="ellipse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1755648" y="166420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23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664208" y="25146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Polish demos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630168" y="2084832"/>
            <a:ext cx="310896" cy="310896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3328416" y="166420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24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236976" y="25146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+ visuals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202936" y="2084832"/>
            <a:ext cx="310896" cy="310896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4901184" y="166420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25–26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809744" y="25146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backups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775704" y="2084832"/>
            <a:ext cx="310896" cy="310896"/>
          </a:xfrm>
          <a:prstGeom prst="ellipse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6473952" y="166420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27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382512" y="25146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rehearsal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8348472" y="2084832"/>
            <a:ext cx="310896" cy="310896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8046720" y="166420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28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7955280" y="25146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Day! 🎉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65760" y="3246120"/>
            <a:ext cx="841248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365760" y="3246120"/>
            <a:ext cx="50292" cy="157276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566928" y="32918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Rehearsal Checklist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66928" y="3730752"/>
            <a:ext cx="201168" cy="201168"/>
          </a:xfrm>
          <a:prstGeom prst="rect">
            <a:avLst/>
          </a:prstGeom>
          <a:solidFill>
            <a:srgbClr val="34D399">
              <a:alpha val="15000"/>
            </a:srgbClr>
          </a:solidFill>
          <a:ln w="12700">
            <a:solidFill>
              <a:srgbClr val="34D399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841248" y="373075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264408" y="3730752"/>
            <a:ext cx="201168" cy="201168"/>
          </a:xfrm>
          <a:prstGeom prst="rect">
            <a:avLst/>
          </a:prstGeom>
          <a:solidFill>
            <a:srgbClr val="34D399">
              <a:alpha val="15000"/>
            </a:srgbClr>
          </a:solidFill>
          <a:ln w="12700">
            <a:solidFill>
              <a:srgbClr val="34D399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3538728" y="373075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961888" y="4206240"/>
            <a:ext cx="201168" cy="201168"/>
          </a:xfrm>
          <a:prstGeom prst="rect">
            <a:avLst/>
          </a:prstGeom>
          <a:solidFill>
            <a:srgbClr val="34D399">
              <a:alpha val="15000"/>
            </a:srgbClr>
          </a:solidFill>
          <a:ln w="12700">
            <a:solidFill>
              <a:srgbClr val="34D399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6236208" y="420624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 mode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66928" y="4206240"/>
            <a:ext cx="201168" cy="201168"/>
          </a:xfrm>
          <a:prstGeom prst="rect">
            <a:avLst/>
          </a:prstGeom>
          <a:solidFill>
            <a:srgbClr val="34D399">
              <a:alpha val="15000"/>
            </a:srgbClr>
          </a:solidFill>
          <a:ln w="12700">
            <a:solidFill>
              <a:srgbClr val="34D399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841248" y="420624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data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3264408" y="4681728"/>
            <a:ext cx="201168" cy="201168"/>
          </a:xfrm>
          <a:prstGeom prst="rect">
            <a:avLst/>
          </a:prstGeom>
          <a:solidFill>
            <a:srgbClr val="34D399">
              <a:alpha val="15000"/>
            </a:srgbClr>
          </a:solidFill>
          <a:ln w="12700">
            <a:solidFill>
              <a:srgbClr val="34D399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3538728" y="468172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videos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5961888" y="4681728"/>
            <a:ext cx="201168" cy="201168"/>
          </a:xfrm>
          <a:prstGeom prst="rect">
            <a:avLst/>
          </a:prstGeom>
          <a:solidFill>
            <a:srgbClr val="34D399">
              <a:alpha val="15000"/>
            </a:srgbClr>
          </a:solidFill>
          <a:ln w="12700">
            <a:solidFill>
              <a:srgbClr val="34D399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6236208" y="468172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Tabs and commands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164592" y="36576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417320" y="36576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3063240" y="36576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DEMOS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0" y="36576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5806440" y="36576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7178040" y="36576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6583680" y="36576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 •  18 / 24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30-60-90 Roadmap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457200" y="111556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the workshop energy into pilots, integrations, governance, and measurable production value.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64592" y="612648"/>
            <a:ext cx="164592" cy="164592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365760" y="1664208"/>
            <a:ext cx="2697480" cy="3063240"/>
          </a:xfrm>
          <a:prstGeom prst="rect">
            <a:avLst/>
          </a:prstGeom>
          <a:solidFill>
            <a:srgbClr val="1A2F4A"/>
          </a:solidFill>
          <a:ln w="12700">
            <a:solidFill>
              <a:srgbClr val="1A2F4A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365760" y="1664208"/>
            <a:ext cx="2697480" cy="59436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847088"/>
            <a:ext cx="438912" cy="438912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143000" y="178308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days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1143000" y="2048256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</a:t>
            </a:r>
            <a:endParaRPr lang="en-US" sz="1700" dirty="0"/>
          </a:p>
        </p:txBody>
      </p:sp>
      <p:sp>
        <p:nvSpPr>
          <p:cNvPr id="18" name="Shape 15"/>
          <p:cNvSpPr/>
          <p:nvPr/>
        </p:nvSpPr>
        <p:spPr>
          <a:xfrm>
            <a:off x="566928" y="2651760"/>
            <a:ext cx="182880" cy="18288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/>
          <p:nvPr/>
        </p:nvSpPr>
        <p:spPr>
          <a:xfrm>
            <a:off x="841248" y="2578608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use cases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566928" y="3163824"/>
            <a:ext cx="182880" cy="18288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8"/>
          <p:cNvSpPr/>
          <p:nvPr/>
        </p:nvSpPr>
        <p:spPr>
          <a:xfrm>
            <a:off x="841248" y="3090672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success metrics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566928" y="3675888"/>
            <a:ext cx="182880" cy="18288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0"/>
          <p:cNvSpPr/>
          <p:nvPr/>
        </p:nvSpPr>
        <p:spPr>
          <a:xfrm>
            <a:off x="841248" y="3602736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bounded prototypes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3246120" y="1664208"/>
            <a:ext cx="2697480" cy="3063240"/>
          </a:xfrm>
          <a:prstGeom prst="rect">
            <a:avLst/>
          </a:prstGeom>
          <a:solidFill>
            <a:srgbClr val="1A2F4A"/>
          </a:solidFill>
          <a:ln w="12700">
            <a:solidFill>
              <a:srgbClr val="1A2F4A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22"/>
          <p:cNvSpPr/>
          <p:nvPr/>
        </p:nvSpPr>
        <p:spPr>
          <a:xfrm>
            <a:off x="3246120" y="1664208"/>
            <a:ext cx="2697480" cy="59436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7288" y="1847088"/>
            <a:ext cx="438912" cy="438912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4023360" y="178308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days</a:t>
            </a:r>
            <a:endParaRPr lang="en-US" sz="1000" dirty="0"/>
          </a:p>
        </p:txBody>
      </p:sp>
      <p:sp>
        <p:nvSpPr>
          <p:cNvPr id="28" name="Text 24"/>
          <p:cNvSpPr/>
          <p:nvPr/>
        </p:nvSpPr>
        <p:spPr>
          <a:xfrm>
            <a:off x="4023360" y="2048256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</a:t>
            </a:r>
            <a:endParaRPr lang="en-US" sz="1700" dirty="0"/>
          </a:p>
        </p:txBody>
      </p:sp>
      <p:sp>
        <p:nvSpPr>
          <p:cNvPr id="29" name="Shape 25"/>
          <p:cNvSpPr/>
          <p:nvPr/>
        </p:nvSpPr>
        <p:spPr>
          <a:xfrm>
            <a:off x="3447288" y="2651760"/>
            <a:ext cx="182880" cy="182880"/>
          </a:xfrm>
          <a:prstGeom prst="ellipse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6"/>
          <p:cNvSpPr/>
          <p:nvPr/>
        </p:nvSpPr>
        <p:spPr>
          <a:xfrm>
            <a:off x="3721608" y="2578608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with users</a:t>
            </a:r>
            <a:endParaRPr lang="en-US" sz="1050" dirty="0"/>
          </a:p>
        </p:txBody>
      </p:sp>
      <p:sp>
        <p:nvSpPr>
          <p:cNvPr id="31" name="Shape 27"/>
          <p:cNvSpPr/>
          <p:nvPr/>
        </p:nvSpPr>
        <p:spPr>
          <a:xfrm>
            <a:off x="3447288" y="3163824"/>
            <a:ext cx="182880" cy="182880"/>
          </a:xfrm>
          <a:prstGeom prst="ellipse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28"/>
          <p:cNvSpPr/>
          <p:nvPr/>
        </p:nvSpPr>
        <p:spPr>
          <a:xfrm>
            <a:off x="3721608" y="3090672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APIs</a:t>
            </a:r>
            <a:endParaRPr lang="en-US" sz="1050" dirty="0"/>
          </a:p>
        </p:txBody>
      </p:sp>
      <p:sp>
        <p:nvSpPr>
          <p:cNvPr id="33" name="Shape 29"/>
          <p:cNvSpPr/>
          <p:nvPr/>
        </p:nvSpPr>
        <p:spPr>
          <a:xfrm>
            <a:off x="3447288" y="3675888"/>
            <a:ext cx="182880" cy="182880"/>
          </a:xfrm>
          <a:prstGeom prst="ellipse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0"/>
          <p:cNvSpPr/>
          <p:nvPr/>
        </p:nvSpPr>
        <p:spPr>
          <a:xfrm>
            <a:off x="3721608" y="3602736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evaluation sets</a:t>
            </a:r>
            <a:endParaRPr lang="en-US" sz="1050" dirty="0"/>
          </a:p>
        </p:txBody>
      </p:sp>
      <p:sp>
        <p:nvSpPr>
          <p:cNvPr id="35" name="Shape 31"/>
          <p:cNvSpPr/>
          <p:nvPr/>
        </p:nvSpPr>
        <p:spPr>
          <a:xfrm>
            <a:off x="3447288" y="4187952"/>
            <a:ext cx="182880" cy="182880"/>
          </a:xfrm>
          <a:prstGeom prst="ellipse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2"/>
          <p:cNvSpPr/>
          <p:nvPr/>
        </p:nvSpPr>
        <p:spPr>
          <a:xfrm>
            <a:off x="3721608" y="4114800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security</a:t>
            </a:r>
            <a:endParaRPr lang="en-US" sz="1050" dirty="0"/>
          </a:p>
        </p:txBody>
      </p:sp>
      <p:sp>
        <p:nvSpPr>
          <p:cNvPr id="37" name="Shape 33"/>
          <p:cNvSpPr/>
          <p:nvPr/>
        </p:nvSpPr>
        <p:spPr>
          <a:xfrm>
            <a:off x="6126480" y="1664208"/>
            <a:ext cx="2697480" cy="3063240"/>
          </a:xfrm>
          <a:prstGeom prst="rect">
            <a:avLst/>
          </a:prstGeom>
          <a:solidFill>
            <a:srgbClr val="1A2F4A"/>
          </a:solidFill>
          <a:ln w="12700">
            <a:solidFill>
              <a:srgbClr val="1A2F4A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8" name="Shape 34"/>
          <p:cNvSpPr/>
          <p:nvPr/>
        </p:nvSpPr>
        <p:spPr>
          <a:xfrm>
            <a:off x="6126480" y="1664208"/>
            <a:ext cx="2697480" cy="59436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7648" y="1847088"/>
            <a:ext cx="438912" cy="438912"/>
          </a:xfrm>
          <a:prstGeom prst="rect">
            <a:avLst/>
          </a:prstGeom>
        </p:spPr>
      </p:pic>
      <p:sp>
        <p:nvSpPr>
          <p:cNvPr id="40" name="Text 35"/>
          <p:cNvSpPr/>
          <p:nvPr/>
        </p:nvSpPr>
        <p:spPr>
          <a:xfrm>
            <a:off x="6903720" y="178308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days</a:t>
            </a:r>
            <a:endParaRPr lang="en-US" sz="1000" dirty="0"/>
          </a:p>
        </p:txBody>
      </p:sp>
      <p:sp>
        <p:nvSpPr>
          <p:cNvPr id="41" name="Text 36"/>
          <p:cNvSpPr/>
          <p:nvPr/>
        </p:nvSpPr>
        <p:spPr>
          <a:xfrm>
            <a:off x="6903720" y="2048256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</a:t>
            </a:r>
            <a:endParaRPr lang="en-US" sz="1700" dirty="0"/>
          </a:p>
        </p:txBody>
      </p:sp>
      <p:sp>
        <p:nvSpPr>
          <p:cNvPr id="42" name="Shape 37"/>
          <p:cNvSpPr/>
          <p:nvPr/>
        </p:nvSpPr>
        <p:spPr>
          <a:xfrm>
            <a:off x="6327648" y="2651760"/>
            <a:ext cx="182880" cy="18288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38"/>
          <p:cNvSpPr/>
          <p:nvPr/>
        </p:nvSpPr>
        <p:spPr>
          <a:xfrm>
            <a:off x="6601968" y="2578608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Productionize winners</a:t>
            </a:r>
            <a:endParaRPr lang="en-US" sz="1050" dirty="0"/>
          </a:p>
        </p:txBody>
      </p:sp>
      <p:sp>
        <p:nvSpPr>
          <p:cNvPr id="44" name="Shape 39"/>
          <p:cNvSpPr/>
          <p:nvPr/>
        </p:nvSpPr>
        <p:spPr>
          <a:xfrm>
            <a:off x="6327648" y="3163824"/>
            <a:ext cx="182880" cy="18288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0"/>
          <p:cNvSpPr/>
          <p:nvPr/>
        </p:nvSpPr>
        <p:spPr>
          <a:xfrm>
            <a:off x="6601968" y="3090672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quality/cost</a:t>
            </a:r>
            <a:endParaRPr lang="en-US" sz="1050" dirty="0"/>
          </a:p>
        </p:txBody>
      </p:sp>
      <p:sp>
        <p:nvSpPr>
          <p:cNvPr id="46" name="Shape 41"/>
          <p:cNvSpPr/>
          <p:nvPr/>
        </p:nvSpPr>
        <p:spPr>
          <a:xfrm>
            <a:off x="6327648" y="3675888"/>
            <a:ext cx="182880" cy="18288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 42"/>
          <p:cNvSpPr/>
          <p:nvPr/>
        </p:nvSpPr>
        <p:spPr>
          <a:xfrm>
            <a:off x="6601968" y="3602736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reusable AI platform patterns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2926080"/>
            <a:ext cx="3474720" cy="3474720"/>
          </a:xfrm>
          <a:prstGeom prst="ellipse">
            <a:avLst/>
          </a:prstGeom>
          <a:solidFill>
            <a:srgbClr val="38BDF8">
              <a:alpha val="6000"/>
            </a:srgbClr>
          </a:solidFill>
          <a:ln w="12700">
            <a:solidFill>
              <a:srgbClr val="38BDF8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-1097280" y="-731520"/>
            <a:ext cx="3200400" cy="3200400"/>
          </a:xfrm>
          <a:prstGeom prst="ellipse">
            <a:avLst/>
          </a:prstGeom>
          <a:solidFill>
            <a:srgbClr val="818CF8">
              <a:alpha val="8000"/>
            </a:srgbClr>
          </a:solidFill>
          <a:ln w="12700">
            <a:solidFill>
              <a:srgbClr val="818CF8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7772400" y="-457200"/>
            <a:ext cx="1828800" cy="1828800"/>
          </a:xfrm>
          <a:prstGeom prst="ellipse">
            <a:avLst/>
          </a:prstGeom>
          <a:solidFill>
            <a:srgbClr val="34D399">
              <a:alpha val="6000"/>
            </a:srgbClr>
          </a:solidFill>
          <a:ln w="12700">
            <a:solidFill>
              <a:srgbClr val="34D399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164592" y="36576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1417320" y="36576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063240" y="36576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DEMOS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4572000" y="36576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5806440" y="36576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7178040" y="36576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6583680" y="36576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 •  19 / 24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457200" y="50292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and Closing</a:t>
            </a:r>
            <a:endParaRPr lang="en-US" sz="3600" dirty="0"/>
          </a:p>
        </p:txBody>
      </p:sp>
      <p:sp>
        <p:nvSpPr>
          <p:cNvPr id="14" name="Shape 12"/>
          <p:cNvSpPr/>
          <p:nvPr/>
        </p:nvSpPr>
        <p:spPr>
          <a:xfrm>
            <a:off x="164592" y="658368"/>
            <a:ext cx="182880" cy="18288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365760" y="1298448"/>
            <a:ext cx="8412480" cy="713232"/>
          </a:xfrm>
          <a:prstGeom prst="rect">
            <a:avLst/>
          </a:prstGeom>
          <a:solidFill>
            <a:srgbClr val="1A2F4A"/>
          </a:solidFill>
          <a:ln w="6350">
            <a:solidFill>
              <a:srgbClr val="38BDF8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365760" y="1298448"/>
            <a:ext cx="64008" cy="71323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566928" y="1353312"/>
            <a:ext cx="8046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E2E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"The advantage is not access to models. The advantage is knowing how to turn models into reliable capability."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65760" y="2212848"/>
            <a:ext cx="2697480" cy="777240"/>
          </a:xfrm>
          <a:prstGeom prst="rect">
            <a:avLst/>
          </a:prstGeom>
          <a:solidFill>
            <a:srgbClr val="1A2F4A"/>
          </a:solidFill>
          <a:ln w="12700">
            <a:solidFill>
              <a:srgbClr val="1A2F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45720" cy="7772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" y="2395728"/>
            <a:ext cx="347472" cy="347472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932688" y="2340864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we prevent hallucinations?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3246120" y="2212848"/>
            <a:ext cx="2697480" cy="777240"/>
          </a:xfrm>
          <a:prstGeom prst="rect">
            <a:avLst/>
          </a:prstGeom>
          <a:solidFill>
            <a:srgbClr val="1A2F4A"/>
          </a:solidFill>
          <a:ln w="12700">
            <a:solidFill>
              <a:srgbClr val="1A2F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0"/>
          <p:cNvSpPr/>
          <p:nvPr/>
        </p:nvSpPr>
        <p:spPr>
          <a:xfrm>
            <a:off x="3246120" y="2212848"/>
            <a:ext cx="45720" cy="777240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4136" y="2395728"/>
            <a:ext cx="347472" cy="347472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3813048" y="2340864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workflows should be productionized first?</a:t>
            </a:r>
            <a:endParaRPr lang="en-US" sz="1050" dirty="0"/>
          </a:p>
        </p:txBody>
      </p:sp>
      <p:sp>
        <p:nvSpPr>
          <p:cNvPr id="26" name="Shape 22"/>
          <p:cNvSpPr/>
          <p:nvPr/>
        </p:nvSpPr>
        <p:spPr>
          <a:xfrm>
            <a:off x="6126480" y="2212848"/>
            <a:ext cx="2697480" cy="777240"/>
          </a:xfrm>
          <a:prstGeom prst="rect">
            <a:avLst/>
          </a:prstGeom>
          <a:solidFill>
            <a:srgbClr val="1A2F4A"/>
          </a:solidFill>
          <a:ln w="12700">
            <a:solidFill>
              <a:srgbClr val="1A2F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3"/>
          <p:cNvSpPr/>
          <p:nvPr/>
        </p:nvSpPr>
        <p:spPr>
          <a:xfrm>
            <a:off x="6126480" y="2212848"/>
            <a:ext cx="45720" cy="77724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54496" y="2395728"/>
            <a:ext cx="347472" cy="347472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6693408" y="2340864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we connect AI safely to APIs?</a:t>
            </a:r>
            <a:endParaRPr lang="en-US" sz="1050" dirty="0"/>
          </a:p>
        </p:txBody>
      </p:sp>
      <p:sp>
        <p:nvSpPr>
          <p:cNvPr id="30" name="Shape 25"/>
          <p:cNvSpPr/>
          <p:nvPr/>
        </p:nvSpPr>
        <p:spPr>
          <a:xfrm>
            <a:off x="365760" y="3172968"/>
            <a:ext cx="4343400" cy="777240"/>
          </a:xfrm>
          <a:prstGeom prst="rect">
            <a:avLst/>
          </a:prstGeom>
          <a:solidFill>
            <a:srgbClr val="1A2F4A"/>
          </a:solidFill>
          <a:ln w="12700">
            <a:solidFill>
              <a:srgbClr val="1A2F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6"/>
          <p:cNvSpPr/>
          <p:nvPr/>
        </p:nvSpPr>
        <p:spPr>
          <a:xfrm>
            <a:off x="365760" y="3172968"/>
            <a:ext cx="45720" cy="77724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" y="3355848"/>
            <a:ext cx="347472" cy="347472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932688" y="3300984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we measure quality and cost?</a:t>
            </a:r>
            <a:endParaRPr lang="en-US" sz="1050" dirty="0"/>
          </a:p>
        </p:txBody>
      </p:sp>
      <p:sp>
        <p:nvSpPr>
          <p:cNvPr id="34" name="Shape 28"/>
          <p:cNvSpPr/>
          <p:nvPr/>
        </p:nvSpPr>
        <p:spPr>
          <a:xfrm>
            <a:off x="3246120" y="3172968"/>
            <a:ext cx="4343400" cy="777240"/>
          </a:xfrm>
          <a:prstGeom prst="rect">
            <a:avLst/>
          </a:prstGeom>
          <a:solidFill>
            <a:srgbClr val="1A2F4A"/>
          </a:solidFill>
          <a:ln w="12700">
            <a:solidFill>
              <a:srgbClr val="1A2F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Shape 29"/>
          <p:cNvSpPr/>
          <p:nvPr/>
        </p:nvSpPr>
        <p:spPr>
          <a:xfrm>
            <a:off x="3246120" y="3172968"/>
            <a:ext cx="45720" cy="777240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74136" y="3355848"/>
            <a:ext cx="347472" cy="347472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3813048" y="3300984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data and governance are required?</a:t>
            </a:r>
            <a:endParaRPr lang="en-US" sz="1050" dirty="0"/>
          </a:p>
        </p:txBody>
      </p:sp>
      <p:sp>
        <p:nvSpPr>
          <p:cNvPr id="38" name="Text 31"/>
          <p:cNvSpPr/>
          <p:nvPr/>
        </p:nvSpPr>
        <p:spPr>
          <a:xfrm>
            <a:off x="365760" y="468172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are powerful. Reliable AI capability comes from the system around them.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AE2C12A8-CA94-9AE0-0884-80E6622E67CE}"/>
              </a:ext>
            </a:extLst>
          </p:cNvPr>
          <p:cNvSpPr/>
          <p:nvPr/>
        </p:nvSpPr>
        <p:spPr>
          <a:xfrm>
            <a:off x="-714375" y="-857250"/>
            <a:ext cx="2286000" cy="2286000"/>
          </a:xfrm>
          <a:prstGeom prst="ellipse">
            <a:avLst/>
          </a:prstGeom>
          <a:solidFill>
            <a:srgbClr val="E9F7F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3606BD85-8B17-90EA-5870-588D3F4C3539}"/>
              </a:ext>
            </a:extLst>
          </p:cNvPr>
          <p:cNvSpPr/>
          <p:nvPr/>
        </p:nvSpPr>
        <p:spPr>
          <a:xfrm>
            <a:off x="7786688" y="3571875"/>
            <a:ext cx="1857375" cy="1857375"/>
          </a:xfrm>
          <a:prstGeom prst="ellipse">
            <a:avLst/>
          </a:prstGeom>
          <a:solidFill>
            <a:srgbClr val="F7EED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BC12808-7160-03E1-41D9-A982BA1CE76E}"/>
              </a:ext>
            </a:extLst>
          </p:cNvPr>
          <p:cNvSpPr/>
          <p:nvPr/>
        </p:nvSpPr>
        <p:spPr>
          <a:xfrm>
            <a:off x="500063" y="200025"/>
            <a:ext cx="457200" cy="200025"/>
          </a:xfrm>
          <a:prstGeom prst="roundRect">
            <a:avLst/>
          </a:prstGeom>
          <a:noFill/>
          <a:ln w="7144" cap="flat" cmpd="sng" algn="ctr">
            <a:solidFill>
              <a:srgbClr val="E5E7EB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C73C86B-4892-BAC9-4D52-B283DAB6544D}"/>
              </a:ext>
            </a:extLst>
          </p:cNvPr>
          <p:cNvSpPr txBox="1"/>
          <p:nvPr/>
        </p:nvSpPr>
        <p:spPr>
          <a:xfrm>
            <a:off x="564356" y="250031"/>
            <a:ext cx="328613" cy="1169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IN" sz="760" b="1">
                <a:solidFill>
                  <a:srgbClr val="64748B"/>
                </a:solidFill>
                <a:latin typeface="Aptos Mono" panose="020B0009020202020204" pitchFamily="49" charset="0"/>
              </a:rPr>
              <a:t>HOME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A149E36-AD23-C8EA-8136-0A0B0D156334}"/>
              </a:ext>
            </a:extLst>
          </p:cNvPr>
          <p:cNvSpPr/>
          <p:nvPr/>
        </p:nvSpPr>
        <p:spPr>
          <a:xfrm>
            <a:off x="1028700" y="200025"/>
            <a:ext cx="907256" cy="200025"/>
          </a:xfrm>
          <a:prstGeom prst="roundRect">
            <a:avLst/>
          </a:prstGeom>
          <a:noFill/>
          <a:ln w="7144" cap="flat" cmpd="sng" algn="ctr">
            <a:solidFill>
              <a:srgbClr val="E5E7EB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08DB074-4ED9-395F-14C5-FE69C80AF743}"/>
              </a:ext>
            </a:extLst>
          </p:cNvPr>
          <p:cNvSpPr txBox="1"/>
          <p:nvPr/>
        </p:nvSpPr>
        <p:spPr>
          <a:xfrm>
            <a:off x="1092994" y="250031"/>
            <a:ext cx="778669" cy="1169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IN" sz="760" b="1">
                <a:solidFill>
                  <a:srgbClr val="64748B"/>
                </a:solidFill>
                <a:latin typeface="Aptos Mono" panose="020B0009020202020204" pitchFamily="49" charset="0"/>
              </a:rPr>
              <a:t>FOUNDATIONS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73D0F6F-5FC8-CDD0-8D91-557B591BE5BE}"/>
              </a:ext>
            </a:extLst>
          </p:cNvPr>
          <p:cNvSpPr/>
          <p:nvPr/>
        </p:nvSpPr>
        <p:spPr>
          <a:xfrm>
            <a:off x="2007394" y="200025"/>
            <a:ext cx="521494" cy="200025"/>
          </a:xfrm>
          <a:prstGeom prst="roundRect">
            <a:avLst/>
          </a:prstGeom>
          <a:noFill/>
          <a:ln w="7144" cap="flat" cmpd="sng" algn="ctr">
            <a:solidFill>
              <a:srgbClr val="E5E7EB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18B6EF0-EAC2-13C9-3356-96AA357CE5B4}"/>
              </a:ext>
            </a:extLst>
          </p:cNvPr>
          <p:cNvSpPr txBox="1"/>
          <p:nvPr/>
        </p:nvSpPr>
        <p:spPr>
          <a:xfrm>
            <a:off x="2071688" y="250031"/>
            <a:ext cx="392906" cy="1169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IN" sz="760" b="1">
                <a:solidFill>
                  <a:srgbClr val="64748B"/>
                </a:solidFill>
                <a:latin typeface="Aptos Mono" panose="020B0009020202020204" pitchFamily="49" charset="0"/>
              </a:rPr>
              <a:t>DEMOS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EE021EEA-99E2-6224-8BB2-C2E13D2E474D}"/>
              </a:ext>
            </a:extLst>
          </p:cNvPr>
          <p:cNvSpPr/>
          <p:nvPr/>
        </p:nvSpPr>
        <p:spPr>
          <a:xfrm>
            <a:off x="2600325" y="200025"/>
            <a:ext cx="521494" cy="200025"/>
          </a:xfrm>
          <a:prstGeom prst="roundRect">
            <a:avLst/>
          </a:prstGeom>
          <a:noFill/>
          <a:ln w="7144" cap="flat" cmpd="sng" algn="ctr">
            <a:solidFill>
              <a:srgbClr val="E5E7EB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2A15387-76C9-9A07-4AAC-74A643797E78}"/>
              </a:ext>
            </a:extLst>
          </p:cNvPr>
          <p:cNvSpPr txBox="1"/>
          <p:nvPr/>
        </p:nvSpPr>
        <p:spPr>
          <a:xfrm>
            <a:off x="2664619" y="250031"/>
            <a:ext cx="392906" cy="1169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IN" sz="760" b="1">
                <a:solidFill>
                  <a:srgbClr val="64748B"/>
                </a:solidFill>
                <a:latin typeface="Aptos Mono" panose="020B0009020202020204" pitchFamily="49" charset="0"/>
              </a:rPr>
              <a:t>STACK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A8891E10-BF42-66E3-9F72-49419A926666}"/>
              </a:ext>
            </a:extLst>
          </p:cNvPr>
          <p:cNvSpPr/>
          <p:nvPr/>
        </p:nvSpPr>
        <p:spPr>
          <a:xfrm>
            <a:off x="3193256" y="200025"/>
            <a:ext cx="842963" cy="200025"/>
          </a:xfrm>
          <a:prstGeom prst="roundRect">
            <a:avLst/>
          </a:prstGeom>
          <a:noFill/>
          <a:ln w="7144" cap="flat" cmpd="sng" algn="ctr">
            <a:solidFill>
              <a:srgbClr val="E5E7EB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B4823A6-2629-9AC4-2D53-FA2B227F7EDA}"/>
              </a:ext>
            </a:extLst>
          </p:cNvPr>
          <p:cNvSpPr txBox="1"/>
          <p:nvPr/>
        </p:nvSpPr>
        <p:spPr>
          <a:xfrm>
            <a:off x="3257550" y="250031"/>
            <a:ext cx="714375" cy="1169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IN" sz="760" b="1">
                <a:solidFill>
                  <a:srgbClr val="64748B"/>
                </a:solidFill>
                <a:latin typeface="Aptos Mono" panose="020B0009020202020204" pitchFamily="49" charset="0"/>
              </a:rPr>
              <a:t>GOVERNANCE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87A2FFE-29A1-CD80-A9FE-B82296E800B3}"/>
              </a:ext>
            </a:extLst>
          </p:cNvPr>
          <p:cNvSpPr/>
          <p:nvPr/>
        </p:nvSpPr>
        <p:spPr>
          <a:xfrm>
            <a:off x="4107656" y="200025"/>
            <a:ext cx="650082" cy="200025"/>
          </a:xfrm>
          <a:prstGeom prst="roundRect">
            <a:avLst/>
          </a:prstGeom>
          <a:noFill/>
          <a:ln w="7144" cap="flat" cmpd="sng" algn="ctr">
            <a:solidFill>
              <a:srgbClr val="E5E7EB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1C1B60B-95BB-4440-43C5-2A9171FB33D8}"/>
              </a:ext>
            </a:extLst>
          </p:cNvPr>
          <p:cNvSpPr txBox="1"/>
          <p:nvPr/>
        </p:nvSpPr>
        <p:spPr>
          <a:xfrm>
            <a:off x="4171950" y="250031"/>
            <a:ext cx="521494" cy="1169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IN" sz="760" b="1">
                <a:solidFill>
                  <a:srgbClr val="64748B"/>
                </a:solidFill>
                <a:latin typeface="Aptos Mono" panose="020B0009020202020204" pitchFamily="49" charset="0"/>
              </a:rPr>
              <a:t>ROADMAP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9429D7C5-BD4D-50C6-0386-10D77DAAE722}"/>
              </a:ext>
            </a:extLst>
          </p:cNvPr>
          <p:cNvSpPr/>
          <p:nvPr/>
        </p:nvSpPr>
        <p:spPr>
          <a:xfrm>
            <a:off x="4829175" y="200025"/>
            <a:ext cx="900113" cy="200025"/>
          </a:xfrm>
          <a:prstGeom prst="roundRect">
            <a:avLst/>
          </a:prstGeom>
          <a:solidFill>
            <a:srgbClr val="10A37F"/>
          </a:solidFill>
          <a:ln w="7144">
            <a:solidFill>
              <a:srgbClr val="10A37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E0E54A8-F6F6-51B5-7369-5BCF0D9D39CA}"/>
              </a:ext>
            </a:extLst>
          </p:cNvPr>
          <p:cNvSpPr txBox="1"/>
          <p:nvPr/>
        </p:nvSpPr>
        <p:spPr>
          <a:xfrm>
            <a:off x="4893469" y="250031"/>
            <a:ext cx="771525" cy="1169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IN" sz="760" b="1">
                <a:solidFill>
                  <a:srgbClr val="FFFFFF"/>
                </a:solidFill>
                <a:latin typeface="Aptos Mono" panose="020B0009020202020204" pitchFamily="49" charset="0"/>
              </a:rPr>
              <a:t>PROJECT MAP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BCE964E-180B-F6F1-7062-6C35C58D2025}"/>
              </a:ext>
            </a:extLst>
          </p:cNvPr>
          <p:cNvSpPr/>
          <p:nvPr/>
        </p:nvSpPr>
        <p:spPr>
          <a:xfrm>
            <a:off x="500063" y="4557713"/>
            <a:ext cx="8143875" cy="12700"/>
          </a:xfrm>
          <a:prstGeom prst="rect">
            <a:avLst/>
          </a:prstGeom>
          <a:solidFill>
            <a:srgbClr val="E5E7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31C52A1-DE98-8209-C833-E00ED0D630D4}"/>
              </a:ext>
            </a:extLst>
          </p:cNvPr>
          <p:cNvSpPr txBox="1"/>
          <p:nvPr/>
        </p:nvSpPr>
        <p:spPr>
          <a:xfrm>
            <a:off x="500063" y="4672013"/>
            <a:ext cx="3000375" cy="1169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760" b="1">
                <a:solidFill>
                  <a:srgbClr val="64748B"/>
                </a:solidFill>
                <a:latin typeface="Aptos Mono" panose="020B0009020202020204" pitchFamily="49" charset="0"/>
              </a:rPr>
              <a:t>PROJECT MAP  -  19 / 24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1DD8ADF-740C-A71B-107B-235DF7B87BCF}"/>
              </a:ext>
            </a:extLst>
          </p:cNvPr>
          <p:cNvSpPr txBox="1"/>
          <p:nvPr/>
        </p:nvSpPr>
        <p:spPr>
          <a:xfrm>
            <a:off x="500063" y="585788"/>
            <a:ext cx="7429500" cy="3030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1969" b="1">
                <a:solidFill>
                  <a:srgbClr val="111827"/>
                </a:solidFill>
                <a:latin typeface="Poppins" panose="00000500000000000000" pitchFamily="2" charset="0"/>
              </a:rPr>
              <a:t>Project Mapping Overview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D0DE4A1-CE42-F958-CB19-5FA2C693A4ED}"/>
              </a:ext>
            </a:extLst>
          </p:cNvPr>
          <p:cNvSpPr txBox="1"/>
          <p:nvPr/>
        </p:nvSpPr>
        <p:spPr>
          <a:xfrm>
            <a:off x="514350" y="1014413"/>
            <a:ext cx="74295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>
                <a:solidFill>
                  <a:srgbClr val="243041"/>
                </a:solidFill>
                <a:latin typeface="Lato" panose="020F0502020204030203" pitchFamily="34" charset="0"/>
              </a:rPr>
              <a:t>Use this section to convert the workshop from a generic AI talk into proof from our own software work.</a:t>
            </a:r>
            <a:endParaRPr lang="en-IN" sz="900">
              <a:solidFill>
                <a:srgbClr val="243041"/>
              </a:solidFill>
              <a:latin typeface="Lato" panose="020F0502020204030203" pitchFamily="34" charset="0"/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77DEB642-399F-00AD-C692-E969AD705EFD}"/>
              </a:ext>
            </a:extLst>
          </p:cNvPr>
          <p:cNvSpPr/>
          <p:nvPr/>
        </p:nvSpPr>
        <p:spPr>
          <a:xfrm>
            <a:off x="500063" y="1557338"/>
            <a:ext cx="2500312" cy="2228850"/>
          </a:xfrm>
          <a:prstGeom prst="roundRect">
            <a:avLst/>
          </a:prstGeom>
          <a:solidFill>
            <a:srgbClr val="FFFFFF"/>
          </a:solidFill>
          <a:ln w="7144">
            <a:solidFill>
              <a:srgbClr val="D7E0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4D3133A-F161-26B1-F588-14B13A5D508E}"/>
              </a:ext>
            </a:extLst>
          </p:cNvPr>
          <p:cNvSpPr/>
          <p:nvPr/>
        </p:nvSpPr>
        <p:spPr>
          <a:xfrm>
            <a:off x="500063" y="1557338"/>
            <a:ext cx="2500312" cy="5715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E33ABD9-62A7-2ECB-F6C2-FC1C30046F40}"/>
              </a:ext>
            </a:extLst>
          </p:cNvPr>
          <p:cNvSpPr txBox="1"/>
          <p:nvPr/>
        </p:nvSpPr>
        <p:spPr>
          <a:xfrm>
            <a:off x="657225" y="1757363"/>
            <a:ext cx="1285875" cy="18171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1181" b="1">
                <a:solidFill>
                  <a:srgbClr val="2563EB"/>
                </a:solidFill>
                <a:latin typeface="Poppins" panose="00000500000000000000" pitchFamily="2" charset="0"/>
              </a:rPr>
              <a:t>Axiom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EE480EF-0792-45D6-1AA0-B9822D03E536}"/>
              </a:ext>
            </a:extLst>
          </p:cNvPr>
          <p:cNvSpPr txBox="1"/>
          <p:nvPr/>
        </p:nvSpPr>
        <p:spPr>
          <a:xfrm>
            <a:off x="657225" y="1985963"/>
            <a:ext cx="1928813" cy="1169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760" b="1">
                <a:solidFill>
                  <a:srgbClr val="64748B"/>
                </a:solidFill>
                <a:latin typeface="Aptos Mono" panose="020B0009020202020204" pitchFamily="49" charset="0"/>
              </a:rPr>
              <a:t>Procurement intelligence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91DEA83-56B1-DA47-C1E9-E1D6440E786A}"/>
              </a:ext>
            </a:extLst>
          </p:cNvPr>
          <p:cNvSpPr txBox="1"/>
          <p:nvPr/>
        </p:nvSpPr>
        <p:spPr>
          <a:xfrm>
            <a:off x="685800" y="2328863"/>
            <a:ext cx="2114550" cy="3508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760">
                <a:solidFill>
                  <a:srgbClr val="243041"/>
                </a:solidFill>
                <a:latin typeface="Lato" panose="020F0502020204030203" pitchFamily="34" charset="0"/>
              </a:rPr>
              <a:t>- Agents, supplier risk, demand forecast</a:t>
            </a:r>
          </a:p>
          <a:p>
            <a:r>
              <a:rPr lang="en-IN" sz="760">
                <a:solidFill>
                  <a:srgbClr val="243041"/>
                </a:solidFill>
                <a:latin typeface="Lato" panose="020F0502020204030203" pitchFamily="34" charset="0"/>
              </a:rPr>
              <a:t>- Invoice OCR, SAP/API route, audit export</a:t>
            </a:r>
          </a:p>
          <a:p>
            <a:r>
              <a:rPr lang="en-IN" sz="760">
                <a:solidFill>
                  <a:srgbClr val="243041"/>
                </a:solidFill>
                <a:latin typeface="Lato" panose="020F0502020204030203" pitchFamily="34" charset="0"/>
              </a:rPr>
              <a:t>- Next.js, Postgres, Redis queues, Azure stack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05964345-F213-C90D-7007-6B3AC440498A}"/>
              </a:ext>
            </a:extLst>
          </p:cNvPr>
          <p:cNvSpPr/>
          <p:nvPr/>
        </p:nvSpPr>
        <p:spPr>
          <a:xfrm>
            <a:off x="657225" y="3243263"/>
            <a:ext cx="900113" cy="214312"/>
          </a:xfrm>
          <a:prstGeom prst="round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B9195DD-B4DA-5AAE-A25F-0E8AC6AB9A0F}"/>
              </a:ext>
            </a:extLst>
          </p:cNvPr>
          <p:cNvSpPr txBox="1"/>
          <p:nvPr/>
        </p:nvSpPr>
        <p:spPr>
          <a:xfrm>
            <a:off x="728663" y="3278981"/>
            <a:ext cx="757238" cy="1169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IN" sz="760" b="1">
                <a:solidFill>
                  <a:srgbClr val="FFFFFF"/>
                </a:solidFill>
                <a:latin typeface="Aptos Mono" panose="020B0009020202020204" pitchFamily="49" charset="0"/>
              </a:rPr>
              <a:t>business AI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FBEFE449-0044-F681-9667-F8A4DD39D384}"/>
              </a:ext>
            </a:extLst>
          </p:cNvPr>
          <p:cNvSpPr/>
          <p:nvPr/>
        </p:nvSpPr>
        <p:spPr>
          <a:xfrm>
            <a:off x="1657350" y="3243263"/>
            <a:ext cx="828675" cy="214312"/>
          </a:xfrm>
          <a:prstGeom prst="roundRect">
            <a:avLst/>
          </a:prstGeom>
          <a:solidFill>
            <a:srgbClr val="11182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9BFC642-7538-5D6B-F97E-421F4774A8B0}"/>
              </a:ext>
            </a:extLst>
          </p:cNvPr>
          <p:cNvSpPr txBox="1"/>
          <p:nvPr/>
        </p:nvSpPr>
        <p:spPr>
          <a:xfrm>
            <a:off x="1728788" y="3278981"/>
            <a:ext cx="685800" cy="1169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IN" sz="760" b="1">
                <a:solidFill>
                  <a:srgbClr val="FFFFFF"/>
                </a:solidFill>
                <a:latin typeface="Aptos Mono" panose="020B0009020202020204" pitchFamily="49" charset="0"/>
              </a:rPr>
              <a:t>demo proof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DF2A9711-1BB0-FFE7-81FB-A97C30D2607F}"/>
              </a:ext>
            </a:extLst>
          </p:cNvPr>
          <p:cNvSpPr/>
          <p:nvPr/>
        </p:nvSpPr>
        <p:spPr>
          <a:xfrm>
            <a:off x="3286125" y="1557338"/>
            <a:ext cx="2500313" cy="2228850"/>
          </a:xfrm>
          <a:prstGeom prst="roundRect">
            <a:avLst/>
          </a:prstGeom>
          <a:solidFill>
            <a:srgbClr val="FFFFFF"/>
          </a:solidFill>
          <a:ln w="7144">
            <a:solidFill>
              <a:srgbClr val="D7E0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D52165F-BE97-AE97-D26A-18AC1A92F2F2}"/>
              </a:ext>
            </a:extLst>
          </p:cNvPr>
          <p:cNvSpPr/>
          <p:nvPr/>
        </p:nvSpPr>
        <p:spPr>
          <a:xfrm>
            <a:off x="3286125" y="1557338"/>
            <a:ext cx="2500313" cy="57150"/>
          </a:xfrm>
          <a:prstGeom prst="rect">
            <a:avLst/>
          </a:prstGeom>
          <a:solidFill>
            <a:srgbClr val="10A37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18724FE-7358-3D70-697C-3EBB2007CB92}"/>
              </a:ext>
            </a:extLst>
          </p:cNvPr>
          <p:cNvSpPr txBox="1"/>
          <p:nvPr/>
        </p:nvSpPr>
        <p:spPr>
          <a:xfrm>
            <a:off x="3443288" y="1757363"/>
            <a:ext cx="1285875" cy="18171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1181" b="1">
                <a:solidFill>
                  <a:srgbClr val="10A37F"/>
                </a:solidFill>
                <a:latin typeface="Poppins" panose="00000500000000000000" pitchFamily="2" charset="0"/>
              </a:rPr>
              <a:t>Mastiff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912833D-C9FC-98EA-4A0C-AC06FA2B6B52}"/>
              </a:ext>
            </a:extLst>
          </p:cNvPr>
          <p:cNvSpPr txBox="1"/>
          <p:nvPr/>
        </p:nvSpPr>
        <p:spPr>
          <a:xfrm>
            <a:off x="3443288" y="1985963"/>
            <a:ext cx="1928813" cy="1169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760" b="1">
                <a:solidFill>
                  <a:srgbClr val="64748B"/>
                </a:solidFill>
                <a:latin typeface="Aptos Mono" panose="020B0009020202020204" pitchFamily="49" charset="0"/>
              </a:rPr>
              <a:t>Conversational data analyst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FB8E92D-17BF-C492-EF0C-BC332F18E2AD}"/>
              </a:ext>
            </a:extLst>
          </p:cNvPr>
          <p:cNvSpPr txBox="1"/>
          <p:nvPr/>
        </p:nvSpPr>
        <p:spPr>
          <a:xfrm>
            <a:off x="3471863" y="2328863"/>
            <a:ext cx="2114550" cy="3508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760">
                <a:solidFill>
                  <a:srgbClr val="243041"/>
                </a:solidFill>
                <a:latin typeface="Lato" panose="020F0502020204030203" pitchFamily="34" charset="0"/>
              </a:rPr>
              <a:t>- CSV/Excel/JSON/Parquet ingestion</a:t>
            </a:r>
          </a:p>
          <a:p>
            <a:r>
              <a:rPr lang="en-IN" sz="760">
                <a:solidFill>
                  <a:srgbClr val="243041"/>
                </a:solidFill>
                <a:latin typeface="Lato" panose="020F0502020204030203" pitchFamily="34" charset="0"/>
              </a:rPr>
              <a:t>- LLM-to-Python sandbox execution</a:t>
            </a:r>
          </a:p>
          <a:p>
            <a:r>
              <a:rPr lang="en-IN" sz="760">
                <a:solidFill>
                  <a:srgbClr val="243041"/>
                </a:solidFill>
                <a:latin typeface="Lato" panose="020F0502020204030203" pitchFamily="34" charset="0"/>
              </a:rPr>
              <a:t>- Charts, report export, sessions, connectors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F94D1BC0-A3C9-CA67-D39F-174C5E9CB9CF}"/>
              </a:ext>
            </a:extLst>
          </p:cNvPr>
          <p:cNvSpPr/>
          <p:nvPr/>
        </p:nvSpPr>
        <p:spPr>
          <a:xfrm>
            <a:off x="3443288" y="3243263"/>
            <a:ext cx="900112" cy="214312"/>
          </a:xfrm>
          <a:prstGeom prst="roundRect">
            <a:avLst/>
          </a:prstGeom>
          <a:solidFill>
            <a:srgbClr val="10A37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95E862A-4EAC-7BA1-382C-23799DD98B01}"/>
              </a:ext>
            </a:extLst>
          </p:cNvPr>
          <p:cNvSpPr txBox="1"/>
          <p:nvPr/>
        </p:nvSpPr>
        <p:spPr>
          <a:xfrm>
            <a:off x="3514725" y="3278981"/>
            <a:ext cx="757238" cy="1169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IN" sz="760" b="1">
                <a:solidFill>
                  <a:srgbClr val="FFFFFF"/>
                </a:solidFill>
                <a:latin typeface="Aptos Mono" panose="020B0009020202020204" pitchFamily="49" charset="0"/>
              </a:rPr>
              <a:t>data AI</a:t>
            </a: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D997C980-AF50-6512-C2D1-159E1CC44C71}"/>
              </a:ext>
            </a:extLst>
          </p:cNvPr>
          <p:cNvSpPr/>
          <p:nvPr/>
        </p:nvSpPr>
        <p:spPr>
          <a:xfrm>
            <a:off x="4443413" y="3243263"/>
            <a:ext cx="828675" cy="214312"/>
          </a:xfrm>
          <a:prstGeom prst="roundRect">
            <a:avLst/>
          </a:prstGeom>
          <a:solidFill>
            <a:srgbClr val="11182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30C5260-6458-827C-AFCA-9D29DB4B5472}"/>
              </a:ext>
            </a:extLst>
          </p:cNvPr>
          <p:cNvSpPr txBox="1"/>
          <p:nvPr/>
        </p:nvSpPr>
        <p:spPr>
          <a:xfrm>
            <a:off x="4514850" y="3278981"/>
            <a:ext cx="685800" cy="1169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IN" sz="760" b="1">
                <a:solidFill>
                  <a:srgbClr val="FFFFFF"/>
                </a:solidFill>
                <a:latin typeface="Aptos Mono" panose="020B0009020202020204" pitchFamily="49" charset="0"/>
              </a:rPr>
              <a:t>demo proof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9B7E0C54-FA78-3CCB-0FB1-2FD53A1AFCB8}"/>
              </a:ext>
            </a:extLst>
          </p:cNvPr>
          <p:cNvSpPr/>
          <p:nvPr/>
        </p:nvSpPr>
        <p:spPr>
          <a:xfrm>
            <a:off x="6072188" y="1557338"/>
            <a:ext cx="2500312" cy="2228850"/>
          </a:xfrm>
          <a:prstGeom prst="roundRect">
            <a:avLst/>
          </a:prstGeom>
          <a:solidFill>
            <a:srgbClr val="FFFFFF"/>
          </a:solidFill>
          <a:ln w="7144">
            <a:solidFill>
              <a:srgbClr val="D7E0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8901FA1C-1F86-7E00-8552-F3EB822F16E7}"/>
              </a:ext>
            </a:extLst>
          </p:cNvPr>
          <p:cNvSpPr/>
          <p:nvPr/>
        </p:nvSpPr>
        <p:spPr>
          <a:xfrm>
            <a:off x="6072188" y="1557338"/>
            <a:ext cx="2500312" cy="57150"/>
          </a:xfrm>
          <a:prstGeom prst="rect">
            <a:avLst/>
          </a:prstGeom>
          <a:solidFill>
            <a:srgbClr val="D69E2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C87A48F-9EEE-9278-1ABD-95C5211827EF}"/>
              </a:ext>
            </a:extLst>
          </p:cNvPr>
          <p:cNvSpPr txBox="1"/>
          <p:nvPr/>
        </p:nvSpPr>
        <p:spPr>
          <a:xfrm>
            <a:off x="6229350" y="1757363"/>
            <a:ext cx="1285875" cy="18171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1181" b="1">
                <a:solidFill>
                  <a:srgbClr val="D69E2E"/>
                </a:solidFill>
                <a:latin typeface="Poppins" panose="00000500000000000000" pitchFamily="2" charset="0"/>
              </a:rPr>
              <a:t>OEE Box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620FDD0-42EE-29AE-8577-A1B5ABD53AF2}"/>
              </a:ext>
            </a:extLst>
          </p:cNvPr>
          <p:cNvSpPr txBox="1"/>
          <p:nvPr/>
        </p:nvSpPr>
        <p:spPr>
          <a:xfrm>
            <a:off x="6229350" y="1985963"/>
            <a:ext cx="1928813" cy="1169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760" b="1">
                <a:solidFill>
                  <a:srgbClr val="64748B"/>
                </a:solidFill>
                <a:latin typeface="Aptos Mono" panose="020B0009020202020204" pitchFamily="49" charset="0"/>
              </a:rPr>
              <a:t>Industrial edge AI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DD2D05E-3D20-3152-E023-34933A163F3B}"/>
              </a:ext>
            </a:extLst>
          </p:cNvPr>
          <p:cNvSpPr txBox="1"/>
          <p:nvPr/>
        </p:nvSpPr>
        <p:spPr>
          <a:xfrm>
            <a:off x="6257925" y="2328863"/>
            <a:ext cx="2114550" cy="3508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760">
                <a:solidFill>
                  <a:srgbClr val="243041"/>
                </a:solidFill>
                <a:latin typeface="Lato" panose="020F0502020204030203" pitchFamily="34" charset="0"/>
              </a:rPr>
              <a:t>- MQTT, Modbus, OPC-UA machine data</a:t>
            </a:r>
          </a:p>
          <a:p>
            <a:r>
              <a:rPr lang="en-IN" sz="760">
                <a:solidFill>
                  <a:srgbClr val="243041"/>
                </a:solidFill>
                <a:latin typeface="Lato" panose="020F0502020204030203" pitchFamily="34" charset="0"/>
              </a:rPr>
              <a:t>- Local RAG, schema inference, trust score</a:t>
            </a:r>
          </a:p>
          <a:p>
            <a:r>
              <a:rPr lang="en-IN" sz="760">
                <a:solidFill>
                  <a:srgbClr val="243041"/>
                </a:solidFill>
                <a:latin typeface="Lato" panose="020F0502020204030203" pitchFamily="34" charset="0"/>
              </a:rPr>
              <a:t>- RL shadow agent and command gatekeeper</a:t>
            </a: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03FDD6D2-A61F-8B50-62D3-FAE0582C00AC}"/>
              </a:ext>
            </a:extLst>
          </p:cNvPr>
          <p:cNvSpPr/>
          <p:nvPr/>
        </p:nvSpPr>
        <p:spPr>
          <a:xfrm>
            <a:off x="6229350" y="3243263"/>
            <a:ext cx="900113" cy="214312"/>
          </a:xfrm>
          <a:prstGeom prst="roundRect">
            <a:avLst/>
          </a:prstGeom>
          <a:solidFill>
            <a:srgbClr val="D69E2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AC4E660-F6ED-F66D-8D6F-3AE1F3E48F82}"/>
              </a:ext>
            </a:extLst>
          </p:cNvPr>
          <p:cNvSpPr txBox="1"/>
          <p:nvPr/>
        </p:nvSpPr>
        <p:spPr>
          <a:xfrm>
            <a:off x="6300788" y="3278981"/>
            <a:ext cx="757238" cy="1169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IN" sz="760" b="1">
                <a:solidFill>
                  <a:srgbClr val="FFFFFF"/>
                </a:solidFill>
                <a:latin typeface="Aptos Mono" panose="020B0009020202020204" pitchFamily="49" charset="0"/>
              </a:rPr>
              <a:t>edge AI</a:t>
            </a: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71A74746-09C2-51E0-4878-CA89B74E1709}"/>
              </a:ext>
            </a:extLst>
          </p:cNvPr>
          <p:cNvSpPr/>
          <p:nvPr/>
        </p:nvSpPr>
        <p:spPr>
          <a:xfrm>
            <a:off x="7229475" y="3243263"/>
            <a:ext cx="828675" cy="214312"/>
          </a:xfrm>
          <a:prstGeom prst="roundRect">
            <a:avLst/>
          </a:prstGeom>
          <a:solidFill>
            <a:srgbClr val="11182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B366F31-E63B-5B97-0992-693A4C49270A}"/>
              </a:ext>
            </a:extLst>
          </p:cNvPr>
          <p:cNvSpPr txBox="1"/>
          <p:nvPr/>
        </p:nvSpPr>
        <p:spPr>
          <a:xfrm>
            <a:off x="7300913" y="3278981"/>
            <a:ext cx="685800" cy="1169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IN" sz="760" b="1">
                <a:solidFill>
                  <a:srgbClr val="FFFFFF"/>
                </a:solidFill>
                <a:latin typeface="Aptos Mono" panose="020B0009020202020204" pitchFamily="49" charset="0"/>
              </a:rPr>
              <a:t>demo proof</a:t>
            </a: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D5458119-7033-38F1-8500-FA17EA47EF5F}"/>
              </a:ext>
            </a:extLst>
          </p:cNvPr>
          <p:cNvSpPr/>
          <p:nvPr/>
        </p:nvSpPr>
        <p:spPr>
          <a:xfrm>
            <a:off x="1571625" y="4014788"/>
            <a:ext cx="6000750" cy="414337"/>
          </a:xfrm>
          <a:prstGeom prst="roundRect">
            <a:avLst/>
          </a:prstGeom>
          <a:solidFill>
            <a:srgbClr val="FFFFFF"/>
          </a:solidFill>
          <a:ln w="7144">
            <a:solidFill>
              <a:srgbClr val="D7E0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D2060B68-CEEE-51B8-FEC6-F1E2208E15E7}"/>
              </a:ext>
            </a:extLst>
          </p:cNvPr>
          <p:cNvSpPr/>
          <p:nvPr/>
        </p:nvSpPr>
        <p:spPr>
          <a:xfrm>
            <a:off x="1571625" y="4014788"/>
            <a:ext cx="6000750" cy="50006"/>
          </a:xfrm>
          <a:prstGeom prst="rect">
            <a:avLst/>
          </a:prstGeom>
          <a:solidFill>
            <a:srgbClr val="10A37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A8EA6DB-3F45-FD09-753A-6D168294455D}"/>
              </a:ext>
            </a:extLst>
          </p:cNvPr>
          <p:cNvSpPr txBox="1"/>
          <p:nvPr/>
        </p:nvSpPr>
        <p:spPr>
          <a:xfrm>
            <a:off x="1700213" y="4157663"/>
            <a:ext cx="5743575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900" b="1">
                <a:solidFill>
                  <a:srgbClr val="10A37F"/>
                </a:solidFill>
                <a:latin typeface="Poppins" panose="00000500000000000000" pitchFamily="2" charset="0"/>
              </a:rPr>
              <a:t>Talk track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4A50C54-A749-BC03-9700-01546E11198A}"/>
              </a:ext>
            </a:extLst>
          </p:cNvPr>
          <p:cNvSpPr txBox="1"/>
          <p:nvPr/>
        </p:nvSpPr>
        <p:spPr>
          <a:xfrm>
            <a:off x="1700213" y="4400550"/>
            <a:ext cx="5743575" cy="2339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760">
                <a:solidFill>
                  <a:srgbClr val="243041"/>
                </a:solidFill>
                <a:latin typeface="Lato" panose="020F0502020204030203" pitchFamily="34" charset="0"/>
              </a:rPr>
              <a:t>The workshop pillars are not theoretical: these projects cover business agents, data analysis, retrieval, predictive ML, edge telemetry, APIs, jobs, storage, security controls, and live software delivery.</a:t>
            </a:r>
            <a:endParaRPr lang="en-IN" sz="760">
              <a:solidFill>
                <a:srgbClr val="243041"/>
              </a:solidFill>
              <a:latin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61305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33C93D9D-F188-ECC4-3F85-2812E1BC8810}"/>
              </a:ext>
            </a:extLst>
          </p:cNvPr>
          <p:cNvSpPr/>
          <p:nvPr/>
        </p:nvSpPr>
        <p:spPr>
          <a:xfrm>
            <a:off x="-714375" y="-857250"/>
            <a:ext cx="2286000" cy="2286000"/>
          </a:xfrm>
          <a:prstGeom prst="ellipse">
            <a:avLst/>
          </a:prstGeom>
          <a:solidFill>
            <a:srgbClr val="E9F7F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335D646B-D2DA-F57B-9F75-636490B1875C}"/>
              </a:ext>
            </a:extLst>
          </p:cNvPr>
          <p:cNvSpPr/>
          <p:nvPr/>
        </p:nvSpPr>
        <p:spPr>
          <a:xfrm>
            <a:off x="7786688" y="3571875"/>
            <a:ext cx="1857375" cy="1857375"/>
          </a:xfrm>
          <a:prstGeom prst="ellipse">
            <a:avLst/>
          </a:prstGeom>
          <a:solidFill>
            <a:srgbClr val="F7EED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32845D1-D853-6204-4FE8-0598D16AE905}"/>
              </a:ext>
            </a:extLst>
          </p:cNvPr>
          <p:cNvSpPr/>
          <p:nvPr/>
        </p:nvSpPr>
        <p:spPr>
          <a:xfrm>
            <a:off x="500063" y="200025"/>
            <a:ext cx="457200" cy="200025"/>
          </a:xfrm>
          <a:prstGeom prst="roundRect">
            <a:avLst/>
          </a:prstGeom>
          <a:noFill/>
          <a:ln w="7144" cap="flat" cmpd="sng" algn="ctr">
            <a:solidFill>
              <a:srgbClr val="E5E7EB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3F62C1D-8D9A-F5E2-D4C3-CC48F232FC6F}"/>
              </a:ext>
            </a:extLst>
          </p:cNvPr>
          <p:cNvSpPr txBox="1"/>
          <p:nvPr/>
        </p:nvSpPr>
        <p:spPr>
          <a:xfrm>
            <a:off x="564356" y="250031"/>
            <a:ext cx="328613" cy="1169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IN" sz="760" b="1">
                <a:solidFill>
                  <a:srgbClr val="64748B"/>
                </a:solidFill>
                <a:latin typeface="Aptos Mono" panose="020B0009020202020204" pitchFamily="49" charset="0"/>
              </a:rPr>
              <a:t>HOME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5712695-22ED-0A3A-EBCB-2A64B04DBF7F}"/>
              </a:ext>
            </a:extLst>
          </p:cNvPr>
          <p:cNvSpPr/>
          <p:nvPr/>
        </p:nvSpPr>
        <p:spPr>
          <a:xfrm>
            <a:off x="1028700" y="200025"/>
            <a:ext cx="907256" cy="200025"/>
          </a:xfrm>
          <a:prstGeom prst="roundRect">
            <a:avLst/>
          </a:prstGeom>
          <a:noFill/>
          <a:ln w="7144" cap="flat" cmpd="sng" algn="ctr">
            <a:solidFill>
              <a:srgbClr val="E5E7EB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8AFC78F-727B-FFDE-3897-E7D28E239AA9}"/>
              </a:ext>
            </a:extLst>
          </p:cNvPr>
          <p:cNvSpPr txBox="1"/>
          <p:nvPr/>
        </p:nvSpPr>
        <p:spPr>
          <a:xfrm>
            <a:off x="1092994" y="250031"/>
            <a:ext cx="778669" cy="1169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IN" sz="760" b="1">
                <a:solidFill>
                  <a:srgbClr val="64748B"/>
                </a:solidFill>
                <a:latin typeface="Aptos Mono" panose="020B0009020202020204" pitchFamily="49" charset="0"/>
              </a:rPr>
              <a:t>FOUNDATIONS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CAC93C3-100A-8D24-69E5-A9595910F7C7}"/>
              </a:ext>
            </a:extLst>
          </p:cNvPr>
          <p:cNvSpPr/>
          <p:nvPr/>
        </p:nvSpPr>
        <p:spPr>
          <a:xfrm>
            <a:off x="2007394" y="200025"/>
            <a:ext cx="521494" cy="200025"/>
          </a:xfrm>
          <a:prstGeom prst="roundRect">
            <a:avLst/>
          </a:prstGeom>
          <a:noFill/>
          <a:ln w="7144" cap="flat" cmpd="sng" algn="ctr">
            <a:solidFill>
              <a:srgbClr val="E5E7EB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675C07B-41DF-5956-4370-002E90647B9A}"/>
              </a:ext>
            </a:extLst>
          </p:cNvPr>
          <p:cNvSpPr txBox="1"/>
          <p:nvPr/>
        </p:nvSpPr>
        <p:spPr>
          <a:xfrm>
            <a:off x="2071688" y="250031"/>
            <a:ext cx="392906" cy="1169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IN" sz="760" b="1">
                <a:solidFill>
                  <a:srgbClr val="64748B"/>
                </a:solidFill>
                <a:latin typeface="Aptos Mono" panose="020B0009020202020204" pitchFamily="49" charset="0"/>
              </a:rPr>
              <a:t>DEMOS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7D4F227-7EF4-62AA-3977-1F773CB2614B}"/>
              </a:ext>
            </a:extLst>
          </p:cNvPr>
          <p:cNvSpPr/>
          <p:nvPr/>
        </p:nvSpPr>
        <p:spPr>
          <a:xfrm>
            <a:off x="2600325" y="200025"/>
            <a:ext cx="521494" cy="200025"/>
          </a:xfrm>
          <a:prstGeom prst="roundRect">
            <a:avLst/>
          </a:prstGeom>
          <a:noFill/>
          <a:ln w="7144" cap="flat" cmpd="sng" algn="ctr">
            <a:solidFill>
              <a:srgbClr val="E5E7EB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2C2DDCF-8AED-8AAD-B2A8-838BEE7F301C}"/>
              </a:ext>
            </a:extLst>
          </p:cNvPr>
          <p:cNvSpPr txBox="1"/>
          <p:nvPr/>
        </p:nvSpPr>
        <p:spPr>
          <a:xfrm>
            <a:off x="2664619" y="250031"/>
            <a:ext cx="392906" cy="1169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IN" sz="760" b="1">
                <a:solidFill>
                  <a:srgbClr val="64748B"/>
                </a:solidFill>
                <a:latin typeface="Aptos Mono" panose="020B0009020202020204" pitchFamily="49" charset="0"/>
              </a:rPr>
              <a:t>STACK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4603874-63D4-63FD-684B-33204211623E}"/>
              </a:ext>
            </a:extLst>
          </p:cNvPr>
          <p:cNvSpPr/>
          <p:nvPr/>
        </p:nvSpPr>
        <p:spPr>
          <a:xfrm>
            <a:off x="3193256" y="200025"/>
            <a:ext cx="842963" cy="200025"/>
          </a:xfrm>
          <a:prstGeom prst="roundRect">
            <a:avLst/>
          </a:prstGeom>
          <a:noFill/>
          <a:ln w="7144" cap="flat" cmpd="sng" algn="ctr">
            <a:solidFill>
              <a:srgbClr val="E5E7EB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C36AEEF-01D0-6E29-A6BD-575A1E941369}"/>
              </a:ext>
            </a:extLst>
          </p:cNvPr>
          <p:cNvSpPr txBox="1"/>
          <p:nvPr/>
        </p:nvSpPr>
        <p:spPr>
          <a:xfrm>
            <a:off x="3257550" y="250031"/>
            <a:ext cx="714375" cy="1169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IN" sz="760" b="1">
                <a:solidFill>
                  <a:srgbClr val="64748B"/>
                </a:solidFill>
                <a:latin typeface="Aptos Mono" panose="020B0009020202020204" pitchFamily="49" charset="0"/>
              </a:rPr>
              <a:t>GOVERNANCE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C9B4134F-030A-A9B0-C5A1-A1E419BD12CB}"/>
              </a:ext>
            </a:extLst>
          </p:cNvPr>
          <p:cNvSpPr/>
          <p:nvPr/>
        </p:nvSpPr>
        <p:spPr>
          <a:xfrm>
            <a:off x="4107656" y="200025"/>
            <a:ext cx="650082" cy="200025"/>
          </a:xfrm>
          <a:prstGeom prst="roundRect">
            <a:avLst/>
          </a:prstGeom>
          <a:noFill/>
          <a:ln w="7144" cap="flat" cmpd="sng" algn="ctr">
            <a:solidFill>
              <a:srgbClr val="E5E7EB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1998215-EF1C-C046-7AE9-2020C88AF87B}"/>
              </a:ext>
            </a:extLst>
          </p:cNvPr>
          <p:cNvSpPr txBox="1"/>
          <p:nvPr/>
        </p:nvSpPr>
        <p:spPr>
          <a:xfrm>
            <a:off x="4171950" y="250031"/>
            <a:ext cx="521494" cy="1169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IN" sz="760" b="1">
                <a:solidFill>
                  <a:srgbClr val="64748B"/>
                </a:solidFill>
                <a:latin typeface="Aptos Mono" panose="020B0009020202020204" pitchFamily="49" charset="0"/>
              </a:rPr>
              <a:t>ROADMAP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8319F056-A613-2240-3415-B7DC709F8FE9}"/>
              </a:ext>
            </a:extLst>
          </p:cNvPr>
          <p:cNvSpPr/>
          <p:nvPr/>
        </p:nvSpPr>
        <p:spPr>
          <a:xfrm>
            <a:off x="4829175" y="200025"/>
            <a:ext cx="900113" cy="200025"/>
          </a:xfrm>
          <a:prstGeom prst="roundRect">
            <a:avLst/>
          </a:prstGeom>
          <a:solidFill>
            <a:srgbClr val="10A37F"/>
          </a:solidFill>
          <a:ln w="7144">
            <a:solidFill>
              <a:srgbClr val="10A37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7CFBCE8-C02D-81A4-813D-7B8667D4A8DF}"/>
              </a:ext>
            </a:extLst>
          </p:cNvPr>
          <p:cNvSpPr txBox="1"/>
          <p:nvPr/>
        </p:nvSpPr>
        <p:spPr>
          <a:xfrm>
            <a:off x="4893469" y="250031"/>
            <a:ext cx="771525" cy="1169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IN" sz="760" b="1">
                <a:solidFill>
                  <a:srgbClr val="FFFFFF"/>
                </a:solidFill>
                <a:latin typeface="Aptos Mono" panose="020B0009020202020204" pitchFamily="49" charset="0"/>
              </a:rPr>
              <a:t>PROJECT MAP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B81A11E-1F07-1C2A-464F-3BCFA4CAD5ED}"/>
              </a:ext>
            </a:extLst>
          </p:cNvPr>
          <p:cNvSpPr/>
          <p:nvPr/>
        </p:nvSpPr>
        <p:spPr>
          <a:xfrm>
            <a:off x="500063" y="4557713"/>
            <a:ext cx="8143875" cy="12700"/>
          </a:xfrm>
          <a:prstGeom prst="rect">
            <a:avLst/>
          </a:prstGeom>
          <a:solidFill>
            <a:srgbClr val="E5E7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6337153-9903-9C51-70B9-9A54CF19FEF9}"/>
              </a:ext>
            </a:extLst>
          </p:cNvPr>
          <p:cNvSpPr txBox="1"/>
          <p:nvPr/>
        </p:nvSpPr>
        <p:spPr>
          <a:xfrm>
            <a:off x="500063" y="4672013"/>
            <a:ext cx="3000375" cy="1169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760" b="1">
                <a:solidFill>
                  <a:srgbClr val="64748B"/>
                </a:solidFill>
                <a:latin typeface="Aptos Mono" panose="020B0009020202020204" pitchFamily="49" charset="0"/>
              </a:rPr>
              <a:t>PROJECT MAP  -  20 / 24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D9997CE-ACE1-DA1F-D8C2-6358421473BE}"/>
              </a:ext>
            </a:extLst>
          </p:cNvPr>
          <p:cNvSpPr txBox="1"/>
          <p:nvPr/>
        </p:nvSpPr>
        <p:spPr>
          <a:xfrm>
            <a:off x="500063" y="585788"/>
            <a:ext cx="7429500" cy="3030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1969" b="1">
                <a:solidFill>
                  <a:srgbClr val="111827"/>
                </a:solidFill>
                <a:latin typeface="Poppins" panose="00000500000000000000" pitchFamily="2" charset="0"/>
              </a:rPr>
              <a:t>Axiom: Procurement Intelligence Proof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E6C92B6-D281-6F5D-AEF6-74589F0A3481}"/>
              </a:ext>
            </a:extLst>
          </p:cNvPr>
          <p:cNvSpPr txBox="1"/>
          <p:nvPr/>
        </p:nvSpPr>
        <p:spPr>
          <a:xfrm>
            <a:off x="514350" y="1014413"/>
            <a:ext cx="74295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>
                <a:solidFill>
                  <a:srgbClr val="243041"/>
                </a:solidFill>
                <a:latin typeface="Lato" panose="020F0502020204030203" pitchFamily="34" charset="0"/>
              </a:rPr>
              <a:t>Maps to business AI, agentic workflows, document intelligence, API integration, cloud architecture, and engineering maturity.</a:t>
            </a:r>
            <a:endParaRPr lang="en-IN" sz="900">
              <a:solidFill>
                <a:srgbClr val="243041"/>
              </a:solidFill>
              <a:latin typeface="Lato" panose="020F0502020204030203" pitchFamily="34" charset="0"/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346F2489-F141-7E84-FD18-AE824F7E80F1}"/>
              </a:ext>
            </a:extLst>
          </p:cNvPr>
          <p:cNvSpPr/>
          <p:nvPr/>
        </p:nvSpPr>
        <p:spPr>
          <a:xfrm>
            <a:off x="500063" y="1557338"/>
            <a:ext cx="2457450" cy="1457325"/>
          </a:xfrm>
          <a:prstGeom prst="roundRect">
            <a:avLst/>
          </a:prstGeom>
          <a:solidFill>
            <a:srgbClr val="FFFFFF"/>
          </a:solidFill>
          <a:ln w="7144">
            <a:solidFill>
              <a:srgbClr val="D7E0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7B4A0062-2C0A-0143-A457-555D2792408A}"/>
              </a:ext>
            </a:extLst>
          </p:cNvPr>
          <p:cNvSpPr/>
          <p:nvPr/>
        </p:nvSpPr>
        <p:spPr>
          <a:xfrm>
            <a:off x="600075" y="1657350"/>
            <a:ext cx="1843088" cy="200025"/>
          </a:xfrm>
          <a:prstGeom prst="round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B5D899E-B397-78A3-49AA-B6EBB5C59D5F}"/>
              </a:ext>
            </a:extLst>
          </p:cNvPr>
          <p:cNvSpPr txBox="1"/>
          <p:nvPr/>
        </p:nvSpPr>
        <p:spPr>
          <a:xfrm>
            <a:off x="671513" y="1693069"/>
            <a:ext cx="1700213" cy="1169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IN" sz="760" b="1">
                <a:solidFill>
                  <a:srgbClr val="FFFFFF"/>
                </a:solidFill>
                <a:latin typeface="Aptos Mono" panose="020B0009020202020204" pitchFamily="49" charset="0"/>
              </a:rPr>
              <a:t>Implemented product surface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A65E273-9213-3192-7C7B-79AF612D4A3E}"/>
              </a:ext>
            </a:extLst>
          </p:cNvPr>
          <p:cNvSpPr txBox="1"/>
          <p:nvPr/>
        </p:nvSpPr>
        <p:spPr>
          <a:xfrm>
            <a:off x="628650" y="1971675"/>
            <a:ext cx="2200275" cy="70173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760">
                <a:solidFill>
                  <a:srgbClr val="243041"/>
                </a:solidFill>
                <a:latin typeface="Lato" panose="020F0502020204030203" pitchFamily="34" charset="0"/>
              </a:rPr>
              <a:t>- Dashboards for orders, RFQs, suppliers, spend analytics</a:t>
            </a:r>
          </a:p>
          <a:p>
            <a:r>
              <a:rPr lang="en-US" sz="760">
                <a:solidFill>
                  <a:srgbClr val="243041"/>
                </a:solidFill>
                <a:latin typeface="Lato" panose="020F0502020204030203" pitchFamily="34" charset="0"/>
              </a:rPr>
              <a:t>- Supplier risk scoring and operational intelligence</a:t>
            </a:r>
          </a:p>
          <a:p>
            <a:r>
              <a:rPr lang="en-US" sz="760">
                <a:solidFill>
                  <a:srgbClr val="243041"/>
                </a:solidFill>
                <a:latin typeface="Lato" panose="020F0502020204030203" pitchFamily="34" charset="0"/>
              </a:rPr>
              <a:t>- Admin/user management, support tickets, exports</a:t>
            </a:r>
          </a:p>
          <a:p>
            <a:r>
              <a:rPr lang="en-US" sz="760">
                <a:solidFill>
                  <a:srgbClr val="243041"/>
                </a:solidFill>
                <a:latin typeface="Lato" panose="020F0502020204030203" pitchFamily="34" charset="0"/>
              </a:rPr>
              <a:t>- Procurement workflows with structured review surfaces</a:t>
            </a:r>
            <a:endParaRPr lang="en-IN" sz="760">
              <a:solidFill>
                <a:srgbClr val="243041"/>
              </a:solidFill>
              <a:latin typeface="Lato" panose="020F0502020204030203" pitchFamily="34" charset="0"/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A49D203D-C966-B18C-1A23-058E13FF347F}"/>
              </a:ext>
            </a:extLst>
          </p:cNvPr>
          <p:cNvSpPr/>
          <p:nvPr/>
        </p:nvSpPr>
        <p:spPr>
          <a:xfrm>
            <a:off x="3343275" y="1557338"/>
            <a:ext cx="2457450" cy="1457325"/>
          </a:xfrm>
          <a:prstGeom prst="roundRect">
            <a:avLst/>
          </a:prstGeom>
          <a:solidFill>
            <a:srgbClr val="FFFFFF"/>
          </a:solidFill>
          <a:ln w="7144">
            <a:solidFill>
              <a:srgbClr val="D7E0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48E693FB-CD90-C5C1-ED99-6AC67DFDF59F}"/>
              </a:ext>
            </a:extLst>
          </p:cNvPr>
          <p:cNvSpPr/>
          <p:nvPr/>
        </p:nvSpPr>
        <p:spPr>
          <a:xfrm>
            <a:off x="3443288" y="1657350"/>
            <a:ext cx="1614487" cy="200025"/>
          </a:xfrm>
          <a:prstGeom prst="roundRect">
            <a:avLst/>
          </a:prstGeom>
          <a:solidFill>
            <a:srgbClr val="10A37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0590EE1-7CC2-25A5-A809-7602A30B2A15}"/>
              </a:ext>
            </a:extLst>
          </p:cNvPr>
          <p:cNvSpPr txBox="1"/>
          <p:nvPr/>
        </p:nvSpPr>
        <p:spPr>
          <a:xfrm>
            <a:off x="3514725" y="1693069"/>
            <a:ext cx="1471613" cy="1169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IN" sz="760" b="1">
                <a:solidFill>
                  <a:srgbClr val="FFFFFF"/>
                </a:solidFill>
                <a:latin typeface="Aptos Mono" panose="020B0009020202020204" pitchFamily="49" charset="0"/>
              </a:rPr>
              <a:t>AI and automation layer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B1B283A-5841-7A95-8D5E-593D01C1F9F1}"/>
              </a:ext>
            </a:extLst>
          </p:cNvPr>
          <p:cNvSpPr txBox="1"/>
          <p:nvPr/>
        </p:nvSpPr>
        <p:spPr>
          <a:xfrm>
            <a:off x="3471863" y="1971675"/>
            <a:ext cx="2200275" cy="58477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760">
                <a:solidFill>
                  <a:srgbClr val="243041"/>
                </a:solidFill>
                <a:latin typeface="Lato" panose="020F0502020204030203" pitchFamily="34" charset="0"/>
              </a:rPr>
              <a:t>- Agent registry and orchestrator with typed inputs</a:t>
            </a:r>
          </a:p>
          <a:p>
            <a:r>
              <a:rPr lang="en-US" sz="760">
                <a:solidFill>
                  <a:srgbClr val="243041"/>
                </a:solidFill>
                <a:latin typeface="Lato" panose="020F0502020204030203" pitchFamily="34" charset="0"/>
              </a:rPr>
              <a:t>- Demand forecasting, fraud detection, payment optimizer</a:t>
            </a:r>
          </a:p>
          <a:p>
            <a:r>
              <a:rPr lang="en-US" sz="760">
                <a:solidFill>
                  <a:srgbClr val="243041"/>
                </a:solidFill>
                <a:latin typeface="Lato" panose="020F0502020204030203" pitchFamily="34" charset="0"/>
              </a:rPr>
              <a:t>- Contract clause analyzer and negotiation autopilot</a:t>
            </a:r>
          </a:p>
          <a:p>
            <a:r>
              <a:rPr lang="en-US" sz="760">
                <a:solidFill>
                  <a:srgbClr val="243041"/>
                </a:solidFill>
                <a:latin typeface="Lato" panose="020F0502020204030203" pitchFamily="34" charset="0"/>
              </a:rPr>
              <a:t>- Smart approval routing and bottleneck prediction</a:t>
            </a:r>
            <a:endParaRPr lang="en-IN" sz="760">
              <a:solidFill>
                <a:srgbClr val="243041"/>
              </a:solidFill>
              <a:latin typeface="Lato" panose="020F0502020204030203" pitchFamily="34" charset="0"/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6606CF24-7C55-2F96-6036-3785E207EA7C}"/>
              </a:ext>
            </a:extLst>
          </p:cNvPr>
          <p:cNvSpPr/>
          <p:nvPr/>
        </p:nvSpPr>
        <p:spPr>
          <a:xfrm>
            <a:off x="6186488" y="1557338"/>
            <a:ext cx="2457450" cy="1457325"/>
          </a:xfrm>
          <a:prstGeom prst="roundRect">
            <a:avLst/>
          </a:prstGeom>
          <a:solidFill>
            <a:srgbClr val="FFFFFF"/>
          </a:solidFill>
          <a:ln w="7144">
            <a:solidFill>
              <a:srgbClr val="D7E0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677CE737-5187-EBEF-038A-F9EE7FAC6A26}"/>
              </a:ext>
            </a:extLst>
          </p:cNvPr>
          <p:cNvSpPr/>
          <p:nvPr/>
        </p:nvSpPr>
        <p:spPr>
          <a:xfrm>
            <a:off x="6286500" y="1657350"/>
            <a:ext cx="1728788" cy="200025"/>
          </a:xfrm>
          <a:prstGeom prst="roundRect">
            <a:avLst/>
          </a:prstGeom>
          <a:solidFill>
            <a:srgbClr val="7C3AE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46EE06F-312C-9938-8F69-5BDFACB39433}"/>
              </a:ext>
            </a:extLst>
          </p:cNvPr>
          <p:cNvSpPr txBox="1"/>
          <p:nvPr/>
        </p:nvSpPr>
        <p:spPr>
          <a:xfrm>
            <a:off x="6357938" y="1693069"/>
            <a:ext cx="1585913" cy="1169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IN" sz="760" b="1">
                <a:solidFill>
                  <a:srgbClr val="FFFFFF"/>
                </a:solidFill>
                <a:latin typeface="Aptos Mono" panose="020B0009020202020204" pitchFamily="49" charset="0"/>
              </a:rPr>
              <a:t>Production software stack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CCA2D67-D5E0-AAAB-3CCC-220FFF517B08}"/>
              </a:ext>
            </a:extLst>
          </p:cNvPr>
          <p:cNvSpPr txBox="1"/>
          <p:nvPr/>
        </p:nvSpPr>
        <p:spPr>
          <a:xfrm>
            <a:off x="6315075" y="1971675"/>
            <a:ext cx="2200275" cy="81868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760">
                <a:solidFill>
                  <a:srgbClr val="243041"/>
                </a:solidFill>
                <a:latin typeface="Lato" panose="020F0502020204030203" pitchFamily="34" charset="0"/>
              </a:rPr>
              <a:t>- Next.js, React, Drizzle ORM, PostgreSQL, NextAuth</a:t>
            </a:r>
          </a:p>
          <a:p>
            <a:r>
              <a:rPr lang="en-IN" sz="760">
                <a:solidFill>
                  <a:srgbClr val="243041"/>
                </a:solidFill>
                <a:latin typeface="Lato" panose="020F0502020204030203" pitchFamily="34" charset="0"/>
              </a:rPr>
              <a:t>- Google Generative AI, Azure Blob, Redis, BullMQ</a:t>
            </a:r>
          </a:p>
          <a:p>
            <a:r>
              <a:rPr lang="en-IN" sz="760">
                <a:solidFill>
                  <a:srgbClr val="243041"/>
                </a:solidFill>
                <a:latin typeface="Lato" panose="020F0502020204030203" pitchFamily="34" charset="0"/>
              </a:rPr>
              <a:t>- Zod validation, telemetry, rate limiting, audit exports</a:t>
            </a:r>
          </a:p>
          <a:p>
            <a:r>
              <a:rPr lang="en-IN" sz="760">
                <a:solidFill>
                  <a:srgbClr val="243041"/>
                </a:solidFill>
                <a:latin typeface="Lato" panose="020F0502020204030203" pitchFamily="34" charset="0"/>
              </a:rPr>
              <a:t>- Smoke, unit, and integration tests for release safety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4632F8A4-2EFE-F519-469D-04D7A015E53B}"/>
              </a:ext>
            </a:extLst>
          </p:cNvPr>
          <p:cNvSpPr/>
          <p:nvPr/>
        </p:nvSpPr>
        <p:spPr>
          <a:xfrm>
            <a:off x="571500" y="3471863"/>
            <a:ext cx="1200150" cy="585787"/>
          </a:xfrm>
          <a:prstGeom prst="roundRect">
            <a:avLst/>
          </a:prstGeom>
          <a:solidFill>
            <a:srgbClr val="FFFFFF"/>
          </a:solidFill>
          <a:ln w="7144">
            <a:solidFill>
              <a:srgbClr val="D7E0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595B4681-E178-54DA-B228-2E151439CADB}"/>
              </a:ext>
            </a:extLst>
          </p:cNvPr>
          <p:cNvSpPr/>
          <p:nvPr/>
        </p:nvSpPr>
        <p:spPr>
          <a:xfrm>
            <a:off x="671513" y="3600450"/>
            <a:ext cx="200025" cy="200025"/>
          </a:xfrm>
          <a:prstGeom prst="ellipse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2AC7819-42E9-737B-F319-3FAADE07D938}"/>
              </a:ext>
            </a:extLst>
          </p:cNvPr>
          <p:cNvSpPr txBox="1"/>
          <p:nvPr/>
        </p:nvSpPr>
        <p:spPr>
          <a:xfrm>
            <a:off x="942975" y="3586163"/>
            <a:ext cx="742950" cy="1169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760" b="1">
                <a:solidFill>
                  <a:srgbClr val="2563EB"/>
                </a:solidFill>
                <a:latin typeface="Poppins" panose="00000500000000000000" pitchFamily="2" charset="0"/>
              </a:rPr>
              <a:t>UX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7EB188D-7026-692C-EF45-3094D685352F}"/>
              </a:ext>
            </a:extLst>
          </p:cNvPr>
          <p:cNvSpPr txBox="1"/>
          <p:nvPr/>
        </p:nvSpPr>
        <p:spPr>
          <a:xfrm>
            <a:off x="700088" y="3843338"/>
            <a:ext cx="942975" cy="2339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760">
                <a:solidFill>
                  <a:srgbClr val="243041"/>
                </a:solidFill>
                <a:latin typeface="Lato" panose="020F0502020204030203" pitchFamily="34" charset="0"/>
              </a:rPr>
              <a:t>Dashboards, chat, admin</a:t>
            </a:r>
          </a:p>
        </p:txBody>
      </p:sp>
      <p:sp>
        <p:nvSpPr>
          <p:cNvPr id="38" name="Arrow: Right 37">
            <a:extLst>
              <a:ext uri="{FF2B5EF4-FFF2-40B4-BE49-F238E27FC236}">
                <a16:creationId xmlns:a16="http://schemas.microsoft.com/office/drawing/2014/main" id="{5ED010BA-737A-7C3B-6341-B5CC77DE52BF}"/>
              </a:ext>
            </a:extLst>
          </p:cNvPr>
          <p:cNvSpPr/>
          <p:nvPr/>
        </p:nvSpPr>
        <p:spPr>
          <a:xfrm>
            <a:off x="1814513" y="3707606"/>
            <a:ext cx="300037" cy="114300"/>
          </a:xfrm>
          <a:prstGeom prst="rightArrow">
            <a:avLst/>
          </a:prstGeom>
          <a:solidFill>
            <a:srgbClr val="E5E7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A9C2705C-C9CD-F353-9CA6-AFC86C34FEB0}"/>
              </a:ext>
            </a:extLst>
          </p:cNvPr>
          <p:cNvSpPr/>
          <p:nvPr/>
        </p:nvSpPr>
        <p:spPr>
          <a:xfrm>
            <a:off x="2250281" y="3471863"/>
            <a:ext cx="1200150" cy="585787"/>
          </a:xfrm>
          <a:prstGeom prst="roundRect">
            <a:avLst/>
          </a:prstGeom>
          <a:solidFill>
            <a:srgbClr val="FFFFFF"/>
          </a:solidFill>
          <a:ln w="7144">
            <a:solidFill>
              <a:srgbClr val="D7E0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0A5FB16B-54BB-A198-5A53-392FF088A9F3}"/>
              </a:ext>
            </a:extLst>
          </p:cNvPr>
          <p:cNvSpPr/>
          <p:nvPr/>
        </p:nvSpPr>
        <p:spPr>
          <a:xfrm>
            <a:off x="2350294" y="3600450"/>
            <a:ext cx="200025" cy="200025"/>
          </a:xfrm>
          <a:prstGeom prst="ellipse">
            <a:avLst/>
          </a:prstGeom>
          <a:solidFill>
            <a:srgbClr val="10A37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47F604C-8A4A-D9BF-CA86-8C456801819F}"/>
              </a:ext>
            </a:extLst>
          </p:cNvPr>
          <p:cNvSpPr txBox="1"/>
          <p:nvPr/>
        </p:nvSpPr>
        <p:spPr>
          <a:xfrm>
            <a:off x="2621756" y="3586163"/>
            <a:ext cx="742950" cy="1169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760" b="1">
                <a:solidFill>
                  <a:srgbClr val="10A37F"/>
                </a:solidFill>
                <a:latin typeface="Poppins" panose="00000500000000000000" pitchFamily="2" charset="0"/>
              </a:rPr>
              <a:t>API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559E2F1-2C45-FC1C-E533-44B8A8C18808}"/>
              </a:ext>
            </a:extLst>
          </p:cNvPr>
          <p:cNvSpPr txBox="1"/>
          <p:nvPr/>
        </p:nvSpPr>
        <p:spPr>
          <a:xfrm>
            <a:off x="2378869" y="3843338"/>
            <a:ext cx="942975" cy="2339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760">
                <a:solidFill>
                  <a:srgbClr val="243041"/>
                </a:solidFill>
                <a:latin typeface="Lato" panose="020F0502020204030203" pitchFamily="34" charset="0"/>
              </a:rPr>
              <a:t>Routes, auth, validation</a:t>
            </a:r>
          </a:p>
        </p:txBody>
      </p:sp>
      <p:sp>
        <p:nvSpPr>
          <p:cNvPr id="43" name="Arrow: Right 42">
            <a:extLst>
              <a:ext uri="{FF2B5EF4-FFF2-40B4-BE49-F238E27FC236}">
                <a16:creationId xmlns:a16="http://schemas.microsoft.com/office/drawing/2014/main" id="{7FB6FEBE-0BDE-1EED-DF87-9FEA6B24E28A}"/>
              </a:ext>
            </a:extLst>
          </p:cNvPr>
          <p:cNvSpPr/>
          <p:nvPr/>
        </p:nvSpPr>
        <p:spPr>
          <a:xfrm>
            <a:off x="3493294" y="3707606"/>
            <a:ext cx="300037" cy="114300"/>
          </a:xfrm>
          <a:prstGeom prst="rightArrow">
            <a:avLst/>
          </a:prstGeom>
          <a:solidFill>
            <a:srgbClr val="E5E7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B005AE32-DE9D-C0DA-7B78-6A23B1735E67}"/>
              </a:ext>
            </a:extLst>
          </p:cNvPr>
          <p:cNvSpPr/>
          <p:nvPr/>
        </p:nvSpPr>
        <p:spPr>
          <a:xfrm>
            <a:off x="3929063" y="3471863"/>
            <a:ext cx="1200150" cy="585787"/>
          </a:xfrm>
          <a:prstGeom prst="roundRect">
            <a:avLst/>
          </a:prstGeom>
          <a:solidFill>
            <a:srgbClr val="FFFFFF"/>
          </a:solidFill>
          <a:ln w="7144">
            <a:solidFill>
              <a:srgbClr val="D7E0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F5F12C6C-0D7A-3123-E9F0-393E90D00D9C}"/>
              </a:ext>
            </a:extLst>
          </p:cNvPr>
          <p:cNvSpPr/>
          <p:nvPr/>
        </p:nvSpPr>
        <p:spPr>
          <a:xfrm>
            <a:off x="4029075" y="3600450"/>
            <a:ext cx="200025" cy="200025"/>
          </a:xfrm>
          <a:prstGeom prst="ellipse">
            <a:avLst/>
          </a:prstGeom>
          <a:solidFill>
            <a:srgbClr val="7C3AE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680E8F1-BBB2-1E78-9019-B5E5130D696E}"/>
              </a:ext>
            </a:extLst>
          </p:cNvPr>
          <p:cNvSpPr txBox="1"/>
          <p:nvPr/>
        </p:nvSpPr>
        <p:spPr>
          <a:xfrm>
            <a:off x="4300538" y="3586163"/>
            <a:ext cx="742950" cy="1169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760" b="1">
                <a:solidFill>
                  <a:srgbClr val="7C3AED"/>
                </a:solidFill>
                <a:latin typeface="Poppins" panose="00000500000000000000" pitchFamily="2" charset="0"/>
              </a:rPr>
              <a:t>Agents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B31B989-17B7-DA1E-A5C8-AD5405D05D0D}"/>
              </a:ext>
            </a:extLst>
          </p:cNvPr>
          <p:cNvSpPr txBox="1"/>
          <p:nvPr/>
        </p:nvSpPr>
        <p:spPr>
          <a:xfrm>
            <a:off x="4057650" y="3843338"/>
            <a:ext cx="942975" cy="1169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760">
                <a:solidFill>
                  <a:srgbClr val="243041"/>
                </a:solidFill>
                <a:latin typeface="Lato" panose="020F0502020204030203" pitchFamily="34" charset="0"/>
              </a:rPr>
              <a:t>Planner and tools</a:t>
            </a:r>
          </a:p>
        </p:txBody>
      </p:sp>
      <p:sp>
        <p:nvSpPr>
          <p:cNvPr id="48" name="Arrow: Right 47">
            <a:extLst>
              <a:ext uri="{FF2B5EF4-FFF2-40B4-BE49-F238E27FC236}">
                <a16:creationId xmlns:a16="http://schemas.microsoft.com/office/drawing/2014/main" id="{758DAF00-1465-1305-1F33-AE57BB101B1C}"/>
              </a:ext>
            </a:extLst>
          </p:cNvPr>
          <p:cNvSpPr/>
          <p:nvPr/>
        </p:nvSpPr>
        <p:spPr>
          <a:xfrm>
            <a:off x="5172075" y="3707606"/>
            <a:ext cx="300038" cy="114300"/>
          </a:xfrm>
          <a:prstGeom prst="rightArrow">
            <a:avLst/>
          </a:prstGeom>
          <a:solidFill>
            <a:srgbClr val="E5E7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311B8663-E7CB-BFBE-BCD6-FE6A7EE460BC}"/>
              </a:ext>
            </a:extLst>
          </p:cNvPr>
          <p:cNvSpPr/>
          <p:nvPr/>
        </p:nvSpPr>
        <p:spPr>
          <a:xfrm>
            <a:off x="5607844" y="3471863"/>
            <a:ext cx="1200150" cy="585787"/>
          </a:xfrm>
          <a:prstGeom prst="roundRect">
            <a:avLst/>
          </a:prstGeom>
          <a:solidFill>
            <a:srgbClr val="FFFFFF"/>
          </a:solidFill>
          <a:ln w="7144">
            <a:solidFill>
              <a:srgbClr val="D7E0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2F488834-8262-97A9-D87B-F0E415545B7B}"/>
              </a:ext>
            </a:extLst>
          </p:cNvPr>
          <p:cNvSpPr/>
          <p:nvPr/>
        </p:nvSpPr>
        <p:spPr>
          <a:xfrm>
            <a:off x="5707856" y="3600450"/>
            <a:ext cx="200025" cy="200025"/>
          </a:xfrm>
          <a:prstGeom prst="ellipse">
            <a:avLst/>
          </a:prstGeom>
          <a:solidFill>
            <a:srgbClr val="D69E2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347C8AE-821B-D34F-731A-4AFBE4FFBBF3}"/>
              </a:ext>
            </a:extLst>
          </p:cNvPr>
          <p:cNvSpPr txBox="1"/>
          <p:nvPr/>
        </p:nvSpPr>
        <p:spPr>
          <a:xfrm>
            <a:off x="5979319" y="3586163"/>
            <a:ext cx="742950" cy="1169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760" b="1">
                <a:solidFill>
                  <a:srgbClr val="D69E2E"/>
                </a:solidFill>
                <a:latin typeface="Poppins" panose="00000500000000000000" pitchFamily="2" charset="0"/>
              </a:rPr>
              <a:t>Data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9E17989-AEA4-4FE3-D017-BE23F8F6559B}"/>
              </a:ext>
            </a:extLst>
          </p:cNvPr>
          <p:cNvSpPr txBox="1"/>
          <p:nvPr/>
        </p:nvSpPr>
        <p:spPr>
          <a:xfrm>
            <a:off x="5736431" y="3843338"/>
            <a:ext cx="942975" cy="1169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760">
                <a:solidFill>
                  <a:srgbClr val="243041"/>
                </a:solidFill>
                <a:latin typeface="Lato" panose="020F0502020204030203" pitchFamily="34" charset="0"/>
              </a:rPr>
              <a:t>Postgres, Blob, Redis</a:t>
            </a:r>
          </a:p>
        </p:txBody>
      </p:sp>
      <p:sp>
        <p:nvSpPr>
          <p:cNvPr id="53" name="Arrow: Right 52">
            <a:extLst>
              <a:ext uri="{FF2B5EF4-FFF2-40B4-BE49-F238E27FC236}">
                <a16:creationId xmlns:a16="http://schemas.microsoft.com/office/drawing/2014/main" id="{C237E1D4-2AD2-CBE0-EBC0-7F587443D236}"/>
              </a:ext>
            </a:extLst>
          </p:cNvPr>
          <p:cNvSpPr/>
          <p:nvPr/>
        </p:nvSpPr>
        <p:spPr>
          <a:xfrm>
            <a:off x="6850856" y="3707606"/>
            <a:ext cx="300038" cy="114300"/>
          </a:xfrm>
          <a:prstGeom prst="rightArrow">
            <a:avLst/>
          </a:prstGeom>
          <a:solidFill>
            <a:srgbClr val="E5E7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0A4307B3-DDF9-D30E-CC4B-A767658AAC97}"/>
              </a:ext>
            </a:extLst>
          </p:cNvPr>
          <p:cNvSpPr/>
          <p:nvPr/>
        </p:nvSpPr>
        <p:spPr>
          <a:xfrm>
            <a:off x="7286625" y="3471863"/>
            <a:ext cx="1200150" cy="585787"/>
          </a:xfrm>
          <a:prstGeom prst="roundRect">
            <a:avLst/>
          </a:prstGeom>
          <a:solidFill>
            <a:srgbClr val="FFFFFF"/>
          </a:solidFill>
          <a:ln w="7144">
            <a:solidFill>
              <a:srgbClr val="D7E0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CC8CA3ED-5935-7879-4533-27FC035954B3}"/>
              </a:ext>
            </a:extLst>
          </p:cNvPr>
          <p:cNvSpPr/>
          <p:nvPr/>
        </p:nvSpPr>
        <p:spPr>
          <a:xfrm>
            <a:off x="7386638" y="3600450"/>
            <a:ext cx="200025" cy="200025"/>
          </a:xfrm>
          <a:prstGeom prst="ellipse">
            <a:avLst/>
          </a:prstGeom>
          <a:solidFill>
            <a:srgbClr val="E76F5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A28042F-5523-98A6-1E98-384D59C84FA8}"/>
              </a:ext>
            </a:extLst>
          </p:cNvPr>
          <p:cNvSpPr txBox="1"/>
          <p:nvPr/>
        </p:nvSpPr>
        <p:spPr>
          <a:xfrm>
            <a:off x="7658100" y="3586163"/>
            <a:ext cx="742950" cy="1169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760" b="1">
                <a:solidFill>
                  <a:srgbClr val="E76F51"/>
                </a:solidFill>
                <a:latin typeface="Poppins" panose="00000500000000000000" pitchFamily="2" charset="0"/>
              </a:rPr>
              <a:t>Ops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513D67A-D884-48BA-9825-C82EA8712236}"/>
              </a:ext>
            </a:extLst>
          </p:cNvPr>
          <p:cNvSpPr txBox="1"/>
          <p:nvPr/>
        </p:nvSpPr>
        <p:spPr>
          <a:xfrm>
            <a:off x="7415213" y="3843338"/>
            <a:ext cx="942975" cy="1169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760">
                <a:solidFill>
                  <a:srgbClr val="243041"/>
                </a:solidFill>
                <a:latin typeface="Lato" panose="020F0502020204030203" pitchFamily="34" charset="0"/>
              </a:rPr>
              <a:t>Jobs, audit, telemetry</a:t>
            </a:r>
          </a:p>
        </p:txBody>
      </p:sp>
    </p:spTree>
    <p:extLst>
      <p:ext uri="{BB962C8B-B14F-4D97-AF65-F5344CB8AC3E}">
        <p14:creationId xmlns:p14="http://schemas.microsoft.com/office/powerpoint/2010/main" val="20762133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4CFC98E0-85B2-BE8B-8ED6-8CA187CBBA05}"/>
              </a:ext>
            </a:extLst>
          </p:cNvPr>
          <p:cNvSpPr/>
          <p:nvPr/>
        </p:nvSpPr>
        <p:spPr>
          <a:xfrm>
            <a:off x="-714375" y="-857250"/>
            <a:ext cx="2286000" cy="2286000"/>
          </a:xfrm>
          <a:prstGeom prst="ellipse">
            <a:avLst/>
          </a:prstGeom>
          <a:solidFill>
            <a:srgbClr val="E9F7F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B8E2D96C-646D-B4CD-1AE0-2B5B58463914}"/>
              </a:ext>
            </a:extLst>
          </p:cNvPr>
          <p:cNvSpPr/>
          <p:nvPr/>
        </p:nvSpPr>
        <p:spPr>
          <a:xfrm>
            <a:off x="7786688" y="3571875"/>
            <a:ext cx="1857375" cy="1857375"/>
          </a:xfrm>
          <a:prstGeom prst="ellipse">
            <a:avLst/>
          </a:prstGeom>
          <a:solidFill>
            <a:srgbClr val="F7EED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D98679A-DD43-9875-B6DB-2233E094C155}"/>
              </a:ext>
            </a:extLst>
          </p:cNvPr>
          <p:cNvSpPr/>
          <p:nvPr/>
        </p:nvSpPr>
        <p:spPr>
          <a:xfrm>
            <a:off x="500063" y="200025"/>
            <a:ext cx="457200" cy="200025"/>
          </a:xfrm>
          <a:prstGeom prst="roundRect">
            <a:avLst/>
          </a:prstGeom>
          <a:noFill/>
          <a:ln w="7144" cap="flat" cmpd="sng" algn="ctr">
            <a:solidFill>
              <a:srgbClr val="E5E7EB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3C6521-C18B-84A7-D12F-B8B815578A93}"/>
              </a:ext>
            </a:extLst>
          </p:cNvPr>
          <p:cNvSpPr txBox="1"/>
          <p:nvPr/>
        </p:nvSpPr>
        <p:spPr>
          <a:xfrm>
            <a:off x="564356" y="250031"/>
            <a:ext cx="328613" cy="1169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IN" sz="760" b="1">
                <a:solidFill>
                  <a:srgbClr val="64748B"/>
                </a:solidFill>
                <a:latin typeface="Aptos Mono" panose="020B0009020202020204" pitchFamily="49" charset="0"/>
              </a:rPr>
              <a:t>HOME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50BC2B6-8EB7-4111-3C8E-5BDA24E2963F}"/>
              </a:ext>
            </a:extLst>
          </p:cNvPr>
          <p:cNvSpPr/>
          <p:nvPr/>
        </p:nvSpPr>
        <p:spPr>
          <a:xfrm>
            <a:off x="1028700" y="200025"/>
            <a:ext cx="907256" cy="200025"/>
          </a:xfrm>
          <a:prstGeom prst="roundRect">
            <a:avLst/>
          </a:prstGeom>
          <a:noFill/>
          <a:ln w="7144" cap="flat" cmpd="sng" algn="ctr">
            <a:solidFill>
              <a:srgbClr val="E5E7EB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D24FD11-F9FC-B203-90FC-9FD1697EE7ED}"/>
              </a:ext>
            </a:extLst>
          </p:cNvPr>
          <p:cNvSpPr txBox="1"/>
          <p:nvPr/>
        </p:nvSpPr>
        <p:spPr>
          <a:xfrm>
            <a:off x="1092994" y="250031"/>
            <a:ext cx="778669" cy="1169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IN" sz="760" b="1">
                <a:solidFill>
                  <a:srgbClr val="64748B"/>
                </a:solidFill>
                <a:latin typeface="Aptos Mono" panose="020B0009020202020204" pitchFamily="49" charset="0"/>
              </a:rPr>
              <a:t>FOUNDATIONS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F25730A-DC3F-A0BF-F5F9-D121388D5BAC}"/>
              </a:ext>
            </a:extLst>
          </p:cNvPr>
          <p:cNvSpPr/>
          <p:nvPr/>
        </p:nvSpPr>
        <p:spPr>
          <a:xfrm>
            <a:off x="2007394" y="200025"/>
            <a:ext cx="521494" cy="200025"/>
          </a:xfrm>
          <a:prstGeom prst="roundRect">
            <a:avLst/>
          </a:prstGeom>
          <a:noFill/>
          <a:ln w="7144" cap="flat" cmpd="sng" algn="ctr">
            <a:solidFill>
              <a:srgbClr val="E5E7EB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6A9BFAC-D251-134B-1F40-61AB55ED362F}"/>
              </a:ext>
            </a:extLst>
          </p:cNvPr>
          <p:cNvSpPr txBox="1"/>
          <p:nvPr/>
        </p:nvSpPr>
        <p:spPr>
          <a:xfrm>
            <a:off x="2071688" y="250031"/>
            <a:ext cx="392906" cy="1169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IN" sz="760" b="1">
                <a:solidFill>
                  <a:srgbClr val="64748B"/>
                </a:solidFill>
                <a:latin typeface="Aptos Mono" panose="020B0009020202020204" pitchFamily="49" charset="0"/>
              </a:rPr>
              <a:t>DEMOS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B99FF30-AF0A-0E1C-FFA7-8813E0A01A2A}"/>
              </a:ext>
            </a:extLst>
          </p:cNvPr>
          <p:cNvSpPr/>
          <p:nvPr/>
        </p:nvSpPr>
        <p:spPr>
          <a:xfrm>
            <a:off x="2600325" y="200025"/>
            <a:ext cx="521494" cy="200025"/>
          </a:xfrm>
          <a:prstGeom prst="roundRect">
            <a:avLst/>
          </a:prstGeom>
          <a:noFill/>
          <a:ln w="7144" cap="flat" cmpd="sng" algn="ctr">
            <a:solidFill>
              <a:srgbClr val="E5E7EB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BD4B1C7-C7A0-6E00-C4FD-23CB257B56BB}"/>
              </a:ext>
            </a:extLst>
          </p:cNvPr>
          <p:cNvSpPr txBox="1"/>
          <p:nvPr/>
        </p:nvSpPr>
        <p:spPr>
          <a:xfrm>
            <a:off x="2664619" y="250031"/>
            <a:ext cx="392906" cy="1169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IN" sz="760" b="1">
                <a:solidFill>
                  <a:srgbClr val="64748B"/>
                </a:solidFill>
                <a:latin typeface="Aptos Mono" panose="020B0009020202020204" pitchFamily="49" charset="0"/>
              </a:rPr>
              <a:t>STACK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20B416B-FEF4-1774-93A9-FAF61E86EA37}"/>
              </a:ext>
            </a:extLst>
          </p:cNvPr>
          <p:cNvSpPr/>
          <p:nvPr/>
        </p:nvSpPr>
        <p:spPr>
          <a:xfrm>
            <a:off x="3193256" y="200025"/>
            <a:ext cx="842963" cy="200025"/>
          </a:xfrm>
          <a:prstGeom prst="roundRect">
            <a:avLst/>
          </a:prstGeom>
          <a:noFill/>
          <a:ln w="7144" cap="flat" cmpd="sng" algn="ctr">
            <a:solidFill>
              <a:srgbClr val="E5E7EB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11548E6-1324-C048-9295-2E5CC25A3104}"/>
              </a:ext>
            </a:extLst>
          </p:cNvPr>
          <p:cNvSpPr txBox="1"/>
          <p:nvPr/>
        </p:nvSpPr>
        <p:spPr>
          <a:xfrm>
            <a:off x="3257550" y="250031"/>
            <a:ext cx="714375" cy="1169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IN" sz="760" b="1">
                <a:solidFill>
                  <a:srgbClr val="64748B"/>
                </a:solidFill>
                <a:latin typeface="Aptos Mono" panose="020B0009020202020204" pitchFamily="49" charset="0"/>
              </a:rPr>
              <a:t>GOVERNANCE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69A289D6-2B99-4B6E-C624-E8153E8246FF}"/>
              </a:ext>
            </a:extLst>
          </p:cNvPr>
          <p:cNvSpPr/>
          <p:nvPr/>
        </p:nvSpPr>
        <p:spPr>
          <a:xfrm>
            <a:off x="4107656" y="200025"/>
            <a:ext cx="650082" cy="200025"/>
          </a:xfrm>
          <a:prstGeom prst="roundRect">
            <a:avLst/>
          </a:prstGeom>
          <a:noFill/>
          <a:ln w="7144" cap="flat" cmpd="sng" algn="ctr">
            <a:solidFill>
              <a:srgbClr val="E5E7EB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E861AE4-3254-581A-BD99-5105400258F4}"/>
              </a:ext>
            </a:extLst>
          </p:cNvPr>
          <p:cNvSpPr txBox="1"/>
          <p:nvPr/>
        </p:nvSpPr>
        <p:spPr>
          <a:xfrm>
            <a:off x="4171950" y="250031"/>
            <a:ext cx="521494" cy="1169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IN" sz="760" b="1">
                <a:solidFill>
                  <a:srgbClr val="64748B"/>
                </a:solidFill>
                <a:latin typeface="Aptos Mono" panose="020B0009020202020204" pitchFamily="49" charset="0"/>
              </a:rPr>
              <a:t>ROADMAP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B6CA9CC9-0BAA-57DC-5070-78F8CDF06025}"/>
              </a:ext>
            </a:extLst>
          </p:cNvPr>
          <p:cNvSpPr/>
          <p:nvPr/>
        </p:nvSpPr>
        <p:spPr>
          <a:xfrm>
            <a:off x="4829175" y="200025"/>
            <a:ext cx="900113" cy="200025"/>
          </a:xfrm>
          <a:prstGeom prst="roundRect">
            <a:avLst/>
          </a:prstGeom>
          <a:solidFill>
            <a:srgbClr val="10A37F"/>
          </a:solidFill>
          <a:ln w="7144">
            <a:solidFill>
              <a:srgbClr val="10A37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B9D6C13-BE8A-96E3-4A52-12CD9E9875B3}"/>
              </a:ext>
            </a:extLst>
          </p:cNvPr>
          <p:cNvSpPr txBox="1"/>
          <p:nvPr/>
        </p:nvSpPr>
        <p:spPr>
          <a:xfrm>
            <a:off x="4893469" y="250031"/>
            <a:ext cx="771525" cy="1169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IN" sz="760" b="1">
                <a:solidFill>
                  <a:srgbClr val="FFFFFF"/>
                </a:solidFill>
                <a:latin typeface="Aptos Mono" panose="020B0009020202020204" pitchFamily="49" charset="0"/>
              </a:rPr>
              <a:t>PROJECT MAP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1C7020C-F219-47D3-B5EE-7657FD54B2C9}"/>
              </a:ext>
            </a:extLst>
          </p:cNvPr>
          <p:cNvSpPr/>
          <p:nvPr/>
        </p:nvSpPr>
        <p:spPr>
          <a:xfrm>
            <a:off x="500063" y="4557713"/>
            <a:ext cx="8143875" cy="12700"/>
          </a:xfrm>
          <a:prstGeom prst="rect">
            <a:avLst/>
          </a:prstGeom>
          <a:solidFill>
            <a:srgbClr val="E5E7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3D22E7F-1406-6008-811D-1C7BDFFE4254}"/>
              </a:ext>
            </a:extLst>
          </p:cNvPr>
          <p:cNvSpPr txBox="1"/>
          <p:nvPr/>
        </p:nvSpPr>
        <p:spPr>
          <a:xfrm>
            <a:off x="500063" y="4672013"/>
            <a:ext cx="3000375" cy="1169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760" b="1">
                <a:solidFill>
                  <a:srgbClr val="64748B"/>
                </a:solidFill>
                <a:latin typeface="Aptos Mono" panose="020B0009020202020204" pitchFamily="49" charset="0"/>
              </a:rPr>
              <a:t>PROJECT MAP  -  21 / 24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67CE1AE-4E3D-355B-A60D-106A0CEE2E74}"/>
              </a:ext>
            </a:extLst>
          </p:cNvPr>
          <p:cNvSpPr txBox="1"/>
          <p:nvPr/>
        </p:nvSpPr>
        <p:spPr>
          <a:xfrm>
            <a:off x="500063" y="585788"/>
            <a:ext cx="7429500" cy="3030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969" b="1">
                <a:solidFill>
                  <a:srgbClr val="111827"/>
                </a:solidFill>
                <a:latin typeface="Poppins" panose="00000500000000000000" pitchFamily="2" charset="0"/>
              </a:rPr>
              <a:t>Mastiff: Conversational Data Analyst Proof</a:t>
            </a:r>
            <a:endParaRPr lang="en-IN" sz="1969" b="1">
              <a:solidFill>
                <a:srgbClr val="111827"/>
              </a:solidFill>
              <a:latin typeface="Poppins" panose="00000500000000000000" pitchFamily="2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E27F305-B7F2-AC79-DB4C-E725214CFF79}"/>
              </a:ext>
            </a:extLst>
          </p:cNvPr>
          <p:cNvSpPr txBox="1"/>
          <p:nvPr/>
        </p:nvSpPr>
        <p:spPr>
          <a:xfrm>
            <a:off x="514350" y="1014413"/>
            <a:ext cx="74295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>
                <a:solidFill>
                  <a:srgbClr val="243041"/>
                </a:solidFill>
                <a:latin typeface="Lato" panose="020F0502020204030203" pitchFamily="34" charset="0"/>
              </a:rPr>
              <a:t>Maps to natural-language analytics, file ingestion, safe code execution, charts, exports, and enterprise data connectors.</a:t>
            </a:r>
            <a:endParaRPr lang="en-IN" sz="900">
              <a:solidFill>
                <a:srgbClr val="243041"/>
              </a:solidFill>
              <a:latin typeface="Lato" panose="020F0502020204030203" pitchFamily="34" charset="0"/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CA038024-4F2C-ACDB-FBFA-576915B3F88A}"/>
              </a:ext>
            </a:extLst>
          </p:cNvPr>
          <p:cNvSpPr/>
          <p:nvPr/>
        </p:nvSpPr>
        <p:spPr>
          <a:xfrm>
            <a:off x="528638" y="1643063"/>
            <a:ext cx="1185862" cy="785812"/>
          </a:xfrm>
          <a:prstGeom prst="roundRect">
            <a:avLst/>
          </a:prstGeom>
          <a:solidFill>
            <a:srgbClr val="FFFFFF"/>
          </a:solidFill>
          <a:ln w="7144">
            <a:solidFill>
              <a:srgbClr val="D7E0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6F9A9629-1A97-AA75-DBA9-896BB3AB2B71}"/>
              </a:ext>
            </a:extLst>
          </p:cNvPr>
          <p:cNvSpPr/>
          <p:nvPr/>
        </p:nvSpPr>
        <p:spPr>
          <a:xfrm>
            <a:off x="628650" y="1771650"/>
            <a:ext cx="200025" cy="200025"/>
          </a:xfrm>
          <a:prstGeom prst="ellipse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DEE6A69-DBB4-CE58-82CF-C75D812E1A58}"/>
              </a:ext>
            </a:extLst>
          </p:cNvPr>
          <p:cNvSpPr txBox="1"/>
          <p:nvPr/>
        </p:nvSpPr>
        <p:spPr>
          <a:xfrm>
            <a:off x="900113" y="1757363"/>
            <a:ext cx="728663" cy="1169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760" b="1">
                <a:solidFill>
                  <a:srgbClr val="2563EB"/>
                </a:solidFill>
                <a:latin typeface="Poppins" panose="00000500000000000000" pitchFamily="2" charset="0"/>
              </a:rPr>
              <a:t>Upload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9410DBF-9E43-884A-F209-B65C2478FE61}"/>
              </a:ext>
            </a:extLst>
          </p:cNvPr>
          <p:cNvSpPr txBox="1"/>
          <p:nvPr/>
        </p:nvSpPr>
        <p:spPr>
          <a:xfrm>
            <a:off x="657225" y="2014538"/>
            <a:ext cx="928688" cy="2339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760">
                <a:solidFill>
                  <a:srgbClr val="243041"/>
                </a:solidFill>
                <a:latin typeface="Lato" panose="020F0502020204030203" pitchFamily="34" charset="0"/>
              </a:rPr>
              <a:t>CSV, Excel, JSON, Parquet</a:t>
            </a:r>
          </a:p>
        </p:txBody>
      </p:sp>
      <p:sp>
        <p:nvSpPr>
          <p:cNvPr id="26" name="Arrow: Right 25">
            <a:extLst>
              <a:ext uri="{FF2B5EF4-FFF2-40B4-BE49-F238E27FC236}">
                <a16:creationId xmlns:a16="http://schemas.microsoft.com/office/drawing/2014/main" id="{4733D037-2FDB-8BEB-2B13-0F81F2F18D8A}"/>
              </a:ext>
            </a:extLst>
          </p:cNvPr>
          <p:cNvSpPr/>
          <p:nvPr/>
        </p:nvSpPr>
        <p:spPr>
          <a:xfrm>
            <a:off x="1771650" y="1978819"/>
            <a:ext cx="300038" cy="114300"/>
          </a:xfrm>
          <a:prstGeom prst="rightArrow">
            <a:avLst/>
          </a:prstGeom>
          <a:solidFill>
            <a:srgbClr val="E5E7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DBD41997-7DA6-D14C-5EB3-D7617305AD78}"/>
              </a:ext>
            </a:extLst>
          </p:cNvPr>
          <p:cNvSpPr/>
          <p:nvPr/>
        </p:nvSpPr>
        <p:spPr>
          <a:xfrm>
            <a:off x="2214563" y="1643063"/>
            <a:ext cx="1185862" cy="785812"/>
          </a:xfrm>
          <a:prstGeom prst="roundRect">
            <a:avLst/>
          </a:prstGeom>
          <a:solidFill>
            <a:srgbClr val="FFFFFF"/>
          </a:solidFill>
          <a:ln w="7144">
            <a:solidFill>
              <a:srgbClr val="D7E0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59C4949B-E527-6F90-E06D-931AA0D497F3}"/>
              </a:ext>
            </a:extLst>
          </p:cNvPr>
          <p:cNvSpPr/>
          <p:nvPr/>
        </p:nvSpPr>
        <p:spPr>
          <a:xfrm>
            <a:off x="2314575" y="1771650"/>
            <a:ext cx="200025" cy="200025"/>
          </a:xfrm>
          <a:prstGeom prst="ellipse">
            <a:avLst/>
          </a:prstGeom>
          <a:solidFill>
            <a:srgbClr val="10A37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7618836-22A9-9D5F-A8D9-C5D541C09EBE}"/>
              </a:ext>
            </a:extLst>
          </p:cNvPr>
          <p:cNvSpPr txBox="1"/>
          <p:nvPr/>
        </p:nvSpPr>
        <p:spPr>
          <a:xfrm>
            <a:off x="2586038" y="1757363"/>
            <a:ext cx="728663" cy="1169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760" b="1">
                <a:solidFill>
                  <a:srgbClr val="10A37F"/>
                </a:solidFill>
                <a:latin typeface="Poppins" panose="00000500000000000000" pitchFamily="2" charset="0"/>
              </a:rPr>
              <a:t>Profile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EB69CC6-65F7-AD63-965B-39EB174D8DB8}"/>
              </a:ext>
            </a:extLst>
          </p:cNvPr>
          <p:cNvSpPr txBox="1"/>
          <p:nvPr/>
        </p:nvSpPr>
        <p:spPr>
          <a:xfrm>
            <a:off x="2343150" y="2014538"/>
            <a:ext cx="928688" cy="2339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760">
                <a:solidFill>
                  <a:srgbClr val="243041"/>
                </a:solidFill>
                <a:latin typeface="Lato" panose="020F0502020204030203" pitchFamily="34" charset="0"/>
              </a:rPr>
              <a:t>Schema, sample rows, metadata</a:t>
            </a:r>
          </a:p>
        </p:txBody>
      </p:sp>
      <p:sp>
        <p:nvSpPr>
          <p:cNvPr id="31" name="Arrow: Right 30">
            <a:extLst>
              <a:ext uri="{FF2B5EF4-FFF2-40B4-BE49-F238E27FC236}">
                <a16:creationId xmlns:a16="http://schemas.microsoft.com/office/drawing/2014/main" id="{08A14DC8-879A-4FD3-824F-1B0A4F62F303}"/>
              </a:ext>
            </a:extLst>
          </p:cNvPr>
          <p:cNvSpPr/>
          <p:nvPr/>
        </p:nvSpPr>
        <p:spPr>
          <a:xfrm>
            <a:off x="3457575" y="1978819"/>
            <a:ext cx="300038" cy="114300"/>
          </a:xfrm>
          <a:prstGeom prst="rightArrow">
            <a:avLst/>
          </a:prstGeom>
          <a:solidFill>
            <a:srgbClr val="E5E7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0BF1F513-D4A9-3DB0-5AB8-E7917641C63D}"/>
              </a:ext>
            </a:extLst>
          </p:cNvPr>
          <p:cNvSpPr/>
          <p:nvPr/>
        </p:nvSpPr>
        <p:spPr>
          <a:xfrm>
            <a:off x="3900488" y="1643063"/>
            <a:ext cx="1185862" cy="785812"/>
          </a:xfrm>
          <a:prstGeom prst="roundRect">
            <a:avLst/>
          </a:prstGeom>
          <a:solidFill>
            <a:srgbClr val="FFFFFF"/>
          </a:solidFill>
          <a:ln w="7144">
            <a:solidFill>
              <a:srgbClr val="D7E0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0D6282D7-CD70-AF29-8276-2DC037A9E0D9}"/>
              </a:ext>
            </a:extLst>
          </p:cNvPr>
          <p:cNvSpPr/>
          <p:nvPr/>
        </p:nvSpPr>
        <p:spPr>
          <a:xfrm>
            <a:off x="4000500" y="1771650"/>
            <a:ext cx="200025" cy="200025"/>
          </a:xfrm>
          <a:prstGeom prst="ellipse">
            <a:avLst/>
          </a:prstGeom>
          <a:solidFill>
            <a:srgbClr val="7C3AE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AFAA154-8AD3-28F2-66F2-F6C37B48AD9E}"/>
              </a:ext>
            </a:extLst>
          </p:cNvPr>
          <p:cNvSpPr txBox="1"/>
          <p:nvPr/>
        </p:nvSpPr>
        <p:spPr>
          <a:xfrm>
            <a:off x="4271963" y="1757363"/>
            <a:ext cx="728663" cy="1169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760" b="1">
                <a:solidFill>
                  <a:srgbClr val="7C3AED"/>
                </a:solidFill>
                <a:latin typeface="Poppins" panose="00000500000000000000" pitchFamily="2" charset="0"/>
              </a:rPr>
              <a:t>Plan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62C1096-3181-C6F9-A3C7-554071F9EB35}"/>
              </a:ext>
            </a:extLst>
          </p:cNvPr>
          <p:cNvSpPr txBox="1"/>
          <p:nvPr/>
        </p:nvSpPr>
        <p:spPr>
          <a:xfrm>
            <a:off x="4029075" y="2014538"/>
            <a:ext cx="928688" cy="2339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760">
                <a:solidFill>
                  <a:srgbClr val="243041"/>
                </a:solidFill>
                <a:latin typeface="Lato" panose="020F0502020204030203" pitchFamily="34" charset="0"/>
              </a:rPr>
              <a:t>LLM creates analysis plan and Python</a:t>
            </a:r>
            <a:endParaRPr lang="en-IN" sz="760">
              <a:solidFill>
                <a:srgbClr val="243041"/>
              </a:solidFill>
              <a:latin typeface="Lato" panose="020F0502020204030203" pitchFamily="34" charset="0"/>
            </a:endParaRPr>
          </a:p>
        </p:txBody>
      </p:sp>
      <p:sp>
        <p:nvSpPr>
          <p:cNvPr id="36" name="Arrow: Right 35">
            <a:extLst>
              <a:ext uri="{FF2B5EF4-FFF2-40B4-BE49-F238E27FC236}">
                <a16:creationId xmlns:a16="http://schemas.microsoft.com/office/drawing/2014/main" id="{0EAAC990-BB2A-97A6-FABF-5ABAB901B63E}"/>
              </a:ext>
            </a:extLst>
          </p:cNvPr>
          <p:cNvSpPr/>
          <p:nvPr/>
        </p:nvSpPr>
        <p:spPr>
          <a:xfrm>
            <a:off x="5143500" y="1978819"/>
            <a:ext cx="300038" cy="114300"/>
          </a:xfrm>
          <a:prstGeom prst="rightArrow">
            <a:avLst/>
          </a:prstGeom>
          <a:solidFill>
            <a:srgbClr val="E5E7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D81B1563-66F3-98A5-F559-6CE90D3D02E2}"/>
              </a:ext>
            </a:extLst>
          </p:cNvPr>
          <p:cNvSpPr/>
          <p:nvPr/>
        </p:nvSpPr>
        <p:spPr>
          <a:xfrm>
            <a:off x="5586413" y="1643063"/>
            <a:ext cx="1185862" cy="785812"/>
          </a:xfrm>
          <a:prstGeom prst="roundRect">
            <a:avLst/>
          </a:prstGeom>
          <a:solidFill>
            <a:srgbClr val="FFFFFF"/>
          </a:solidFill>
          <a:ln w="7144">
            <a:solidFill>
              <a:srgbClr val="D7E0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4D010274-0144-8CCE-D79D-BDAF192EACDB}"/>
              </a:ext>
            </a:extLst>
          </p:cNvPr>
          <p:cNvSpPr/>
          <p:nvPr/>
        </p:nvSpPr>
        <p:spPr>
          <a:xfrm>
            <a:off x="5686425" y="1771650"/>
            <a:ext cx="200025" cy="200025"/>
          </a:xfrm>
          <a:prstGeom prst="ellipse">
            <a:avLst/>
          </a:prstGeom>
          <a:solidFill>
            <a:srgbClr val="D69E2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A000210-00C3-93FE-AC4D-23891BFCD082}"/>
              </a:ext>
            </a:extLst>
          </p:cNvPr>
          <p:cNvSpPr txBox="1"/>
          <p:nvPr/>
        </p:nvSpPr>
        <p:spPr>
          <a:xfrm>
            <a:off x="5957888" y="1757363"/>
            <a:ext cx="728663" cy="1169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760" b="1">
                <a:solidFill>
                  <a:srgbClr val="D69E2E"/>
                </a:solidFill>
                <a:latin typeface="Poppins" panose="00000500000000000000" pitchFamily="2" charset="0"/>
              </a:rPr>
              <a:t>Execute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DBED9F3-F114-F5B8-BA55-B840182BB5FB}"/>
              </a:ext>
            </a:extLst>
          </p:cNvPr>
          <p:cNvSpPr txBox="1"/>
          <p:nvPr/>
        </p:nvSpPr>
        <p:spPr>
          <a:xfrm>
            <a:off x="5715000" y="2014538"/>
            <a:ext cx="928688" cy="2339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760">
                <a:solidFill>
                  <a:srgbClr val="243041"/>
                </a:solidFill>
                <a:latin typeface="Lato" panose="020F0502020204030203" pitchFamily="34" charset="0"/>
              </a:rPr>
              <a:t>Sandboxed pandas, numpy, matplotlib</a:t>
            </a:r>
          </a:p>
        </p:txBody>
      </p:sp>
      <p:sp>
        <p:nvSpPr>
          <p:cNvPr id="41" name="Arrow: Right 40">
            <a:extLst>
              <a:ext uri="{FF2B5EF4-FFF2-40B4-BE49-F238E27FC236}">
                <a16:creationId xmlns:a16="http://schemas.microsoft.com/office/drawing/2014/main" id="{2FAE2081-5CE5-EC6C-94DB-4F38B4DE16D5}"/>
              </a:ext>
            </a:extLst>
          </p:cNvPr>
          <p:cNvSpPr/>
          <p:nvPr/>
        </p:nvSpPr>
        <p:spPr>
          <a:xfrm>
            <a:off x="6829425" y="1978819"/>
            <a:ext cx="300038" cy="114300"/>
          </a:xfrm>
          <a:prstGeom prst="rightArrow">
            <a:avLst/>
          </a:prstGeom>
          <a:solidFill>
            <a:srgbClr val="E5E7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6A335402-0B8F-3300-42E0-8C5FA7AD7615}"/>
              </a:ext>
            </a:extLst>
          </p:cNvPr>
          <p:cNvSpPr/>
          <p:nvPr/>
        </p:nvSpPr>
        <p:spPr>
          <a:xfrm>
            <a:off x="7272338" y="1643063"/>
            <a:ext cx="1185862" cy="785812"/>
          </a:xfrm>
          <a:prstGeom prst="roundRect">
            <a:avLst/>
          </a:prstGeom>
          <a:solidFill>
            <a:srgbClr val="FFFFFF"/>
          </a:solidFill>
          <a:ln w="7144">
            <a:solidFill>
              <a:srgbClr val="D7E0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9FA47DC1-DB32-5F39-E65B-DF20CA69E71C}"/>
              </a:ext>
            </a:extLst>
          </p:cNvPr>
          <p:cNvSpPr/>
          <p:nvPr/>
        </p:nvSpPr>
        <p:spPr>
          <a:xfrm>
            <a:off x="7372350" y="1771650"/>
            <a:ext cx="200025" cy="200025"/>
          </a:xfrm>
          <a:prstGeom prst="ellipse">
            <a:avLst/>
          </a:prstGeom>
          <a:solidFill>
            <a:srgbClr val="22A06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12D8826-269C-56BC-54A7-F5D3BF9BED0C}"/>
              </a:ext>
            </a:extLst>
          </p:cNvPr>
          <p:cNvSpPr txBox="1"/>
          <p:nvPr/>
        </p:nvSpPr>
        <p:spPr>
          <a:xfrm>
            <a:off x="7643813" y="1757363"/>
            <a:ext cx="728663" cy="1169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760" b="1">
                <a:solidFill>
                  <a:srgbClr val="22A06B"/>
                </a:solidFill>
                <a:latin typeface="Poppins" panose="00000500000000000000" pitchFamily="2" charset="0"/>
              </a:rPr>
              <a:t>Explain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7ED987D-CEBE-C643-CE3F-8D37DCDE348A}"/>
              </a:ext>
            </a:extLst>
          </p:cNvPr>
          <p:cNvSpPr txBox="1"/>
          <p:nvPr/>
        </p:nvSpPr>
        <p:spPr>
          <a:xfrm>
            <a:off x="7400925" y="2014538"/>
            <a:ext cx="928688" cy="2339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760">
                <a:solidFill>
                  <a:srgbClr val="243041"/>
                </a:solidFill>
                <a:latin typeface="Lato" panose="020F0502020204030203" pitchFamily="34" charset="0"/>
              </a:rPr>
              <a:t>Charts, narrative insight, export</a:t>
            </a: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5E80F3B9-42CC-8A0F-819A-59F686C8A3A7}"/>
              </a:ext>
            </a:extLst>
          </p:cNvPr>
          <p:cNvSpPr/>
          <p:nvPr/>
        </p:nvSpPr>
        <p:spPr>
          <a:xfrm>
            <a:off x="642938" y="2843213"/>
            <a:ext cx="2357437" cy="1028700"/>
          </a:xfrm>
          <a:prstGeom prst="roundRect">
            <a:avLst/>
          </a:prstGeom>
          <a:solidFill>
            <a:srgbClr val="FFFFFF"/>
          </a:solidFill>
          <a:ln w="7144">
            <a:solidFill>
              <a:srgbClr val="D7E0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83D29E85-2FAA-88C5-FBA7-491DBBBEF56F}"/>
              </a:ext>
            </a:extLst>
          </p:cNvPr>
          <p:cNvSpPr/>
          <p:nvPr/>
        </p:nvSpPr>
        <p:spPr>
          <a:xfrm>
            <a:off x="742950" y="2943225"/>
            <a:ext cx="1443038" cy="200025"/>
          </a:xfrm>
          <a:prstGeom prst="roundRect">
            <a:avLst/>
          </a:prstGeom>
          <a:solidFill>
            <a:srgbClr val="10A37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0EDF066-7857-64C4-3941-317EFD00E025}"/>
              </a:ext>
            </a:extLst>
          </p:cNvPr>
          <p:cNvSpPr txBox="1"/>
          <p:nvPr/>
        </p:nvSpPr>
        <p:spPr>
          <a:xfrm>
            <a:off x="814388" y="2978944"/>
            <a:ext cx="1300163" cy="1169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IN" sz="760" b="1">
                <a:solidFill>
                  <a:srgbClr val="FFFFFF"/>
                </a:solidFill>
                <a:latin typeface="Aptos Mono" panose="020B0009020202020204" pitchFamily="49" charset="0"/>
              </a:rPr>
              <a:t>API and app surfaces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369FFCB-BC0E-5DFB-7DFD-CE6C91F26421}"/>
              </a:ext>
            </a:extLst>
          </p:cNvPr>
          <p:cNvSpPr txBox="1"/>
          <p:nvPr/>
        </p:nvSpPr>
        <p:spPr>
          <a:xfrm>
            <a:off x="771525" y="3257550"/>
            <a:ext cx="2100263" cy="3508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760">
                <a:solidFill>
                  <a:srgbClr val="243041"/>
                </a:solidFill>
                <a:latin typeface="Lato" panose="020F0502020204030203" pitchFamily="34" charset="0"/>
              </a:rPr>
              <a:t>- Upload, preview, metadata, delete endpoints</a:t>
            </a:r>
          </a:p>
          <a:p>
            <a:r>
              <a:rPr lang="en-US" sz="760">
                <a:solidFill>
                  <a:srgbClr val="243041"/>
                </a:solidFill>
                <a:latin typeface="Lato" panose="020F0502020204030203" pitchFamily="34" charset="0"/>
              </a:rPr>
              <a:t>- Chat message, history, regenerate endpoints</a:t>
            </a:r>
          </a:p>
          <a:p>
            <a:r>
              <a:rPr lang="en-US" sz="760">
                <a:solidFill>
                  <a:srgbClr val="243041"/>
                </a:solidFill>
                <a:latin typeface="Lato" panose="020F0502020204030203" pitchFamily="34" charset="0"/>
              </a:rPr>
              <a:t>- Visualization and report export endpoints</a:t>
            </a:r>
            <a:endParaRPr lang="en-IN" sz="760">
              <a:solidFill>
                <a:srgbClr val="243041"/>
              </a:solidFill>
              <a:latin typeface="Lato" panose="020F0502020204030203" pitchFamily="34" charset="0"/>
            </a:endParaRP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51F1FBC2-4B7C-C10F-B4EB-ED64DC109EA8}"/>
              </a:ext>
            </a:extLst>
          </p:cNvPr>
          <p:cNvSpPr/>
          <p:nvPr/>
        </p:nvSpPr>
        <p:spPr>
          <a:xfrm>
            <a:off x="3393281" y="2843213"/>
            <a:ext cx="2357438" cy="1028700"/>
          </a:xfrm>
          <a:prstGeom prst="roundRect">
            <a:avLst/>
          </a:prstGeom>
          <a:solidFill>
            <a:srgbClr val="FFFFFF"/>
          </a:solidFill>
          <a:ln w="7144">
            <a:solidFill>
              <a:srgbClr val="D7E0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4DBEDD9F-DCF9-7B94-B5F1-49A6D6EE55E6}"/>
              </a:ext>
            </a:extLst>
          </p:cNvPr>
          <p:cNvSpPr/>
          <p:nvPr/>
        </p:nvSpPr>
        <p:spPr>
          <a:xfrm>
            <a:off x="3493294" y="2943225"/>
            <a:ext cx="1557337" cy="200025"/>
          </a:xfrm>
          <a:prstGeom prst="roundRect">
            <a:avLst/>
          </a:prstGeom>
          <a:solidFill>
            <a:srgbClr val="E76F5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0552452-CB6F-10DB-E7B6-0C162ECF2DFA}"/>
              </a:ext>
            </a:extLst>
          </p:cNvPr>
          <p:cNvSpPr txBox="1"/>
          <p:nvPr/>
        </p:nvSpPr>
        <p:spPr>
          <a:xfrm>
            <a:off x="3564731" y="2978944"/>
            <a:ext cx="1414463" cy="1169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IN" sz="760" b="1">
                <a:solidFill>
                  <a:srgbClr val="FFFFFF"/>
                </a:solidFill>
                <a:latin typeface="Aptos Mono" panose="020B0009020202020204" pitchFamily="49" charset="0"/>
              </a:rPr>
              <a:t>Safety and reliability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97C9C8F-7D34-F16B-F92B-B93020016A52}"/>
              </a:ext>
            </a:extLst>
          </p:cNvPr>
          <p:cNvSpPr txBox="1"/>
          <p:nvPr/>
        </p:nvSpPr>
        <p:spPr>
          <a:xfrm>
            <a:off x="3521869" y="3257550"/>
            <a:ext cx="2100263" cy="3508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760">
                <a:solidFill>
                  <a:srgbClr val="243041"/>
                </a:solidFill>
                <a:latin typeface="Lato" panose="020F0502020204030203" pitchFamily="34" charset="0"/>
              </a:rPr>
              <a:t>- Never execute user code directly</a:t>
            </a:r>
          </a:p>
          <a:p>
            <a:r>
              <a:rPr lang="en-US" sz="760">
                <a:solidFill>
                  <a:srgbClr val="243041"/>
                </a:solidFill>
                <a:latin typeface="Lato" panose="020F0502020204030203" pitchFamily="34" charset="0"/>
              </a:rPr>
              <a:t>- Docker or restricted execution boundary</a:t>
            </a:r>
          </a:p>
          <a:p>
            <a:r>
              <a:rPr lang="en-US" sz="760">
                <a:solidFill>
                  <a:srgbClr val="243041"/>
                </a:solidFill>
                <a:latin typeface="Lato" panose="020F0502020204030203" pitchFamily="34" charset="0"/>
              </a:rPr>
              <a:t>- Timeouts, file limits, no internet, rate limits</a:t>
            </a:r>
            <a:endParaRPr lang="en-IN" sz="760">
              <a:solidFill>
                <a:srgbClr val="243041"/>
              </a:solidFill>
              <a:latin typeface="Lato" panose="020F0502020204030203" pitchFamily="34" charset="0"/>
            </a:endParaRPr>
          </a:p>
        </p:txBody>
      </p: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4DAB98F3-D106-0416-E00D-055749464556}"/>
              </a:ext>
            </a:extLst>
          </p:cNvPr>
          <p:cNvSpPr/>
          <p:nvPr/>
        </p:nvSpPr>
        <p:spPr>
          <a:xfrm>
            <a:off x="6143625" y="2843213"/>
            <a:ext cx="2357438" cy="1028700"/>
          </a:xfrm>
          <a:prstGeom prst="roundRect">
            <a:avLst/>
          </a:prstGeom>
          <a:solidFill>
            <a:srgbClr val="FFFFFF"/>
          </a:solidFill>
          <a:ln w="7144">
            <a:solidFill>
              <a:srgbClr val="D7E0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996E8CC4-7E61-0A08-1D59-9C65CC043344}"/>
              </a:ext>
            </a:extLst>
          </p:cNvPr>
          <p:cNvSpPr/>
          <p:nvPr/>
        </p:nvSpPr>
        <p:spPr>
          <a:xfrm>
            <a:off x="6243638" y="2943225"/>
            <a:ext cx="1443037" cy="200025"/>
          </a:xfrm>
          <a:prstGeom prst="roundRect">
            <a:avLst/>
          </a:prstGeom>
          <a:solidFill>
            <a:srgbClr val="7C3AE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251BFF3-8EAC-1CCB-1B67-FA21A57CEA50}"/>
              </a:ext>
            </a:extLst>
          </p:cNvPr>
          <p:cNvSpPr txBox="1"/>
          <p:nvPr/>
        </p:nvSpPr>
        <p:spPr>
          <a:xfrm>
            <a:off x="6315075" y="2978944"/>
            <a:ext cx="1300163" cy="1169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IN" sz="760" b="1">
                <a:solidFill>
                  <a:srgbClr val="FFFFFF"/>
                </a:solidFill>
                <a:latin typeface="Aptos Mono" panose="020B0009020202020204" pitchFamily="49" charset="0"/>
              </a:rPr>
              <a:t>Enterprise expansion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0725637-DB26-201E-0AB9-9750E33F310F}"/>
              </a:ext>
            </a:extLst>
          </p:cNvPr>
          <p:cNvSpPr txBox="1"/>
          <p:nvPr/>
        </p:nvSpPr>
        <p:spPr>
          <a:xfrm>
            <a:off x="6272213" y="3257550"/>
            <a:ext cx="2100263" cy="58477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760">
                <a:solidFill>
                  <a:srgbClr val="243041"/>
                </a:solidFill>
                <a:latin typeface="Lato" panose="020F0502020204030203" pitchFamily="34" charset="0"/>
              </a:rPr>
              <a:t>- SharePoint, Drive, Snowflake, BigQuery, Postgres</a:t>
            </a:r>
          </a:p>
          <a:p>
            <a:r>
              <a:rPr lang="en-US" sz="760">
                <a:solidFill>
                  <a:srgbClr val="243041"/>
                </a:solidFill>
                <a:latin typeface="Lato" panose="020F0502020204030203" pitchFamily="34" charset="0"/>
              </a:rPr>
              <a:t>- pgvector semantic memory and shared workspaces</a:t>
            </a:r>
          </a:p>
          <a:p>
            <a:r>
              <a:rPr lang="en-US" sz="760">
                <a:solidFill>
                  <a:srgbClr val="243041"/>
                </a:solidFill>
                <a:latin typeface="Lato" panose="020F0502020204030203" pitchFamily="34" charset="0"/>
              </a:rPr>
              <a:t>- Scheduled reports, SSO/SAML, audit logs</a:t>
            </a:r>
            <a:endParaRPr lang="en-IN" sz="760">
              <a:solidFill>
                <a:srgbClr val="243041"/>
              </a:solidFill>
              <a:latin typeface="Lato" panose="020F0502020204030203" pitchFamily="34" charset="0"/>
            </a:endParaRPr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F03F9FA2-2E99-DB21-DA97-92184CB206DA}"/>
              </a:ext>
            </a:extLst>
          </p:cNvPr>
          <p:cNvSpPr/>
          <p:nvPr/>
        </p:nvSpPr>
        <p:spPr>
          <a:xfrm>
            <a:off x="1585913" y="4071938"/>
            <a:ext cx="5972175" cy="357187"/>
          </a:xfrm>
          <a:prstGeom prst="roundRect">
            <a:avLst/>
          </a:prstGeom>
          <a:solidFill>
            <a:srgbClr val="FFFFFF"/>
          </a:solidFill>
          <a:ln w="7144">
            <a:solidFill>
              <a:srgbClr val="D7E0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4ABDD2DB-32E5-6DFC-9802-E0848F13F547}"/>
              </a:ext>
            </a:extLst>
          </p:cNvPr>
          <p:cNvSpPr/>
          <p:nvPr/>
        </p:nvSpPr>
        <p:spPr>
          <a:xfrm>
            <a:off x="1585913" y="4071938"/>
            <a:ext cx="5972175" cy="50006"/>
          </a:xfrm>
          <a:prstGeom prst="rect">
            <a:avLst/>
          </a:prstGeom>
          <a:solidFill>
            <a:srgbClr val="10A37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91B6534-81A0-2F73-EC22-EC1DEBE8BC89}"/>
              </a:ext>
            </a:extLst>
          </p:cNvPr>
          <p:cNvSpPr txBox="1"/>
          <p:nvPr/>
        </p:nvSpPr>
        <p:spPr>
          <a:xfrm>
            <a:off x="1714500" y="4214813"/>
            <a:ext cx="5715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900" b="1">
                <a:solidFill>
                  <a:srgbClr val="10A37F"/>
                </a:solidFill>
                <a:latin typeface="Poppins" panose="00000500000000000000" pitchFamily="2" charset="0"/>
              </a:rPr>
              <a:t>Workshop proof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E16A913-B8EE-4064-E88C-077C63840263}"/>
              </a:ext>
            </a:extLst>
          </p:cNvPr>
          <p:cNvSpPr txBox="1"/>
          <p:nvPr/>
        </p:nvSpPr>
        <p:spPr>
          <a:xfrm>
            <a:off x="1714500" y="4457700"/>
            <a:ext cx="5715000" cy="1169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760">
                <a:solidFill>
                  <a:srgbClr val="243041"/>
                </a:solidFill>
                <a:latin typeface="Lato" panose="020F0502020204030203" pitchFamily="34" charset="0"/>
              </a:rPr>
              <a:t>Files become schema, schema becomes executable code, execution becomes visual insight, and insight becomes an exportable artifact.</a:t>
            </a:r>
            <a:endParaRPr lang="en-IN" sz="760">
              <a:solidFill>
                <a:srgbClr val="243041"/>
              </a:solidFill>
              <a:latin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780232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B338AAB4-DF8A-0ACF-842C-B7DAE5AB2AC7}"/>
              </a:ext>
            </a:extLst>
          </p:cNvPr>
          <p:cNvSpPr/>
          <p:nvPr/>
        </p:nvSpPr>
        <p:spPr>
          <a:xfrm>
            <a:off x="-714375" y="-857250"/>
            <a:ext cx="2286000" cy="2286000"/>
          </a:xfrm>
          <a:prstGeom prst="ellipse">
            <a:avLst/>
          </a:prstGeom>
          <a:solidFill>
            <a:srgbClr val="E9F7F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341F30E5-4AC3-6F1E-F5E9-B1C0898EBC2F}"/>
              </a:ext>
            </a:extLst>
          </p:cNvPr>
          <p:cNvSpPr/>
          <p:nvPr/>
        </p:nvSpPr>
        <p:spPr>
          <a:xfrm>
            <a:off x="7786688" y="3571875"/>
            <a:ext cx="1857375" cy="1857375"/>
          </a:xfrm>
          <a:prstGeom prst="ellipse">
            <a:avLst/>
          </a:prstGeom>
          <a:solidFill>
            <a:srgbClr val="F7EED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77E65FA-CB88-4BCC-9C18-BCD401AD1750}"/>
              </a:ext>
            </a:extLst>
          </p:cNvPr>
          <p:cNvSpPr/>
          <p:nvPr/>
        </p:nvSpPr>
        <p:spPr>
          <a:xfrm>
            <a:off x="500063" y="200025"/>
            <a:ext cx="457200" cy="200025"/>
          </a:xfrm>
          <a:prstGeom prst="roundRect">
            <a:avLst/>
          </a:prstGeom>
          <a:noFill/>
          <a:ln w="7144" cap="flat" cmpd="sng" algn="ctr">
            <a:solidFill>
              <a:srgbClr val="E5E7EB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207B53-AFDD-A185-7D0C-A0978AFE957B}"/>
              </a:ext>
            </a:extLst>
          </p:cNvPr>
          <p:cNvSpPr txBox="1"/>
          <p:nvPr/>
        </p:nvSpPr>
        <p:spPr>
          <a:xfrm>
            <a:off x="564356" y="250031"/>
            <a:ext cx="328613" cy="1169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IN" sz="760" b="1">
                <a:solidFill>
                  <a:srgbClr val="64748B"/>
                </a:solidFill>
                <a:latin typeface="Aptos Mono" panose="020B0009020202020204" pitchFamily="49" charset="0"/>
              </a:rPr>
              <a:t>HOME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16DCEE7-382A-C93A-CEB1-76530FF91407}"/>
              </a:ext>
            </a:extLst>
          </p:cNvPr>
          <p:cNvSpPr/>
          <p:nvPr/>
        </p:nvSpPr>
        <p:spPr>
          <a:xfrm>
            <a:off x="1028700" y="200025"/>
            <a:ext cx="907256" cy="200025"/>
          </a:xfrm>
          <a:prstGeom prst="roundRect">
            <a:avLst/>
          </a:prstGeom>
          <a:noFill/>
          <a:ln w="7144" cap="flat" cmpd="sng" algn="ctr">
            <a:solidFill>
              <a:srgbClr val="E5E7EB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BF03C3B-BE1C-CD6F-E232-ACCC211E5E26}"/>
              </a:ext>
            </a:extLst>
          </p:cNvPr>
          <p:cNvSpPr txBox="1"/>
          <p:nvPr/>
        </p:nvSpPr>
        <p:spPr>
          <a:xfrm>
            <a:off x="1092994" y="250031"/>
            <a:ext cx="778669" cy="1169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IN" sz="760" b="1">
                <a:solidFill>
                  <a:srgbClr val="64748B"/>
                </a:solidFill>
                <a:latin typeface="Aptos Mono" panose="020B0009020202020204" pitchFamily="49" charset="0"/>
              </a:rPr>
              <a:t>FOUNDATIONS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5198909-C0F3-EE2A-613B-A22F21989C52}"/>
              </a:ext>
            </a:extLst>
          </p:cNvPr>
          <p:cNvSpPr/>
          <p:nvPr/>
        </p:nvSpPr>
        <p:spPr>
          <a:xfrm>
            <a:off x="2007394" y="200025"/>
            <a:ext cx="521494" cy="200025"/>
          </a:xfrm>
          <a:prstGeom prst="roundRect">
            <a:avLst/>
          </a:prstGeom>
          <a:noFill/>
          <a:ln w="7144" cap="flat" cmpd="sng" algn="ctr">
            <a:solidFill>
              <a:srgbClr val="E5E7EB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2B75E8C-0994-5E55-88C5-939591723605}"/>
              </a:ext>
            </a:extLst>
          </p:cNvPr>
          <p:cNvSpPr txBox="1"/>
          <p:nvPr/>
        </p:nvSpPr>
        <p:spPr>
          <a:xfrm>
            <a:off x="2071688" y="250031"/>
            <a:ext cx="392906" cy="1169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IN" sz="760" b="1">
                <a:solidFill>
                  <a:srgbClr val="64748B"/>
                </a:solidFill>
                <a:latin typeface="Aptos Mono" panose="020B0009020202020204" pitchFamily="49" charset="0"/>
              </a:rPr>
              <a:t>DEMOS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931A6A2-3B17-FC68-0EEC-630FCB59AB66}"/>
              </a:ext>
            </a:extLst>
          </p:cNvPr>
          <p:cNvSpPr/>
          <p:nvPr/>
        </p:nvSpPr>
        <p:spPr>
          <a:xfrm>
            <a:off x="2600325" y="200025"/>
            <a:ext cx="521494" cy="200025"/>
          </a:xfrm>
          <a:prstGeom prst="roundRect">
            <a:avLst/>
          </a:prstGeom>
          <a:noFill/>
          <a:ln w="7144" cap="flat" cmpd="sng" algn="ctr">
            <a:solidFill>
              <a:srgbClr val="E5E7EB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6BFDE4C-7FD1-CEF6-B323-DB46176F938C}"/>
              </a:ext>
            </a:extLst>
          </p:cNvPr>
          <p:cNvSpPr txBox="1"/>
          <p:nvPr/>
        </p:nvSpPr>
        <p:spPr>
          <a:xfrm>
            <a:off x="2664619" y="250031"/>
            <a:ext cx="392906" cy="1169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IN" sz="760" b="1">
                <a:solidFill>
                  <a:srgbClr val="64748B"/>
                </a:solidFill>
                <a:latin typeface="Aptos Mono" panose="020B0009020202020204" pitchFamily="49" charset="0"/>
              </a:rPr>
              <a:t>STACK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5A6EEF2-4C8B-30AF-9E9B-6C47E84BC608}"/>
              </a:ext>
            </a:extLst>
          </p:cNvPr>
          <p:cNvSpPr/>
          <p:nvPr/>
        </p:nvSpPr>
        <p:spPr>
          <a:xfrm>
            <a:off x="3193256" y="200025"/>
            <a:ext cx="842963" cy="200025"/>
          </a:xfrm>
          <a:prstGeom prst="roundRect">
            <a:avLst/>
          </a:prstGeom>
          <a:noFill/>
          <a:ln w="7144" cap="flat" cmpd="sng" algn="ctr">
            <a:solidFill>
              <a:srgbClr val="E5E7EB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2A3BDAD-DF89-3A78-26F2-D85E024CA7E2}"/>
              </a:ext>
            </a:extLst>
          </p:cNvPr>
          <p:cNvSpPr txBox="1"/>
          <p:nvPr/>
        </p:nvSpPr>
        <p:spPr>
          <a:xfrm>
            <a:off x="3257550" y="250031"/>
            <a:ext cx="714375" cy="1169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IN" sz="760" b="1">
                <a:solidFill>
                  <a:srgbClr val="64748B"/>
                </a:solidFill>
                <a:latin typeface="Aptos Mono" panose="020B0009020202020204" pitchFamily="49" charset="0"/>
              </a:rPr>
              <a:t>GOVERNANCE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ABE16EE5-5C08-8109-E7A4-5D5A889BC0CB}"/>
              </a:ext>
            </a:extLst>
          </p:cNvPr>
          <p:cNvSpPr/>
          <p:nvPr/>
        </p:nvSpPr>
        <p:spPr>
          <a:xfrm>
            <a:off x="4107656" y="200025"/>
            <a:ext cx="650082" cy="200025"/>
          </a:xfrm>
          <a:prstGeom prst="roundRect">
            <a:avLst/>
          </a:prstGeom>
          <a:noFill/>
          <a:ln w="7144" cap="flat" cmpd="sng" algn="ctr">
            <a:solidFill>
              <a:srgbClr val="E5E7EB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FE77608-9C6C-880A-2752-1DF713C405F4}"/>
              </a:ext>
            </a:extLst>
          </p:cNvPr>
          <p:cNvSpPr txBox="1"/>
          <p:nvPr/>
        </p:nvSpPr>
        <p:spPr>
          <a:xfrm>
            <a:off x="4171950" y="250031"/>
            <a:ext cx="521494" cy="1169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IN" sz="760" b="1">
                <a:solidFill>
                  <a:srgbClr val="64748B"/>
                </a:solidFill>
                <a:latin typeface="Aptos Mono" panose="020B0009020202020204" pitchFamily="49" charset="0"/>
              </a:rPr>
              <a:t>ROADMAP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337EAEE7-E6B0-53F7-A621-277DBC055A44}"/>
              </a:ext>
            </a:extLst>
          </p:cNvPr>
          <p:cNvSpPr/>
          <p:nvPr/>
        </p:nvSpPr>
        <p:spPr>
          <a:xfrm>
            <a:off x="4829175" y="200025"/>
            <a:ext cx="900113" cy="200025"/>
          </a:xfrm>
          <a:prstGeom prst="roundRect">
            <a:avLst/>
          </a:prstGeom>
          <a:solidFill>
            <a:srgbClr val="10A37F"/>
          </a:solidFill>
          <a:ln w="7144">
            <a:solidFill>
              <a:srgbClr val="10A37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37377DE-DF6F-E577-1511-8F96794BF35D}"/>
              </a:ext>
            </a:extLst>
          </p:cNvPr>
          <p:cNvSpPr txBox="1"/>
          <p:nvPr/>
        </p:nvSpPr>
        <p:spPr>
          <a:xfrm>
            <a:off x="4893469" y="250031"/>
            <a:ext cx="771525" cy="1169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IN" sz="760" b="1">
                <a:solidFill>
                  <a:srgbClr val="FFFFFF"/>
                </a:solidFill>
                <a:latin typeface="Aptos Mono" panose="020B0009020202020204" pitchFamily="49" charset="0"/>
              </a:rPr>
              <a:t>PROJECT MAP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07E3FE9-CE59-4375-4BB5-5818FB45B3E7}"/>
              </a:ext>
            </a:extLst>
          </p:cNvPr>
          <p:cNvSpPr/>
          <p:nvPr/>
        </p:nvSpPr>
        <p:spPr>
          <a:xfrm>
            <a:off x="500063" y="4557713"/>
            <a:ext cx="8143875" cy="12700"/>
          </a:xfrm>
          <a:prstGeom prst="rect">
            <a:avLst/>
          </a:prstGeom>
          <a:solidFill>
            <a:srgbClr val="E5E7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7D091F7-5A9E-798F-7987-299F06D89E95}"/>
              </a:ext>
            </a:extLst>
          </p:cNvPr>
          <p:cNvSpPr txBox="1"/>
          <p:nvPr/>
        </p:nvSpPr>
        <p:spPr>
          <a:xfrm>
            <a:off x="500063" y="4672013"/>
            <a:ext cx="3000375" cy="1169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760" b="1">
                <a:solidFill>
                  <a:srgbClr val="64748B"/>
                </a:solidFill>
                <a:latin typeface="Aptos Mono" panose="020B0009020202020204" pitchFamily="49" charset="0"/>
              </a:rPr>
              <a:t>PROJECT MAP  -  22 / 24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5D72AD1-4248-FE36-7414-9F0DFAC87555}"/>
              </a:ext>
            </a:extLst>
          </p:cNvPr>
          <p:cNvSpPr txBox="1"/>
          <p:nvPr/>
        </p:nvSpPr>
        <p:spPr>
          <a:xfrm>
            <a:off x="500063" y="585788"/>
            <a:ext cx="7429500" cy="3030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1969" b="1">
                <a:solidFill>
                  <a:srgbClr val="111827"/>
                </a:solidFill>
                <a:latin typeface="Poppins" panose="00000500000000000000" pitchFamily="2" charset="0"/>
              </a:rPr>
              <a:t>OEE Box: Edge AI + Industrial Intelligence Proof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9F1B231-F165-F1D4-DB63-EEBC32220362}"/>
              </a:ext>
            </a:extLst>
          </p:cNvPr>
          <p:cNvSpPr txBox="1"/>
          <p:nvPr/>
        </p:nvSpPr>
        <p:spPr>
          <a:xfrm>
            <a:off x="514350" y="1014413"/>
            <a:ext cx="74295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>
                <a:solidFill>
                  <a:srgbClr val="243041"/>
                </a:solidFill>
                <a:latin typeface="Lato" panose="020F0502020204030203" pitchFamily="34" charset="0"/>
              </a:rPr>
              <a:t>Maps to edge telemetry, local retrieval, machine reasoning, data trust, RL shadow mode, and safe command execution.</a:t>
            </a:r>
            <a:endParaRPr lang="en-IN" sz="900">
              <a:solidFill>
                <a:srgbClr val="243041"/>
              </a:solidFill>
              <a:latin typeface="Lato" panose="020F0502020204030203" pitchFamily="34" charset="0"/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41D91F15-70CB-4622-1984-C4621040CB35}"/>
              </a:ext>
            </a:extLst>
          </p:cNvPr>
          <p:cNvSpPr/>
          <p:nvPr/>
        </p:nvSpPr>
        <p:spPr>
          <a:xfrm>
            <a:off x="528638" y="1585913"/>
            <a:ext cx="1185862" cy="842962"/>
          </a:xfrm>
          <a:prstGeom prst="roundRect">
            <a:avLst/>
          </a:prstGeom>
          <a:solidFill>
            <a:srgbClr val="FFFFFF"/>
          </a:solidFill>
          <a:ln w="7144">
            <a:solidFill>
              <a:srgbClr val="D7E0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80A94EA0-F0A0-D945-1CFF-96CA9F9369B0}"/>
              </a:ext>
            </a:extLst>
          </p:cNvPr>
          <p:cNvSpPr/>
          <p:nvPr/>
        </p:nvSpPr>
        <p:spPr>
          <a:xfrm>
            <a:off x="628650" y="1714500"/>
            <a:ext cx="200025" cy="200025"/>
          </a:xfrm>
          <a:prstGeom prst="ellipse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21E9DE9-450C-1695-37D9-16A27F7662AE}"/>
              </a:ext>
            </a:extLst>
          </p:cNvPr>
          <p:cNvSpPr txBox="1"/>
          <p:nvPr/>
        </p:nvSpPr>
        <p:spPr>
          <a:xfrm>
            <a:off x="900113" y="1700213"/>
            <a:ext cx="728663" cy="1169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760" b="1">
                <a:solidFill>
                  <a:srgbClr val="2563EB"/>
                </a:solidFill>
                <a:latin typeface="Poppins" panose="00000500000000000000" pitchFamily="2" charset="0"/>
              </a:rPr>
              <a:t>Signals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4AD4A0F-0AED-6E5B-E87A-16C8F10E76C8}"/>
              </a:ext>
            </a:extLst>
          </p:cNvPr>
          <p:cNvSpPr txBox="1"/>
          <p:nvPr/>
        </p:nvSpPr>
        <p:spPr>
          <a:xfrm>
            <a:off x="657225" y="1957388"/>
            <a:ext cx="928688" cy="2339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760">
                <a:solidFill>
                  <a:srgbClr val="243041"/>
                </a:solidFill>
                <a:latin typeface="Lato" panose="020F0502020204030203" pitchFamily="34" charset="0"/>
              </a:rPr>
              <a:t>MQTT, Modbus, OPC-UA, simulator</a:t>
            </a:r>
          </a:p>
        </p:txBody>
      </p:sp>
      <p:sp>
        <p:nvSpPr>
          <p:cNvPr id="26" name="Arrow: Right 25">
            <a:extLst>
              <a:ext uri="{FF2B5EF4-FFF2-40B4-BE49-F238E27FC236}">
                <a16:creationId xmlns:a16="http://schemas.microsoft.com/office/drawing/2014/main" id="{6E548A1D-E4C7-39AD-A70D-0496FCF70804}"/>
              </a:ext>
            </a:extLst>
          </p:cNvPr>
          <p:cNvSpPr/>
          <p:nvPr/>
        </p:nvSpPr>
        <p:spPr>
          <a:xfrm>
            <a:off x="1771650" y="1950244"/>
            <a:ext cx="300038" cy="114300"/>
          </a:xfrm>
          <a:prstGeom prst="rightArrow">
            <a:avLst/>
          </a:prstGeom>
          <a:solidFill>
            <a:srgbClr val="E5E7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B0BC41DD-80E5-A924-7A6D-AC281145FB49}"/>
              </a:ext>
            </a:extLst>
          </p:cNvPr>
          <p:cNvSpPr/>
          <p:nvPr/>
        </p:nvSpPr>
        <p:spPr>
          <a:xfrm>
            <a:off x="2214563" y="1585913"/>
            <a:ext cx="1185862" cy="842962"/>
          </a:xfrm>
          <a:prstGeom prst="roundRect">
            <a:avLst/>
          </a:prstGeom>
          <a:solidFill>
            <a:srgbClr val="FFFFFF"/>
          </a:solidFill>
          <a:ln w="7144">
            <a:solidFill>
              <a:srgbClr val="D7E0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CFF66319-8C66-9068-0608-FDA1E2FC4D92}"/>
              </a:ext>
            </a:extLst>
          </p:cNvPr>
          <p:cNvSpPr/>
          <p:nvPr/>
        </p:nvSpPr>
        <p:spPr>
          <a:xfrm>
            <a:off x="2314575" y="1714500"/>
            <a:ext cx="200025" cy="200025"/>
          </a:xfrm>
          <a:prstGeom prst="ellipse">
            <a:avLst/>
          </a:prstGeom>
          <a:solidFill>
            <a:srgbClr val="10A37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764737F-483A-6AA8-A23C-155585A7C999}"/>
              </a:ext>
            </a:extLst>
          </p:cNvPr>
          <p:cNvSpPr txBox="1"/>
          <p:nvPr/>
        </p:nvSpPr>
        <p:spPr>
          <a:xfrm>
            <a:off x="2586038" y="1700213"/>
            <a:ext cx="728663" cy="1169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760" b="1">
                <a:solidFill>
                  <a:srgbClr val="10A37F"/>
                </a:solidFill>
                <a:latin typeface="Poppins" panose="00000500000000000000" pitchFamily="2" charset="0"/>
              </a:rPr>
              <a:t>Trust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70F0E92-744D-BF5E-FCED-F7B856C2E0C0}"/>
              </a:ext>
            </a:extLst>
          </p:cNvPr>
          <p:cNvSpPr txBox="1"/>
          <p:nvPr/>
        </p:nvSpPr>
        <p:spPr>
          <a:xfrm>
            <a:off x="2343150" y="1957388"/>
            <a:ext cx="928688" cy="2339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760">
                <a:solidFill>
                  <a:srgbClr val="243041"/>
                </a:solidFill>
                <a:latin typeface="Lato" panose="020F0502020204030203" pitchFamily="34" charset="0"/>
              </a:rPr>
              <a:t>Sanitize readings, score confidence</a:t>
            </a:r>
          </a:p>
        </p:txBody>
      </p:sp>
      <p:sp>
        <p:nvSpPr>
          <p:cNvPr id="31" name="Arrow: Right 30">
            <a:extLst>
              <a:ext uri="{FF2B5EF4-FFF2-40B4-BE49-F238E27FC236}">
                <a16:creationId xmlns:a16="http://schemas.microsoft.com/office/drawing/2014/main" id="{64309A0A-88CF-FC5B-6BD0-5D65D52EE31F}"/>
              </a:ext>
            </a:extLst>
          </p:cNvPr>
          <p:cNvSpPr/>
          <p:nvPr/>
        </p:nvSpPr>
        <p:spPr>
          <a:xfrm>
            <a:off x="3457575" y="1950244"/>
            <a:ext cx="300038" cy="114300"/>
          </a:xfrm>
          <a:prstGeom prst="rightArrow">
            <a:avLst/>
          </a:prstGeom>
          <a:solidFill>
            <a:srgbClr val="E5E7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0E428C3E-6D7B-2F1D-4823-B946C63B500D}"/>
              </a:ext>
            </a:extLst>
          </p:cNvPr>
          <p:cNvSpPr/>
          <p:nvPr/>
        </p:nvSpPr>
        <p:spPr>
          <a:xfrm>
            <a:off x="3900488" y="1585913"/>
            <a:ext cx="1185862" cy="842962"/>
          </a:xfrm>
          <a:prstGeom prst="roundRect">
            <a:avLst/>
          </a:prstGeom>
          <a:solidFill>
            <a:srgbClr val="FFFFFF"/>
          </a:solidFill>
          <a:ln w="7144">
            <a:solidFill>
              <a:srgbClr val="D7E0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B191F717-0C42-6A22-A9D4-5705178F3CEA}"/>
              </a:ext>
            </a:extLst>
          </p:cNvPr>
          <p:cNvSpPr/>
          <p:nvPr/>
        </p:nvSpPr>
        <p:spPr>
          <a:xfrm>
            <a:off x="4000500" y="1714500"/>
            <a:ext cx="200025" cy="200025"/>
          </a:xfrm>
          <a:prstGeom prst="ellipse">
            <a:avLst/>
          </a:prstGeom>
          <a:solidFill>
            <a:srgbClr val="7C3AE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3D539DB-68E2-1CFF-A833-0D24D3F82C92}"/>
              </a:ext>
            </a:extLst>
          </p:cNvPr>
          <p:cNvSpPr txBox="1"/>
          <p:nvPr/>
        </p:nvSpPr>
        <p:spPr>
          <a:xfrm>
            <a:off x="4271963" y="1700213"/>
            <a:ext cx="728663" cy="1169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760" b="1">
                <a:solidFill>
                  <a:srgbClr val="7C3AED"/>
                </a:solidFill>
                <a:latin typeface="Poppins" panose="00000500000000000000" pitchFamily="2" charset="0"/>
              </a:rPr>
              <a:t>Reason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165E6D0-FC00-0BCE-71A6-200747827DA5}"/>
              </a:ext>
            </a:extLst>
          </p:cNvPr>
          <p:cNvSpPr txBox="1"/>
          <p:nvPr/>
        </p:nvSpPr>
        <p:spPr>
          <a:xfrm>
            <a:off x="4029075" y="1957388"/>
            <a:ext cx="928688" cy="2339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760">
                <a:solidFill>
                  <a:srgbClr val="243041"/>
                </a:solidFill>
                <a:latin typeface="Lato" panose="020F0502020204030203" pitchFamily="34" charset="0"/>
              </a:rPr>
              <a:t>OEE calculator, schema inference</a:t>
            </a:r>
          </a:p>
        </p:txBody>
      </p:sp>
      <p:sp>
        <p:nvSpPr>
          <p:cNvPr id="36" name="Arrow: Right 35">
            <a:extLst>
              <a:ext uri="{FF2B5EF4-FFF2-40B4-BE49-F238E27FC236}">
                <a16:creationId xmlns:a16="http://schemas.microsoft.com/office/drawing/2014/main" id="{35CFB7F7-E79D-5DDD-598B-FE0848A8C77E}"/>
              </a:ext>
            </a:extLst>
          </p:cNvPr>
          <p:cNvSpPr/>
          <p:nvPr/>
        </p:nvSpPr>
        <p:spPr>
          <a:xfrm>
            <a:off x="5143500" y="1950244"/>
            <a:ext cx="300038" cy="114300"/>
          </a:xfrm>
          <a:prstGeom prst="rightArrow">
            <a:avLst/>
          </a:prstGeom>
          <a:solidFill>
            <a:srgbClr val="E5E7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4823C011-D1BF-8AC8-220B-D2341CE35334}"/>
              </a:ext>
            </a:extLst>
          </p:cNvPr>
          <p:cNvSpPr/>
          <p:nvPr/>
        </p:nvSpPr>
        <p:spPr>
          <a:xfrm>
            <a:off x="5586413" y="1585913"/>
            <a:ext cx="1185862" cy="842962"/>
          </a:xfrm>
          <a:prstGeom prst="roundRect">
            <a:avLst/>
          </a:prstGeom>
          <a:solidFill>
            <a:srgbClr val="FFFFFF"/>
          </a:solidFill>
          <a:ln w="7144">
            <a:solidFill>
              <a:srgbClr val="D7E0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C3226ECE-0F7E-352B-6B04-275C2F674640}"/>
              </a:ext>
            </a:extLst>
          </p:cNvPr>
          <p:cNvSpPr/>
          <p:nvPr/>
        </p:nvSpPr>
        <p:spPr>
          <a:xfrm>
            <a:off x="5686425" y="1714500"/>
            <a:ext cx="200025" cy="200025"/>
          </a:xfrm>
          <a:prstGeom prst="ellipse">
            <a:avLst/>
          </a:prstGeom>
          <a:solidFill>
            <a:srgbClr val="D69E2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6DFDDF9-231B-039E-E759-A06F00A36AAA}"/>
              </a:ext>
            </a:extLst>
          </p:cNvPr>
          <p:cNvSpPr txBox="1"/>
          <p:nvPr/>
        </p:nvSpPr>
        <p:spPr>
          <a:xfrm>
            <a:off x="5957888" y="1700213"/>
            <a:ext cx="728663" cy="1169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760" b="1">
                <a:solidFill>
                  <a:srgbClr val="D69E2E"/>
                </a:solidFill>
                <a:latin typeface="Poppins" panose="00000500000000000000" pitchFamily="2" charset="0"/>
              </a:rPr>
              <a:t>Assist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89A313C-41DD-E770-BB1E-FD3E45E4ED83}"/>
              </a:ext>
            </a:extLst>
          </p:cNvPr>
          <p:cNvSpPr txBox="1"/>
          <p:nvPr/>
        </p:nvSpPr>
        <p:spPr>
          <a:xfrm>
            <a:off x="5715000" y="1957388"/>
            <a:ext cx="928688" cy="2339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760">
                <a:solidFill>
                  <a:srgbClr val="243041"/>
                </a:solidFill>
                <a:latin typeface="Lato" panose="020F0502020204030203" pitchFamily="34" charset="0"/>
              </a:rPr>
              <a:t>Manual RAG, copilot, offline fallback</a:t>
            </a:r>
            <a:endParaRPr lang="en-IN" sz="760">
              <a:solidFill>
                <a:srgbClr val="243041"/>
              </a:solidFill>
              <a:latin typeface="Lato" panose="020F0502020204030203" pitchFamily="34" charset="0"/>
            </a:endParaRPr>
          </a:p>
        </p:txBody>
      </p:sp>
      <p:sp>
        <p:nvSpPr>
          <p:cNvPr id="41" name="Arrow: Right 40">
            <a:extLst>
              <a:ext uri="{FF2B5EF4-FFF2-40B4-BE49-F238E27FC236}">
                <a16:creationId xmlns:a16="http://schemas.microsoft.com/office/drawing/2014/main" id="{F8B03BAD-0EAF-227A-D3DE-265C9CBBF091}"/>
              </a:ext>
            </a:extLst>
          </p:cNvPr>
          <p:cNvSpPr/>
          <p:nvPr/>
        </p:nvSpPr>
        <p:spPr>
          <a:xfrm>
            <a:off x="6829425" y="1950244"/>
            <a:ext cx="300038" cy="114300"/>
          </a:xfrm>
          <a:prstGeom prst="rightArrow">
            <a:avLst/>
          </a:prstGeom>
          <a:solidFill>
            <a:srgbClr val="E5E7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BF2CA25D-585D-1043-58B1-91F6E3243991}"/>
              </a:ext>
            </a:extLst>
          </p:cNvPr>
          <p:cNvSpPr/>
          <p:nvPr/>
        </p:nvSpPr>
        <p:spPr>
          <a:xfrm>
            <a:off x="7272338" y="1585913"/>
            <a:ext cx="1185862" cy="842962"/>
          </a:xfrm>
          <a:prstGeom prst="roundRect">
            <a:avLst/>
          </a:prstGeom>
          <a:solidFill>
            <a:srgbClr val="FFFFFF"/>
          </a:solidFill>
          <a:ln w="7144">
            <a:solidFill>
              <a:srgbClr val="D7E0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69582C18-DE90-0A79-F182-058BCFC9013E}"/>
              </a:ext>
            </a:extLst>
          </p:cNvPr>
          <p:cNvSpPr/>
          <p:nvPr/>
        </p:nvSpPr>
        <p:spPr>
          <a:xfrm>
            <a:off x="7372350" y="1714500"/>
            <a:ext cx="200025" cy="200025"/>
          </a:xfrm>
          <a:prstGeom prst="ellipse">
            <a:avLst/>
          </a:prstGeom>
          <a:solidFill>
            <a:srgbClr val="E76F5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EB84D8B-50D8-E1E4-B372-947E2B2853AC}"/>
              </a:ext>
            </a:extLst>
          </p:cNvPr>
          <p:cNvSpPr txBox="1"/>
          <p:nvPr/>
        </p:nvSpPr>
        <p:spPr>
          <a:xfrm>
            <a:off x="7643813" y="1700213"/>
            <a:ext cx="728663" cy="1169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760" b="1">
                <a:solidFill>
                  <a:srgbClr val="E76F51"/>
                </a:solidFill>
                <a:latin typeface="Poppins" panose="00000500000000000000" pitchFamily="2" charset="0"/>
              </a:rPr>
              <a:t>Act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537F32C-C64D-089E-3346-34DA073B6264}"/>
              </a:ext>
            </a:extLst>
          </p:cNvPr>
          <p:cNvSpPr txBox="1"/>
          <p:nvPr/>
        </p:nvSpPr>
        <p:spPr>
          <a:xfrm>
            <a:off x="7400925" y="1957388"/>
            <a:ext cx="928688" cy="3508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760">
                <a:solidFill>
                  <a:srgbClr val="243041"/>
                </a:solidFill>
                <a:latin typeface="Lato" panose="020F0502020204030203" pitchFamily="34" charset="0"/>
              </a:rPr>
              <a:t>RL shadow suggestions, gatekeeper</a:t>
            </a: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97EE45A0-01EB-B5CE-34F6-D8465600204C}"/>
              </a:ext>
            </a:extLst>
          </p:cNvPr>
          <p:cNvSpPr/>
          <p:nvPr/>
        </p:nvSpPr>
        <p:spPr>
          <a:xfrm>
            <a:off x="500063" y="2871788"/>
            <a:ext cx="1928812" cy="1014412"/>
          </a:xfrm>
          <a:prstGeom prst="roundRect">
            <a:avLst/>
          </a:prstGeom>
          <a:solidFill>
            <a:srgbClr val="FFFFFF"/>
          </a:solidFill>
          <a:ln w="7144">
            <a:solidFill>
              <a:srgbClr val="D7E0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A2C6924C-F5B5-B203-972C-24657F70E0E2}"/>
              </a:ext>
            </a:extLst>
          </p:cNvPr>
          <p:cNvSpPr/>
          <p:nvPr/>
        </p:nvSpPr>
        <p:spPr>
          <a:xfrm>
            <a:off x="600075" y="2971800"/>
            <a:ext cx="1214438" cy="200025"/>
          </a:xfrm>
          <a:prstGeom prst="roundRect">
            <a:avLst/>
          </a:prstGeom>
          <a:solidFill>
            <a:srgbClr val="10A37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83EC21C-DAFD-AAFE-8F77-226D9BDB5EAE}"/>
              </a:ext>
            </a:extLst>
          </p:cNvPr>
          <p:cNvSpPr txBox="1"/>
          <p:nvPr/>
        </p:nvSpPr>
        <p:spPr>
          <a:xfrm>
            <a:off x="671513" y="3007519"/>
            <a:ext cx="1071563" cy="1169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IN" sz="760" b="1">
                <a:solidFill>
                  <a:srgbClr val="FFFFFF"/>
                </a:solidFill>
                <a:latin typeface="Aptos Mono" panose="020B0009020202020204" pitchFamily="49" charset="0"/>
              </a:rPr>
              <a:t>Semantic copilot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DEAF3D7-0738-7757-221D-CAA77F797D9C}"/>
              </a:ext>
            </a:extLst>
          </p:cNvPr>
          <p:cNvSpPr txBox="1"/>
          <p:nvPr/>
        </p:nvSpPr>
        <p:spPr>
          <a:xfrm>
            <a:off x="628650" y="3286125"/>
            <a:ext cx="1671638" cy="58477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760">
                <a:solidFill>
                  <a:srgbClr val="243041"/>
                </a:solidFill>
                <a:latin typeface="Lato" panose="020F0502020204030203" pitchFamily="34" charset="0"/>
              </a:rPr>
              <a:t>- Local RAG over manuals and safety protocols</a:t>
            </a:r>
          </a:p>
          <a:p>
            <a:r>
              <a:rPr lang="en-US" sz="760">
                <a:solidFill>
                  <a:srgbClr val="243041"/>
                </a:solidFill>
                <a:latin typeface="Lato" panose="020F0502020204030203" pitchFamily="34" charset="0"/>
              </a:rPr>
              <a:t>- FAISS with Sentence Transformers</a:t>
            </a:r>
          </a:p>
          <a:p>
            <a:r>
              <a:rPr lang="en-US" sz="760">
                <a:solidFill>
                  <a:srgbClr val="243041"/>
                </a:solidFill>
                <a:latin typeface="Lato" panose="020F0502020204030203" pitchFamily="34" charset="0"/>
              </a:rPr>
              <a:t>- LLM answers operator questions with context</a:t>
            </a:r>
            <a:endParaRPr lang="en-IN" sz="760">
              <a:solidFill>
                <a:srgbClr val="243041"/>
              </a:solidFill>
              <a:latin typeface="Lato" panose="020F0502020204030203" pitchFamily="34" charset="0"/>
            </a:endParaRP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0D9F582C-104A-FB8D-4BEF-4FFDC85A6981}"/>
              </a:ext>
            </a:extLst>
          </p:cNvPr>
          <p:cNvSpPr/>
          <p:nvPr/>
        </p:nvSpPr>
        <p:spPr>
          <a:xfrm>
            <a:off x="2657475" y="2871788"/>
            <a:ext cx="1928813" cy="1014412"/>
          </a:xfrm>
          <a:prstGeom prst="roundRect">
            <a:avLst/>
          </a:prstGeom>
          <a:solidFill>
            <a:srgbClr val="FFFFFF"/>
          </a:solidFill>
          <a:ln w="7144">
            <a:solidFill>
              <a:srgbClr val="D7E0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A9C9AFC7-9630-74A9-ADAD-9772C8106B81}"/>
              </a:ext>
            </a:extLst>
          </p:cNvPr>
          <p:cNvSpPr/>
          <p:nvPr/>
        </p:nvSpPr>
        <p:spPr>
          <a:xfrm>
            <a:off x="2757488" y="2971800"/>
            <a:ext cx="1614487" cy="200025"/>
          </a:xfrm>
          <a:prstGeom prst="roundRect">
            <a:avLst/>
          </a:prstGeom>
          <a:solidFill>
            <a:srgbClr val="7C3AE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4D5D619-1A00-A7B9-406B-D26B5318AFE2}"/>
              </a:ext>
            </a:extLst>
          </p:cNvPr>
          <p:cNvSpPr txBox="1"/>
          <p:nvPr/>
        </p:nvSpPr>
        <p:spPr>
          <a:xfrm>
            <a:off x="2828925" y="3007519"/>
            <a:ext cx="1471613" cy="1169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IN" sz="760" b="1">
                <a:solidFill>
                  <a:srgbClr val="FFFFFF"/>
                </a:solidFill>
                <a:latin typeface="Aptos Mono" panose="020B0009020202020204" pitchFamily="49" charset="0"/>
              </a:rPr>
              <a:t>Autonomous intelligence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F72EF9A-F656-895B-88AD-BCA107B74337}"/>
              </a:ext>
            </a:extLst>
          </p:cNvPr>
          <p:cNvSpPr txBox="1"/>
          <p:nvPr/>
        </p:nvSpPr>
        <p:spPr>
          <a:xfrm>
            <a:off x="2786063" y="3286125"/>
            <a:ext cx="1671638" cy="70173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760">
                <a:solidFill>
                  <a:srgbClr val="243041"/>
                </a:solidFill>
                <a:latin typeface="Lato" panose="020F0502020204030203" pitchFamily="34" charset="0"/>
              </a:rPr>
              <a:t>- RL agent observes and simulates in shadow mode</a:t>
            </a:r>
          </a:p>
          <a:p>
            <a:r>
              <a:rPr lang="en-US" sz="760">
                <a:solidFill>
                  <a:srgbClr val="243041"/>
                </a:solidFill>
                <a:latin typeface="Lato" panose="020F0502020204030203" pitchFamily="34" charset="0"/>
              </a:rPr>
              <a:t>- Virtual sensors infer missing machine states</a:t>
            </a:r>
          </a:p>
          <a:p>
            <a:r>
              <a:rPr lang="en-US" sz="760">
                <a:solidFill>
                  <a:srgbClr val="243041"/>
                </a:solidFill>
                <a:latin typeface="Lato" panose="020F0502020204030203" pitchFamily="34" charset="0"/>
              </a:rPr>
              <a:t>- Predictive health roadmap with RUL models</a:t>
            </a:r>
            <a:endParaRPr lang="en-IN" sz="760">
              <a:solidFill>
                <a:srgbClr val="243041"/>
              </a:solidFill>
              <a:latin typeface="Lato" panose="020F0502020204030203" pitchFamily="34" charset="0"/>
            </a:endParaRPr>
          </a:p>
        </p:txBody>
      </p: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E31D0049-A687-026D-5BF2-9B1B34A225E6}"/>
              </a:ext>
            </a:extLst>
          </p:cNvPr>
          <p:cNvSpPr/>
          <p:nvPr/>
        </p:nvSpPr>
        <p:spPr>
          <a:xfrm>
            <a:off x="4814888" y="2871788"/>
            <a:ext cx="1928812" cy="1014412"/>
          </a:xfrm>
          <a:prstGeom prst="roundRect">
            <a:avLst/>
          </a:prstGeom>
          <a:solidFill>
            <a:srgbClr val="FFFFFF"/>
          </a:solidFill>
          <a:ln w="7144">
            <a:solidFill>
              <a:srgbClr val="D7E0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8E18310B-8494-32EC-DFCB-2F86476E427B}"/>
              </a:ext>
            </a:extLst>
          </p:cNvPr>
          <p:cNvSpPr/>
          <p:nvPr/>
        </p:nvSpPr>
        <p:spPr>
          <a:xfrm>
            <a:off x="4914900" y="2971800"/>
            <a:ext cx="1214438" cy="200025"/>
          </a:xfrm>
          <a:prstGeom prst="roundRect">
            <a:avLst/>
          </a:prstGeom>
          <a:solidFill>
            <a:srgbClr val="E76F5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B84A0F1-4EFD-B1C2-5417-4B90E85D6130}"/>
              </a:ext>
            </a:extLst>
          </p:cNvPr>
          <p:cNvSpPr txBox="1"/>
          <p:nvPr/>
        </p:nvSpPr>
        <p:spPr>
          <a:xfrm>
            <a:off x="4986338" y="3007519"/>
            <a:ext cx="1071563" cy="1169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IN" sz="760" b="1">
                <a:solidFill>
                  <a:srgbClr val="FFFFFF"/>
                </a:solidFill>
                <a:latin typeface="Aptos Mono" panose="020B0009020202020204" pitchFamily="49" charset="0"/>
              </a:rPr>
              <a:t>Safety-by-design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1D28CAB-68DD-F487-21AC-99555F09AA7C}"/>
              </a:ext>
            </a:extLst>
          </p:cNvPr>
          <p:cNvSpPr txBox="1"/>
          <p:nvPr/>
        </p:nvSpPr>
        <p:spPr>
          <a:xfrm>
            <a:off x="4943475" y="3286125"/>
            <a:ext cx="1671638" cy="58477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760">
                <a:solidFill>
                  <a:srgbClr val="243041"/>
                </a:solidFill>
                <a:latin typeface="Lato" panose="020F0502020204030203" pitchFamily="34" charset="0"/>
              </a:rPr>
              <a:t>- Command gatekeeper before machine action</a:t>
            </a:r>
          </a:p>
          <a:p>
            <a:r>
              <a:rPr lang="en-US" sz="760">
                <a:solidFill>
                  <a:srgbClr val="243041"/>
                </a:solidFill>
                <a:latin typeface="Lato" panose="020F0502020204030203" pitchFamily="34" charset="0"/>
              </a:rPr>
              <a:t>- Offline heuristic fallback when AI is unavailable</a:t>
            </a:r>
          </a:p>
          <a:p>
            <a:r>
              <a:rPr lang="en-US" sz="760">
                <a:solidFill>
                  <a:srgbClr val="243041"/>
                </a:solidFill>
                <a:latin typeface="Lato" panose="020F0502020204030203" pitchFamily="34" charset="0"/>
              </a:rPr>
              <a:t>- Audit trace from signal to suggestion</a:t>
            </a:r>
            <a:endParaRPr lang="en-IN" sz="760">
              <a:solidFill>
                <a:srgbClr val="243041"/>
              </a:solidFill>
              <a:latin typeface="Lato" panose="020F0502020204030203" pitchFamily="34" charset="0"/>
            </a:endParaRPr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DB9DEA43-FF21-71B4-F0E8-7045E9A176A6}"/>
              </a:ext>
            </a:extLst>
          </p:cNvPr>
          <p:cNvSpPr/>
          <p:nvPr/>
        </p:nvSpPr>
        <p:spPr>
          <a:xfrm>
            <a:off x="6972300" y="2871788"/>
            <a:ext cx="1671638" cy="1014412"/>
          </a:xfrm>
          <a:prstGeom prst="roundRect">
            <a:avLst/>
          </a:prstGeom>
          <a:solidFill>
            <a:srgbClr val="FFFFFF"/>
          </a:solidFill>
          <a:ln w="7144">
            <a:solidFill>
              <a:srgbClr val="D7E0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5243DEBF-5E91-6C35-F5A6-82CC968B0328}"/>
              </a:ext>
            </a:extLst>
          </p:cNvPr>
          <p:cNvSpPr/>
          <p:nvPr/>
        </p:nvSpPr>
        <p:spPr>
          <a:xfrm>
            <a:off x="7072313" y="2971800"/>
            <a:ext cx="1157287" cy="200025"/>
          </a:xfrm>
          <a:prstGeom prst="roundRect">
            <a:avLst/>
          </a:prstGeom>
          <a:solidFill>
            <a:srgbClr val="D69E2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29229F36-D3FC-F010-952F-4FD7CE3E829F}"/>
              </a:ext>
            </a:extLst>
          </p:cNvPr>
          <p:cNvSpPr txBox="1"/>
          <p:nvPr/>
        </p:nvSpPr>
        <p:spPr>
          <a:xfrm>
            <a:off x="7143750" y="3007519"/>
            <a:ext cx="1014413" cy="1169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IN" sz="760" b="1">
                <a:solidFill>
                  <a:srgbClr val="FFFFFF"/>
                </a:solidFill>
                <a:latin typeface="Aptos Mono" panose="020B0009020202020204" pitchFamily="49" charset="0"/>
              </a:rPr>
              <a:t>Real-time stack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AE43D17-743D-8F7A-55C6-2305DBB99CE2}"/>
              </a:ext>
            </a:extLst>
          </p:cNvPr>
          <p:cNvSpPr txBox="1"/>
          <p:nvPr/>
        </p:nvSpPr>
        <p:spPr>
          <a:xfrm>
            <a:off x="7100888" y="3286125"/>
            <a:ext cx="1414463" cy="58477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760">
                <a:solidFill>
                  <a:srgbClr val="243041"/>
                </a:solidFill>
                <a:latin typeface="Lato" panose="020F0502020204030203" pitchFamily="34" charset="0"/>
              </a:rPr>
              <a:t>- FastAPI, SQLite async, WebSockets</a:t>
            </a:r>
          </a:p>
          <a:p>
            <a:r>
              <a:rPr lang="en-IN" sz="760">
                <a:solidFill>
                  <a:srgbClr val="243041"/>
                </a:solidFill>
                <a:latin typeface="Lato" panose="020F0502020204030203" pitchFamily="34" charset="0"/>
              </a:rPr>
              <a:t>- React, Vite, MUI dashboard</a:t>
            </a:r>
          </a:p>
          <a:p>
            <a:r>
              <a:rPr lang="en-IN" sz="760">
                <a:solidFill>
                  <a:srgbClr val="243041"/>
                </a:solidFill>
                <a:latin typeface="Lato" panose="020F0502020204030203" pitchFamily="34" charset="0"/>
              </a:rPr>
              <a:t>- Docker Compose edge deployment</a:t>
            </a:r>
          </a:p>
        </p:txBody>
      </p: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F420A534-8C55-E3CF-4CCA-BE229DB12218}"/>
              </a:ext>
            </a:extLst>
          </p:cNvPr>
          <p:cNvSpPr/>
          <p:nvPr/>
        </p:nvSpPr>
        <p:spPr>
          <a:xfrm>
            <a:off x="1700213" y="4100513"/>
            <a:ext cx="5743575" cy="328612"/>
          </a:xfrm>
          <a:prstGeom prst="roundRect">
            <a:avLst/>
          </a:prstGeom>
          <a:solidFill>
            <a:srgbClr val="FFFFFF"/>
          </a:solidFill>
          <a:ln w="7144">
            <a:solidFill>
              <a:srgbClr val="D7E0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43619CB1-D3BC-E427-69B3-3E21F70D7738}"/>
              </a:ext>
            </a:extLst>
          </p:cNvPr>
          <p:cNvSpPr/>
          <p:nvPr/>
        </p:nvSpPr>
        <p:spPr>
          <a:xfrm>
            <a:off x="1700213" y="4100513"/>
            <a:ext cx="5743575" cy="50006"/>
          </a:xfrm>
          <a:prstGeom prst="rect">
            <a:avLst/>
          </a:prstGeom>
          <a:solidFill>
            <a:srgbClr val="D69E2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F5412FE8-F64C-3B0C-F510-465DDC6C33A3}"/>
              </a:ext>
            </a:extLst>
          </p:cNvPr>
          <p:cNvSpPr txBox="1"/>
          <p:nvPr/>
        </p:nvSpPr>
        <p:spPr>
          <a:xfrm>
            <a:off x="1828800" y="4243388"/>
            <a:ext cx="54864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900" b="1">
                <a:solidFill>
                  <a:srgbClr val="D69E2E"/>
                </a:solidFill>
                <a:latin typeface="Poppins" panose="00000500000000000000" pitchFamily="2" charset="0"/>
              </a:rPr>
              <a:t>Workshop proof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5276C49B-F758-12FC-A1C5-DEF76731B852}"/>
              </a:ext>
            </a:extLst>
          </p:cNvPr>
          <p:cNvSpPr txBox="1"/>
          <p:nvPr/>
        </p:nvSpPr>
        <p:spPr>
          <a:xfrm>
            <a:off x="1828800" y="4486275"/>
            <a:ext cx="5486400" cy="1169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760">
                <a:solidFill>
                  <a:srgbClr val="243041"/>
                </a:solidFill>
                <a:latin typeface="Lato" panose="020F0502020204030203" pitchFamily="34" charset="0"/>
              </a:rPr>
              <a:t>It reads industrial signals, reasons locally, explains machine behavior, and gates every optimization before action.</a:t>
            </a:r>
            <a:endParaRPr lang="en-IN" sz="760">
              <a:solidFill>
                <a:srgbClr val="243041"/>
              </a:solidFill>
              <a:latin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319250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E7F0C0CC-8AC2-CA7C-C986-22F09B2D9175}"/>
              </a:ext>
            </a:extLst>
          </p:cNvPr>
          <p:cNvSpPr/>
          <p:nvPr/>
        </p:nvSpPr>
        <p:spPr>
          <a:xfrm>
            <a:off x="-714375" y="-857250"/>
            <a:ext cx="2286000" cy="2286000"/>
          </a:xfrm>
          <a:prstGeom prst="ellipse">
            <a:avLst/>
          </a:prstGeom>
          <a:solidFill>
            <a:srgbClr val="E9F7F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C6E030BB-5A7D-3CD4-A912-07E2091164C1}"/>
              </a:ext>
            </a:extLst>
          </p:cNvPr>
          <p:cNvSpPr/>
          <p:nvPr/>
        </p:nvSpPr>
        <p:spPr>
          <a:xfrm>
            <a:off x="7786688" y="3571875"/>
            <a:ext cx="1857375" cy="1857375"/>
          </a:xfrm>
          <a:prstGeom prst="ellipse">
            <a:avLst/>
          </a:prstGeom>
          <a:solidFill>
            <a:srgbClr val="F7EED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7E22966-CAA7-13DF-E023-D18E50A48722}"/>
              </a:ext>
            </a:extLst>
          </p:cNvPr>
          <p:cNvSpPr/>
          <p:nvPr/>
        </p:nvSpPr>
        <p:spPr>
          <a:xfrm>
            <a:off x="500063" y="200025"/>
            <a:ext cx="457200" cy="200025"/>
          </a:xfrm>
          <a:prstGeom prst="roundRect">
            <a:avLst/>
          </a:prstGeom>
          <a:noFill/>
          <a:ln w="7144" cap="flat" cmpd="sng" algn="ctr">
            <a:solidFill>
              <a:srgbClr val="E5E7EB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E9C9B60-12C3-B54B-B0F1-ADC0365BBA7F}"/>
              </a:ext>
            </a:extLst>
          </p:cNvPr>
          <p:cNvSpPr txBox="1"/>
          <p:nvPr/>
        </p:nvSpPr>
        <p:spPr>
          <a:xfrm>
            <a:off x="564356" y="250031"/>
            <a:ext cx="328613" cy="1169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IN" sz="760" b="1">
                <a:solidFill>
                  <a:srgbClr val="64748B"/>
                </a:solidFill>
                <a:latin typeface="Aptos Mono" panose="020B0009020202020204" pitchFamily="49" charset="0"/>
              </a:rPr>
              <a:t>HOME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876FDDE-1DF5-2523-DD29-441C31670F5A}"/>
              </a:ext>
            </a:extLst>
          </p:cNvPr>
          <p:cNvSpPr/>
          <p:nvPr/>
        </p:nvSpPr>
        <p:spPr>
          <a:xfrm>
            <a:off x="1028700" y="200025"/>
            <a:ext cx="907256" cy="200025"/>
          </a:xfrm>
          <a:prstGeom prst="roundRect">
            <a:avLst/>
          </a:prstGeom>
          <a:noFill/>
          <a:ln w="7144" cap="flat" cmpd="sng" algn="ctr">
            <a:solidFill>
              <a:srgbClr val="E5E7EB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1A4FA5A-4B1B-C2A2-FB40-F2F91D1FBB24}"/>
              </a:ext>
            </a:extLst>
          </p:cNvPr>
          <p:cNvSpPr txBox="1"/>
          <p:nvPr/>
        </p:nvSpPr>
        <p:spPr>
          <a:xfrm>
            <a:off x="1092994" y="250031"/>
            <a:ext cx="778669" cy="1169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IN" sz="760" b="1">
                <a:solidFill>
                  <a:srgbClr val="64748B"/>
                </a:solidFill>
                <a:latin typeface="Aptos Mono" panose="020B0009020202020204" pitchFamily="49" charset="0"/>
              </a:rPr>
              <a:t>FOUNDATIONS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330DBEF-AC57-3C14-7465-4F1AB593EB69}"/>
              </a:ext>
            </a:extLst>
          </p:cNvPr>
          <p:cNvSpPr/>
          <p:nvPr/>
        </p:nvSpPr>
        <p:spPr>
          <a:xfrm>
            <a:off x="2007394" y="200025"/>
            <a:ext cx="521494" cy="200025"/>
          </a:xfrm>
          <a:prstGeom prst="roundRect">
            <a:avLst/>
          </a:prstGeom>
          <a:noFill/>
          <a:ln w="7144" cap="flat" cmpd="sng" algn="ctr">
            <a:solidFill>
              <a:srgbClr val="E5E7EB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9129540-DCA9-D547-5516-420988B0449A}"/>
              </a:ext>
            </a:extLst>
          </p:cNvPr>
          <p:cNvSpPr txBox="1"/>
          <p:nvPr/>
        </p:nvSpPr>
        <p:spPr>
          <a:xfrm>
            <a:off x="2071688" y="250031"/>
            <a:ext cx="392906" cy="1169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IN" sz="760" b="1">
                <a:solidFill>
                  <a:srgbClr val="64748B"/>
                </a:solidFill>
                <a:latin typeface="Aptos Mono" panose="020B0009020202020204" pitchFamily="49" charset="0"/>
              </a:rPr>
              <a:t>DEMOS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D3927055-5E20-83F2-53C1-DA77A0319D86}"/>
              </a:ext>
            </a:extLst>
          </p:cNvPr>
          <p:cNvSpPr/>
          <p:nvPr/>
        </p:nvSpPr>
        <p:spPr>
          <a:xfrm>
            <a:off x="2600325" y="200025"/>
            <a:ext cx="521494" cy="200025"/>
          </a:xfrm>
          <a:prstGeom prst="roundRect">
            <a:avLst/>
          </a:prstGeom>
          <a:noFill/>
          <a:ln w="7144" cap="flat" cmpd="sng" algn="ctr">
            <a:solidFill>
              <a:srgbClr val="E5E7EB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92B6810-40E1-6BF1-6650-15E516DBF961}"/>
              </a:ext>
            </a:extLst>
          </p:cNvPr>
          <p:cNvSpPr txBox="1"/>
          <p:nvPr/>
        </p:nvSpPr>
        <p:spPr>
          <a:xfrm>
            <a:off x="2664619" y="250031"/>
            <a:ext cx="392906" cy="1169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IN" sz="760" b="1">
                <a:solidFill>
                  <a:srgbClr val="64748B"/>
                </a:solidFill>
                <a:latin typeface="Aptos Mono" panose="020B0009020202020204" pitchFamily="49" charset="0"/>
              </a:rPr>
              <a:t>STACK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753BAB1-C8C3-2055-655A-9F185E95E1F3}"/>
              </a:ext>
            </a:extLst>
          </p:cNvPr>
          <p:cNvSpPr/>
          <p:nvPr/>
        </p:nvSpPr>
        <p:spPr>
          <a:xfrm>
            <a:off x="3193256" y="200025"/>
            <a:ext cx="842963" cy="200025"/>
          </a:xfrm>
          <a:prstGeom prst="roundRect">
            <a:avLst/>
          </a:prstGeom>
          <a:noFill/>
          <a:ln w="7144" cap="flat" cmpd="sng" algn="ctr">
            <a:solidFill>
              <a:srgbClr val="E5E7EB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F911A64-7EE5-0DDA-FD2C-24B608F0D582}"/>
              </a:ext>
            </a:extLst>
          </p:cNvPr>
          <p:cNvSpPr txBox="1"/>
          <p:nvPr/>
        </p:nvSpPr>
        <p:spPr>
          <a:xfrm>
            <a:off x="3257550" y="250031"/>
            <a:ext cx="714375" cy="1169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IN" sz="760" b="1">
                <a:solidFill>
                  <a:srgbClr val="64748B"/>
                </a:solidFill>
                <a:latin typeface="Aptos Mono" panose="020B0009020202020204" pitchFamily="49" charset="0"/>
              </a:rPr>
              <a:t>GOVERNANCE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6D239A2C-5213-A335-6F72-BDED88AAB15A}"/>
              </a:ext>
            </a:extLst>
          </p:cNvPr>
          <p:cNvSpPr/>
          <p:nvPr/>
        </p:nvSpPr>
        <p:spPr>
          <a:xfrm>
            <a:off x="4107656" y="200025"/>
            <a:ext cx="650082" cy="200025"/>
          </a:xfrm>
          <a:prstGeom prst="roundRect">
            <a:avLst/>
          </a:prstGeom>
          <a:noFill/>
          <a:ln w="7144" cap="flat" cmpd="sng" algn="ctr">
            <a:solidFill>
              <a:srgbClr val="E5E7EB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FAEF8CA-7E81-4F00-BA81-1911782CD14D}"/>
              </a:ext>
            </a:extLst>
          </p:cNvPr>
          <p:cNvSpPr txBox="1"/>
          <p:nvPr/>
        </p:nvSpPr>
        <p:spPr>
          <a:xfrm>
            <a:off x="4171950" y="250031"/>
            <a:ext cx="521494" cy="1169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IN" sz="760" b="1">
                <a:solidFill>
                  <a:srgbClr val="64748B"/>
                </a:solidFill>
                <a:latin typeface="Aptos Mono" panose="020B0009020202020204" pitchFamily="49" charset="0"/>
              </a:rPr>
              <a:t>ROADMAP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C63884CA-68D5-E4A7-6E92-4C79226E4C38}"/>
              </a:ext>
            </a:extLst>
          </p:cNvPr>
          <p:cNvSpPr/>
          <p:nvPr/>
        </p:nvSpPr>
        <p:spPr>
          <a:xfrm>
            <a:off x="4829175" y="200025"/>
            <a:ext cx="900113" cy="200025"/>
          </a:xfrm>
          <a:prstGeom prst="roundRect">
            <a:avLst/>
          </a:prstGeom>
          <a:solidFill>
            <a:srgbClr val="10A37F"/>
          </a:solidFill>
          <a:ln w="7144">
            <a:solidFill>
              <a:srgbClr val="10A37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F7CFC0A-5051-B743-A326-0E21706EA2D8}"/>
              </a:ext>
            </a:extLst>
          </p:cNvPr>
          <p:cNvSpPr txBox="1"/>
          <p:nvPr/>
        </p:nvSpPr>
        <p:spPr>
          <a:xfrm>
            <a:off x="4893469" y="250031"/>
            <a:ext cx="771525" cy="1169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IN" sz="760" b="1">
                <a:solidFill>
                  <a:srgbClr val="FFFFFF"/>
                </a:solidFill>
                <a:latin typeface="Aptos Mono" panose="020B0009020202020204" pitchFamily="49" charset="0"/>
              </a:rPr>
              <a:t>PROJECT MAP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CF24CBE-CD2F-53C2-A933-A0CA9E09758B}"/>
              </a:ext>
            </a:extLst>
          </p:cNvPr>
          <p:cNvSpPr/>
          <p:nvPr/>
        </p:nvSpPr>
        <p:spPr>
          <a:xfrm>
            <a:off x="500063" y="4557713"/>
            <a:ext cx="8143875" cy="12700"/>
          </a:xfrm>
          <a:prstGeom prst="rect">
            <a:avLst/>
          </a:prstGeom>
          <a:solidFill>
            <a:srgbClr val="E5E7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AB04AC9-1513-E6A3-23AC-4D1BCA756D94}"/>
              </a:ext>
            </a:extLst>
          </p:cNvPr>
          <p:cNvSpPr txBox="1"/>
          <p:nvPr/>
        </p:nvSpPr>
        <p:spPr>
          <a:xfrm>
            <a:off x="500063" y="4672013"/>
            <a:ext cx="3000375" cy="1169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760" b="1">
                <a:solidFill>
                  <a:srgbClr val="64748B"/>
                </a:solidFill>
                <a:latin typeface="Aptos Mono" panose="020B0009020202020204" pitchFamily="49" charset="0"/>
              </a:rPr>
              <a:t>PROJECT MAP  -  23 / 24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1B51C56-B472-12AE-1912-529050D91B66}"/>
              </a:ext>
            </a:extLst>
          </p:cNvPr>
          <p:cNvSpPr txBox="1"/>
          <p:nvPr/>
        </p:nvSpPr>
        <p:spPr>
          <a:xfrm>
            <a:off x="500063" y="585788"/>
            <a:ext cx="7429500" cy="3030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1969" b="1">
                <a:solidFill>
                  <a:srgbClr val="111827"/>
                </a:solidFill>
                <a:latin typeface="Poppins" panose="00000500000000000000" pitchFamily="2" charset="0"/>
              </a:rPr>
              <a:t>Slide-by-Slide Talking Map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A980BBC-C09A-4C20-AB5F-EC742DC72806}"/>
              </a:ext>
            </a:extLst>
          </p:cNvPr>
          <p:cNvSpPr txBox="1"/>
          <p:nvPr/>
        </p:nvSpPr>
        <p:spPr>
          <a:xfrm>
            <a:off x="514350" y="1014413"/>
            <a:ext cx="74295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>
                <a:solidFill>
                  <a:srgbClr val="243041"/>
                </a:solidFill>
                <a:latin typeface="Lato" panose="020F0502020204030203" pitchFamily="34" charset="0"/>
              </a:rPr>
              <a:t>Use this as the presenter cheat sheet: theme first, project proof second, technical competency third.</a:t>
            </a:r>
            <a:endParaRPr lang="en-IN" sz="900">
              <a:solidFill>
                <a:srgbClr val="243041"/>
              </a:solidFill>
              <a:latin typeface="Lato" panose="020F0502020204030203" pitchFamily="34" charset="0"/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17003AED-8AA0-1944-BAEF-CE2B171062F1}"/>
              </a:ext>
            </a:extLst>
          </p:cNvPr>
          <p:cNvSpPr/>
          <p:nvPr/>
        </p:nvSpPr>
        <p:spPr>
          <a:xfrm>
            <a:off x="585788" y="1585913"/>
            <a:ext cx="7972425" cy="2457450"/>
          </a:xfrm>
          <a:prstGeom prst="roundRect">
            <a:avLst/>
          </a:prstGeom>
          <a:solidFill>
            <a:srgbClr val="FFFFFF"/>
          </a:solidFill>
          <a:ln w="7144">
            <a:solidFill>
              <a:srgbClr val="D7E0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9B17F98-DF40-405D-E31F-792B5095A288}"/>
              </a:ext>
            </a:extLst>
          </p:cNvPr>
          <p:cNvSpPr txBox="1"/>
          <p:nvPr/>
        </p:nvSpPr>
        <p:spPr>
          <a:xfrm>
            <a:off x="800100" y="1757363"/>
            <a:ext cx="1500188" cy="1169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760" b="1">
                <a:solidFill>
                  <a:srgbClr val="64748B"/>
                </a:solidFill>
                <a:latin typeface="Aptos Mono" panose="020B0009020202020204" pitchFamily="49" charset="0"/>
              </a:rPr>
              <a:t>Workshop theme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0C6712A-BB7B-6AA6-C7A6-CBD5C7C61BBB}"/>
              </a:ext>
            </a:extLst>
          </p:cNvPr>
          <p:cNvSpPr txBox="1"/>
          <p:nvPr/>
        </p:nvSpPr>
        <p:spPr>
          <a:xfrm>
            <a:off x="2543175" y="1757363"/>
            <a:ext cx="4357688" cy="1169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760" b="1">
                <a:solidFill>
                  <a:srgbClr val="64748B"/>
                </a:solidFill>
                <a:latin typeface="Aptos Mono" panose="020B0009020202020204" pitchFamily="49" charset="0"/>
              </a:rPr>
              <a:t>Project proof line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FBA509C-7954-FD10-0917-1A2B86B2BBA6}"/>
              </a:ext>
            </a:extLst>
          </p:cNvPr>
          <p:cNvSpPr txBox="1"/>
          <p:nvPr/>
        </p:nvSpPr>
        <p:spPr>
          <a:xfrm>
            <a:off x="7143750" y="1757363"/>
            <a:ext cx="1071563" cy="1169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IN" sz="760" b="1">
                <a:solidFill>
                  <a:srgbClr val="64748B"/>
                </a:solidFill>
                <a:latin typeface="Aptos Mono" panose="020B0009020202020204" pitchFamily="49" charset="0"/>
              </a:rPr>
              <a:t>Competency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8BB59F5-8CFB-0936-7403-F4A2F543208C}"/>
              </a:ext>
            </a:extLst>
          </p:cNvPr>
          <p:cNvSpPr/>
          <p:nvPr/>
        </p:nvSpPr>
        <p:spPr>
          <a:xfrm>
            <a:off x="728663" y="1971675"/>
            <a:ext cx="7629525" cy="12700"/>
          </a:xfrm>
          <a:prstGeom prst="rect">
            <a:avLst/>
          </a:prstGeom>
          <a:solidFill>
            <a:srgbClr val="EEF2F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188D56F0-9614-CC87-1C09-0FE1582E50FE}"/>
              </a:ext>
            </a:extLst>
          </p:cNvPr>
          <p:cNvSpPr/>
          <p:nvPr/>
        </p:nvSpPr>
        <p:spPr>
          <a:xfrm>
            <a:off x="800100" y="2028825"/>
            <a:ext cx="1357313" cy="171450"/>
          </a:xfrm>
          <a:prstGeom prst="round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479674E-4890-3B5A-7BD7-F9228B909F57}"/>
              </a:ext>
            </a:extLst>
          </p:cNvPr>
          <p:cNvSpPr txBox="1"/>
          <p:nvPr/>
        </p:nvSpPr>
        <p:spPr>
          <a:xfrm>
            <a:off x="871538" y="2064544"/>
            <a:ext cx="1214438" cy="1169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IN" sz="760" b="1">
                <a:solidFill>
                  <a:srgbClr val="FFFFFF"/>
                </a:solidFill>
                <a:latin typeface="Aptos Mono" panose="020B0009020202020204" pitchFamily="49" charset="0"/>
              </a:rPr>
              <a:t>Capability map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712E844-86D1-4F85-4D17-2A777D0D588B}"/>
              </a:ext>
            </a:extLst>
          </p:cNvPr>
          <p:cNvSpPr txBox="1"/>
          <p:nvPr/>
        </p:nvSpPr>
        <p:spPr>
          <a:xfrm>
            <a:off x="2543175" y="2043113"/>
            <a:ext cx="4143375" cy="1169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it-IT" sz="760">
                <a:solidFill>
                  <a:srgbClr val="243041"/>
                </a:solidFill>
                <a:latin typeface="Lato" panose="020F0502020204030203" pitchFamily="34" charset="0"/>
              </a:rPr>
              <a:t>Axiom = business AI; Mastiff = data AI; OEE Box = edge AI</a:t>
            </a:r>
            <a:endParaRPr lang="en-IN" sz="760">
              <a:solidFill>
                <a:srgbClr val="243041"/>
              </a:solidFill>
              <a:latin typeface="Lato" panose="020F0502020204030203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B89529B-72FF-4FF4-73A0-2344FF2B83D8}"/>
              </a:ext>
            </a:extLst>
          </p:cNvPr>
          <p:cNvSpPr txBox="1"/>
          <p:nvPr/>
        </p:nvSpPr>
        <p:spPr>
          <a:xfrm>
            <a:off x="7172325" y="2043113"/>
            <a:ext cx="1000125" cy="1169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IN" sz="760" b="1">
                <a:solidFill>
                  <a:srgbClr val="2563EB"/>
                </a:solidFill>
                <a:latin typeface="Aptos Mono" panose="020B0009020202020204" pitchFamily="49" charset="0"/>
              </a:rPr>
              <a:t>RAG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FEF9A8F-81EE-F204-CACD-23C7D4EEFDED}"/>
              </a:ext>
            </a:extLst>
          </p:cNvPr>
          <p:cNvSpPr/>
          <p:nvPr/>
        </p:nvSpPr>
        <p:spPr>
          <a:xfrm>
            <a:off x="728663" y="2243138"/>
            <a:ext cx="7629525" cy="12700"/>
          </a:xfrm>
          <a:prstGeom prst="rect">
            <a:avLst/>
          </a:prstGeom>
          <a:solidFill>
            <a:srgbClr val="EEF2F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586918C1-CC5A-94DB-CA73-C5E4A13FF18D}"/>
              </a:ext>
            </a:extLst>
          </p:cNvPr>
          <p:cNvSpPr/>
          <p:nvPr/>
        </p:nvSpPr>
        <p:spPr>
          <a:xfrm>
            <a:off x="800100" y="2300288"/>
            <a:ext cx="1357313" cy="171450"/>
          </a:xfrm>
          <a:prstGeom prst="roundRect">
            <a:avLst/>
          </a:prstGeom>
          <a:solidFill>
            <a:srgbClr val="10A37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42F51A5-7459-6A62-A796-3BBACB261904}"/>
              </a:ext>
            </a:extLst>
          </p:cNvPr>
          <p:cNvSpPr txBox="1"/>
          <p:nvPr/>
        </p:nvSpPr>
        <p:spPr>
          <a:xfrm>
            <a:off x="871538" y="2336006"/>
            <a:ext cx="1214438" cy="1169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IN" sz="760" b="1">
                <a:solidFill>
                  <a:srgbClr val="FFFFFF"/>
                </a:solidFill>
                <a:latin typeface="Aptos Mono" panose="020B0009020202020204" pitchFamily="49" charset="0"/>
              </a:rPr>
              <a:t>RAG pipeline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2913ACF-3D7C-1635-D142-DBC389EE2B31}"/>
              </a:ext>
            </a:extLst>
          </p:cNvPr>
          <p:cNvSpPr txBox="1"/>
          <p:nvPr/>
        </p:nvSpPr>
        <p:spPr>
          <a:xfrm>
            <a:off x="2543175" y="2314575"/>
            <a:ext cx="4143375" cy="1169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760">
                <a:solidFill>
                  <a:srgbClr val="243041"/>
                </a:solidFill>
                <a:latin typeface="Lato" panose="020F0502020204030203" pitchFamily="34" charset="0"/>
              </a:rPr>
              <a:t>OEE manuals copilot; Axiom evidence-grounded answers and audit posture</a:t>
            </a:r>
            <a:endParaRPr lang="en-IN" sz="760">
              <a:solidFill>
                <a:srgbClr val="243041"/>
              </a:solidFill>
              <a:latin typeface="Lato" panose="020F0502020204030203" pitchFamily="34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50613D0-DCCF-50B7-9BCF-CD150912C422}"/>
              </a:ext>
            </a:extLst>
          </p:cNvPr>
          <p:cNvSpPr txBox="1"/>
          <p:nvPr/>
        </p:nvSpPr>
        <p:spPr>
          <a:xfrm>
            <a:off x="7172325" y="2314575"/>
            <a:ext cx="1000125" cy="1169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IN" sz="760" b="1">
                <a:solidFill>
                  <a:srgbClr val="10A37F"/>
                </a:solidFill>
                <a:latin typeface="Aptos Mono" panose="020B0009020202020204" pitchFamily="49" charset="0"/>
              </a:rPr>
              <a:t>RAG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B57A3112-5962-E234-DDE1-D1EF9A765969}"/>
              </a:ext>
            </a:extLst>
          </p:cNvPr>
          <p:cNvSpPr/>
          <p:nvPr/>
        </p:nvSpPr>
        <p:spPr>
          <a:xfrm>
            <a:off x="728663" y="2514600"/>
            <a:ext cx="7629525" cy="12700"/>
          </a:xfrm>
          <a:prstGeom prst="rect">
            <a:avLst/>
          </a:prstGeom>
          <a:solidFill>
            <a:srgbClr val="EEF2F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A9A5F8EA-ED9A-BC7E-E92F-7422E8CAE5EA}"/>
              </a:ext>
            </a:extLst>
          </p:cNvPr>
          <p:cNvSpPr/>
          <p:nvPr/>
        </p:nvSpPr>
        <p:spPr>
          <a:xfrm>
            <a:off x="800100" y="2571750"/>
            <a:ext cx="1357313" cy="171450"/>
          </a:xfrm>
          <a:prstGeom prst="roundRect">
            <a:avLst/>
          </a:prstGeom>
          <a:solidFill>
            <a:srgbClr val="7C3AE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E9DD723-8058-C5B2-B25D-FF1FDDE36FD9}"/>
              </a:ext>
            </a:extLst>
          </p:cNvPr>
          <p:cNvSpPr txBox="1"/>
          <p:nvPr/>
        </p:nvSpPr>
        <p:spPr>
          <a:xfrm>
            <a:off x="871538" y="2607469"/>
            <a:ext cx="1214438" cy="1169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IN" sz="760" b="1">
                <a:solidFill>
                  <a:srgbClr val="FFFFFF"/>
                </a:solidFill>
                <a:latin typeface="Aptos Mono" panose="020B0009020202020204" pitchFamily="49" charset="0"/>
              </a:rPr>
              <a:t>Document intelligence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3A85E12-7744-F601-3403-523EDBB152AE}"/>
              </a:ext>
            </a:extLst>
          </p:cNvPr>
          <p:cNvSpPr txBox="1"/>
          <p:nvPr/>
        </p:nvSpPr>
        <p:spPr>
          <a:xfrm>
            <a:off x="2543175" y="2586038"/>
            <a:ext cx="4143375" cy="1169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760">
                <a:solidFill>
                  <a:srgbClr val="243041"/>
                </a:solidFill>
                <a:latin typeface="Lato" panose="020F0502020204030203" pitchFamily="34" charset="0"/>
              </a:rPr>
              <a:t>Axiom invoice OCR/upload routes; Mastiff file parsing and schema extraction</a:t>
            </a:r>
            <a:endParaRPr lang="en-IN" sz="760">
              <a:solidFill>
                <a:srgbClr val="243041"/>
              </a:solidFill>
              <a:latin typeface="Lato" panose="020F0502020204030203" pitchFamily="34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4D42C3D-0AE2-2005-B97B-84A2C0198B0F}"/>
              </a:ext>
            </a:extLst>
          </p:cNvPr>
          <p:cNvSpPr txBox="1"/>
          <p:nvPr/>
        </p:nvSpPr>
        <p:spPr>
          <a:xfrm>
            <a:off x="7172325" y="2586038"/>
            <a:ext cx="1000125" cy="1169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IN" sz="760" b="1">
                <a:solidFill>
                  <a:srgbClr val="7C3AED"/>
                </a:solidFill>
                <a:latin typeface="Aptos Mono" panose="020B0009020202020204" pitchFamily="49" charset="0"/>
              </a:rPr>
              <a:t>ML/data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E652D7FB-9F91-3C85-D22C-BC2E9E6B8EA5}"/>
              </a:ext>
            </a:extLst>
          </p:cNvPr>
          <p:cNvSpPr/>
          <p:nvPr/>
        </p:nvSpPr>
        <p:spPr>
          <a:xfrm>
            <a:off x="728663" y="2786063"/>
            <a:ext cx="7629525" cy="12700"/>
          </a:xfrm>
          <a:prstGeom prst="rect">
            <a:avLst/>
          </a:prstGeom>
          <a:solidFill>
            <a:srgbClr val="EEF2F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82D75BC0-1A53-737C-94C3-7B333A5F4B99}"/>
              </a:ext>
            </a:extLst>
          </p:cNvPr>
          <p:cNvSpPr/>
          <p:nvPr/>
        </p:nvSpPr>
        <p:spPr>
          <a:xfrm>
            <a:off x="800100" y="2843213"/>
            <a:ext cx="1357313" cy="171450"/>
          </a:xfrm>
          <a:prstGeom prst="roundRect">
            <a:avLst/>
          </a:prstGeom>
          <a:solidFill>
            <a:srgbClr val="D69E2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5604F22-BC55-D3C1-EC78-8102903A9F0C}"/>
              </a:ext>
            </a:extLst>
          </p:cNvPr>
          <p:cNvSpPr txBox="1"/>
          <p:nvPr/>
        </p:nvSpPr>
        <p:spPr>
          <a:xfrm>
            <a:off x="871538" y="2878931"/>
            <a:ext cx="1214438" cy="1169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IN" sz="760" b="1">
                <a:solidFill>
                  <a:srgbClr val="FFFFFF"/>
                </a:solidFill>
                <a:latin typeface="Aptos Mono" panose="020B0009020202020204" pitchFamily="49" charset="0"/>
              </a:rPr>
              <a:t>Predictive ML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E37D5E1-1BEB-2149-20A5-0F2F59BE0EEF}"/>
              </a:ext>
            </a:extLst>
          </p:cNvPr>
          <p:cNvSpPr txBox="1"/>
          <p:nvPr/>
        </p:nvSpPr>
        <p:spPr>
          <a:xfrm>
            <a:off x="2543175" y="2857500"/>
            <a:ext cx="4143375" cy="1169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760">
                <a:solidFill>
                  <a:srgbClr val="243041"/>
                </a:solidFill>
                <a:latin typeface="Lato" panose="020F0502020204030203" pitchFamily="34" charset="0"/>
              </a:rPr>
              <a:t>Axiom demand forecast and supplier scoring; OEE RL/predictive health roadmap</a:t>
            </a:r>
            <a:endParaRPr lang="en-IN" sz="760">
              <a:solidFill>
                <a:srgbClr val="243041"/>
              </a:solidFill>
              <a:latin typeface="Lato" panose="020F0502020204030203" pitchFamily="34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1F449FB-C6A3-BFBC-EA78-EAC0541D1D6C}"/>
              </a:ext>
            </a:extLst>
          </p:cNvPr>
          <p:cNvSpPr txBox="1"/>
          <p:nvPr/>
        </p:nvSpPr>
        <p:spPr>
          <a:xfrm>
            <a:off x="7172325" y="2857500"/>
            <a:ext cx="1000125" cy="1169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IN" sz="760" b="1">
                <a:solidFill>
                  <a:srgbClr val="D69E2E"/>
                </a:solidFill>
                <a:latin typeface="Aptos Mono" panose="020B0009020202020204" pitchFamily="49" charset="0"/>
              </a:rPr>
              <a:t>ML/data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88BEEEE5-64CE-1E87-BDC1-947E272F371E}"/>
              </a:ext>
            </a:extLst>
          </p:cNvPr>
          <p:cNvSpPr/>
          <p:nvPr/>
        </p:nvSpPr>
        <p:spPr>
          <a:xfrm>
            <a:off x="728663" y="3057525"/>
            <a:ext cx="7629525" cy="12700"/>
          </a:xfrm>
          <a:prstGeom prst="rect">
            <a:avLst/>
          </a:prstGeom>
          <a:solidFill>
            <a:srgbClr val="EEF2F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14CBBC64-74BB-6A8F-9ABE-F6117193D481}"/>
              </a:ext>
            </a:extLst>
          </p:cNvPr>
          <p:cNvSpPr/>
          <p:nvPr/>
        </p:nvSpPr>
        <p:spPr>
          <a:xfrm>
            <a:off x="800100" y="3114675"/>
            <a:ext cx="1357313" cy="171450"/>
          </a:xfrm>
          <a:prstGeom prst="roundRect">
            <a:avLst/>
          </a:prstGeom>
          <a:solidFill>
            <a:srgbClr val="E76F5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CD1E2E7-9DF4-469C-6CD6-82F5FFD86CA0}"/>
              </a:ext>
            </a:extLst>
          </p:cNvPr>
          <p:cNvSpPr txBox="1"/>
          <p:nvPr/>
        </p:nvSpPr>
        <p:spPr>
          <a:xfrm>
            <a:off x="871538" y="3150394"/>
            <a:ext cx="1214438" cy="1169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IN" sz="760" b="1">
                <a:solidFill>
                  <a:srgbClr val="FFFFFF"/>
                </a:solidFill>
                <a:latin typeface="Aptos Mono" panose="020B0009020202020204" pitchFamily="49" charset="0"/>
              </a:rPr>
              <a:t>Agentic workflow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F9DF37F-C6DB-B410-2424-F1DB46852B5C}"/>
              </a:ext>
            </a:extLst>
          </p:cNvPr>
          <p:cNvSpPr txBox="1"/>
          <p:nvPr/>
        </p:nvSpPr>
        <p:spPr>
          <a:xfrm>
            <a:off x="2543175" y="3128963"/>
            <a:ext cx="4143375" cy="1169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760">
                <a:solidFill>
                  <a:srgbClr val="243041"/>
                </a:solidFill>
                <a:latin typeface="Lato" panose="020F0502020204030203" pitchFamily="34" charset="0"/>
              </a:rPr>
              <a:t>Axiom agent orchestrator; OEE command gatekeeper; Mastiff sandboxed code tool</a:t>
            </a:r>
            <a:endParaRPr lang="en-IN" sz="760">
              <a:solidFill>
                <a:srgbClr val="243041"/>
              </a:solidFill>
              <a:latin typeface="Lato" panose="020F0502020204030203" pitchFamily="34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DEA161C-2F7A-9E1C-94E4-2514B5D0103B}"/>
              </a:ext>
            </a:extLst>
          </p:cNvPr>
          <p:cNvSpPr txBox="1"/>
          <p:nvPr/>
        </p:nvSpPr>
        <p:spPr>
          <a:xfrm>
            <a:off x="7172325" y="3128963"/>
            <a:ext cx="1000125" cy="1169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IN" sz="760" b="1">
                <a:solidFill>
                  <a:srgbClr val="E76F51"/>
                </a:solidFill>
                <a:latin typeface="Aptos Mono" panose="020B0009020202020204" pitchFamily="49" charset="0"/>
              </a:rPr>
              <a:t>APIs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AD3E69CB-CD0C-E107-7BAD-53E8C29E22AD}"/>
              </a:ext>
            </a:extLst>
          </p:cNvPr>
          <p:cNvSpPr/>
          <p:nvPr/>
        </p:nvSpPr>
        <p:spPr>
          <a:xfrm>
            <a:off x="728663" y="3328988"/>
            <a:ext cx="7629525" cy="12700"/>
          </a:xfrm>
          <a:prstGeom prst="rect">
            <a:avLst/>
          </a:prstGeom>
          <a:solidFill>
            <a:srgbClr val="EEF2F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F5450C74-035E-F11B-C7C9-D534532137F6}"/>
              </a:ext>
            </a:extLst>
          </p:cNvPr>
          <p:cNvSpPr/>
          <p:nvPr/>
        </p:nvSpPr>
        <p:spPr>
          <a:xfrm>
            <a:off x="800100" y="3386138"/>
            <a:ext cx="1357313" cy="171450"/>
          </a:xfrm>
          <a:prstGeom prst="roundRect">
            <a:avLst/>
          </a:prstGeom>
          <a:solidFill>
            <a:srgbClr val="22A06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A929F4F-94A0-7EC0-F3EC-D55197436A99}"/>
              </a:ext>
            </a:extLst>
          </p:cNvPr>
          <p:cNvSpPr txBox="1"/>
          <p:nvPr/>
        </p:nvSpPr>
        <p:spPr>
          <a:xfrm>
            <a:off x="871538" y="3421856"/>
            <a:ext cx="1214438" cy="1169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IN" sz="760" b="1">
                <a:solidFill>
                  <a:srgbClr val="FFFFFF"/>
                </a:solidFill>
                <a:latin typeface="Aptos Mono" panose="020B0009020202020204" pitchFamily="49" charset="0"/>
              </a:rPr>
              <a:t>API topology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5D88485-E2F0-A81A-1A37-19C9143B20B8}"/>
              </a:ext>
            </a:extLst>
          </p:cNvPr>
          <p:cNvSpPr txBox="1"/>
          <p:nvPr/>
        </p:nvSpPr>
        <p:spPr>
          <a:xfrm>
            <a:off x="2543175" y="3400425"/>
            <a:ext cx="4143375" cy="1169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760">
                <a:solidFill>
                  <a:srgbClr val="243041"/>
                </a:solidFill>
                <a:latin typeface="Lato" panose="020F0502020204030203" pitchFamily="34" charset="0"/>
              </a:rPr>
              <a:t>SAP/API routes, cron jobs, queues, email, Blob, Redis, Postgres, MQTT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47C47F2-70A9-875F-D012-D66046790DBD}"/>
              </a:ext>
            </a:extLst>
          </p:cNvPr>
          <p:cNvSpPr txBox="1"/>
          <p:nvPr/>
        </p:nvSpPr>
        <p:spPr>
          <a:xfrm>
            <a:off x="7172325" y="3400425"/>
            <a:ext cx="1000125" cy="1169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IN" sz="760" b="1">
                <a:solidFill>
                  <a:srgbClr val="22A06B"/>
                </a:solidFill>
                <a:latin typeface="Aptos Mono" panose="020B0009020202020204" pitchFamily="49" charset="0"/>
              </a:rPr>
              <a:t>APIs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5878AE1C-1F6F-DC14-56C8-E3D3EB67B6BA}"/>
              </a:ext>
            </a:extLst>
          </p:cNvPr>
          <p:cNvSpPr/>
          <p:nvPr/>
        </p:nvSpPr>
        <p:spPr>
          <a:xfrm>
            <a:off x="728663" y="3600450"/>
            <a:ext cx="7629525" cy="12700"/>
          </a:xfrm>
          <a:prstGeom prst="rect">
            <a:avLst/>
          </a:prstGeom>
          <a:solidFill>
            <a:srgbClr val="EEF2F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DDFC12C8-B779-3740-14BC-78AA20F773D2}"/>
              </a:ext>
            </a:extLst>
          </p:cNvPr>
          <p:cNvSpPr/>
          <p:nvPr/>
        </p:nvSpPr>
        <p:spPr>
          <a:xfrm>
            <a:off x="800100" y="3657600"/>
            <a:ext cx="1357313" cy="171450"/>
          </a:xfrm>
          <a:prstGeom prst="roundRect">
            <a:avLst/>
          </a:prstGeom>
          <a:solidFill>
            <a:srgbClr val="33415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B9BF4B8-E0FC-3C30-BB97-7D3AD97DE8E8}"/>
              </a:ext>
            </a:extLst>
          </p:cNvPr>
          <p:cNvSpPr txBox="1"/>
          <p:nvPr/>
        </p:nvSpPr>
        <p:spPr>
          <a:xfrm>
            <a:off x="871538" y="3693319"/>
            <a:ext cx="1214438" cy="2339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IN" sz="760" b="1">
                <a:solidFill>
                  <a:srgbClr val="FFFFFF"/>
                </a:solidFill>
                <a:latin typeface="Aptos Mono" panose="020B0009020202020204" pitchFamily="49" charset="0"/>
              </a:rPr>
              <a:t>Developer intelligence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4FABB5E-4E61-EC3B-625C-C54F2FE16F2C}"/>
              </a:ext>
            </a:extLst>
          </p:cNvPr>
          <p:cNvSpPr txBox="1"/>
          <p:nvPr/>
        </p:nvSpPr>
        <p:spPr>
          <a:xfrm>
            <a:off x="2543175" y="3671888"/>
            <a:ext cx="4143375" cy="1169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760">
                <a:solidFill>
                  <a:srgbClr val="243041"/>
                </a:solidFill>
                <a:latin typeface="Lato" panose="020F0502020204030203" pitchFamily="34" charset="0"/>
              </a:rPr>
              <a:t>Next.js, React, FastAPI, Docker, typed validation, tests, telemetry</a:t>
            </a:r>
            <a:endParaRPr lang="en-IN" sz="760">
              <a:solidFill>
                <a:srgbClr val="243041"/>
              </a:solidFill>
              <a:latin typeface="Lato" panose="020F0502020204030203" pitchFamily="34" charset="0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D327816-A605-CFFF-8DC5-96E7B705F68B}"/>
              </a:ext>
            </a:extLst>
          </p:cNvPr>
          <p:cNvSpPr txBox="1"/>
          <p:nvPr/>
        </p:nvSpPr>
        <p:spPr>
          <a:xfrm>
            <a:off x="7172325" y="3671888"/>
            <a:ext cx="1000125" cy="1169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IN" sz="760" b="1">
                <a:solidFill>
                  <a:srgbClr val="334155"/>
                </a:solidFill>
                <a:latin typeface="Aptos Mono" panose="020B0009020202020204" pitchFamily="49" charset="0"/>
              </a:rPr>
              <a:t>code</a:t>
            </a:r>
          </a:p>
        </p:txBody>
      </p: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0D56D157-B126-7997-C5E6-D6C666C7F659}"/>
              </a:ext>
            </a:extLst>
          </p:cNvPr>
          <p:cNvSpPr/>
          <p:nvPr/>
        </p:nvSpPr>
        <p:spPr>
          <a:xfrm>
            <a:off x="1285875" y="4214813"/>
            <a:ext cx="6572250" cy="300037"/>
          </a:xfrm>
          <a:prstGeom prst="roundRect">
            <a:avLst/>
          </a:prstGeom>
          <a:solidFill>
            <a:srgbClr val="FFFFFF"/>
          </a:solidFill>
          <a:ln w="7144">
            <a:solidFill>
              <a:srgbClr val="D7E0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1EC92392-18BD-7741-CBCD-36CC6BBB7620}"/>
              </a:ext>
            </a:extLst>
          </p:cNvPr>
          <p:cNvSpPr/>
          <p:nvPr/>
        </p:nvSpPr>
        <p:spPr>
          <a:xfrm>
            <a:off x="1285875" y="4214813"/>
            <a:ext cx="6572250" cy="50006"/>
          </a:xfrm>
          <a:prstGeom prst="rect">
            <a:avLst/>
          </a:prstGeom>
          <a:solidFill>
            <a:srgbClr val="10A37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A3302DA-388C-6FF8-AC6E-75769A92B2F4}"/>
              </a:ext>
            </a:extLst>
          </p:cNvPr>
          <p:cNvSpPr txBox="1"/>
          <p:nvPr/>
        </p:nvSpPr>
        <p:spPr>
          <a:xfrm>
            <a:off x="1414463" y="4357688"/>
            <a:ext cx="6315075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900" b="1">
                <a:solidFill>
                  <a:srgbClr val="10A37F"/>
                </a:solidFill>
                <a:latin typeface="Poppins" panose="00000500000000000000" pitchFamily="2" charset="0"/>
              </a:rPr>
              <a:t>Presenter rhythm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87205413-77A5-58EF-D714-723605AC99DD}"/>
              </a:ext>
            </a:extLst>
          </p:cNvPr>
          <p:cNvSpPr txBox="1"/>
          <p:nvPr/>
        </p:nvSpPr>
        <p:spPr>
          <a:xfrm>
            <a:off x="1414463" y="4600575"/>
            <a:ext cx="6315075" cy="1169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760">
                <a:solidFill>
                  <a:srgbClr val="243041"/>
                </a:solidFill>
                <a:latin typeface="Lato" panose="020F0502020204030203" pitchFamily="34" charset="0"/>
              </a:rPr>
              <a:t>For every concept slide, say: here is the pattern, here is where we used it, here is the engineering control that makes it reliable.</a:t>
            </a:r>
            <a:endParaRPr lang="en-IN" sz="760">
              <a:solidFill>
                <a:srgbClr val="243041"/>
              </a:solidFill>
              <a:latin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669982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D26EDCE9-B199-D4EC-EE0C-C2D6D3AF9312}"/>
              </a:ext>
            </a:extLst>
          </p:cNvPr>
          <p:cNvSpPr/>
          <p:nvPr/>
        </p:nvSpPr>
        <p:spPr>
          <a:xfrm>
            <a:off x="-714375" y="-857250"/>
            <a:ext cx="2286000" cy="2286000"/>
          </a:xfrm>
          <a:prstGeom prst="ellipse">
            <a:avLst/>
          </a:prstGeom>
          <a:solidFill>
            <a:srgbClr val="E9F7F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93272AE2-DB6F-298A-63F2-B1B1CB3A4F4F}"/>
              </a:ext>
            </a:extLst>
          </p:cNvPr>
          <p:cNvSpPr/>
          <p:nvPr/>
        </p:nvSpPr>
        <p:spPr>
          <a:xfrm>
            <a:off x="7786688" y="3571875"/>
            <a:ext cx="1857375" cy="1857375"/>
          </a:xfrm>
          <a:prstGeom prst="ellipse">
            <a:avLst/>
          </a:prstGeom>
          <a:solidFill>
            <a:srgbClr val="F7EED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7643E5F-116B-19B6-E007-43F22E216B6A}"/>
              </a:ext>
            </a:extLst>
          </p:cNvPr>
          <p:cNvSpPr/>
          <p:nvPr/>
        </p:nvSpPr>
        <p:spPr>
          <a:xfrm>
            <a:off x="500063" y="200025"/>
            <a:ext cx="457200" cy="200025"/>
          </a:xfrm>
          <a:prstGeom prst="roundRect">
            <a:avLst/>
          </a:prstGeom>
          <a:noFill/>
          <a:ln w="7144" cap="flat" cmpd="sng" algn="ctr">
            <a:solidFill>
              <a:srgbClr val="E5E7EB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F1E0B9A-E3C8-30CC-C769-98D1FA6F7B14}"/>
              </a:ext>
            </a:extLst>
          </p:cNvPr>
          <p:cNvSpPr txBox="1"/>
          <p:nvPr/>
        </p:nvSpPr>
        <p:spPr>
          <a:xfrm>
            <a:off x="564356" y="250031"/>
            <a:ext cx="328613" cy="1169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IN" sz="760" b="1">
                <a:solidFill>
                  <a:srgbClr val="64748B"/>
                </a:solidFill>
                <a:latin typeface="Aptos Mono" panose="020B0009020202020204" pitchFamily="49" charset="0"/>
              </a:rPr>
              <a:t>HOME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838374E-8879-027A-C1BA-E4B18E070B93}"/>
              </a:ext>
            </a:extLst>
          </p:cNvPr>
          <p:cNvSpPr/>
          <p:nvPr/>
        </p:nvSpPr>
        <p:spPr>
          <a:xfrm>
            <a:off x="1028700" y="200025"/>
            <a:ext cx="907256" cy="200025"/>
          </a:xfrm>
          <a:prstGeom prst="roundRect">
            <a:avLst/>
          </a:prstGeom>
          <a:noFill/>
          <a:ln w="7144" cap="flat" cmpd="sng" algn="ctr">
            <a:solidFill>
              <a:srgbClr val="E5E7EB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1A71BCF-D34D-93BE-1C23-E2EBE4244506}"/>
              </a:ext>
            </a:extLst>
          </p:cNvPr>
          <p:cNvSpPr txBox="1"/>
          <p:nvPr/>
        </p:nvSpPr>
        <p:spPr>
          <a:xfrm>
            <a:off x="1092994" y="250031"/>
            <a:ext cx="778669" cy="1169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IN" sz="760" b="1">
                <a:solidFill>
                  <a:srgbClr val="64748B"/>
                </a:solidFill>
                <a:latin typeface="Aptos Mono" panose="020B0009020202020204" pitchFamily="49" charset="0"/>
              </a:rPr>
              <a:t>FOUNDATIONS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419225A-0560-531A-BECA-3FB755FA4343}"/>
              </a:ext>
            </a:extLst>
          </p:cNvPr>
          <p:cNvSpPr/>
          <p:nvPr/>
        </p:nvSpPr>
        <p:spPr>
          <a:xfrm>
            <a:off x="2007394" y="200025"/>
            <a:ext cx="521494" cy="200025"/>
          </a:xfrm>
          <a:prstGeom prst="roundRect">
            <a:avLst/>
          </a:prstGeom>
          <a:noFill/>
          <a:ln w="7144" cap="flat" cmpd="sng" algn="ctr">
            <a:solidFill>
              <a:srgbClr val="E5E7EB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E21F4FF-698B-66D9-4464-501EC4A903E4}"/>
              </a:ext>
            </a:extLst>
          </p:cNvPr>
          <p:cNvSpPr txBox="1"/>
          <p:nvPr/>
        </p:nvSpPr>
        <p:spPr>
          <a:xfrm>
            <a:off x="2071688" y="250031"/>
            <a:ext cx="392906" cy="1169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IN" sz="760" b="1">
                <a:solidFill>
                  <a:srgbClr val="64748B"/>
                </a:solidFill>
                <a:latin typeface="Aptos Mono" panose="020B0009020202020204" pitchFamily="49" charset="0"/>
              </a:rPr>
              <a:t>DEMOS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5EF352C-8EB6-9B1A-1A3F-F3C305F14DDD}"/>
              </a:ext>
            </a:extLst>
          </p:cNvPr>
          <p:cNvSpPr/>
          <p:nvPr/>
        </p:nvSpPr>
        <p:spPr>
          <a:xfrm>
            <a:off x="2600325" y="200025"/>
            <a:ext cx="521494" cy="200025"/>
          </a:xfrm>
          <a:prstGeom prst="roundRect">
            <a:avLst/>
          </a:prstGeom>
          <a:noFill/>
          <a:ln w="7144" cap="flat" cmpd="sng" algn="ctr">
            <a:solidFill>
              <a:srgbClr val="E5E7EB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5DD71D4-D964-D83C-F9E2-8EB83ACBEE2A}"/>
              </a:ext>
            </a:extLst>
          </p:cNvPr>
          <p:cNvSpPr txBox="1"/>
          <p:nvPr/>
        </p:nvSpPr>
        <p:spPr>
          <a:xfrm>
            <a:off x="2664619" y="250031"/>
            <a:ext cx="392906" cy="1169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IN" sz="760" b="1">
                <a:solidFill>
                  <a:srgbClr val="64748B"/>
                </a:solidFill>
                <a:latin typeface="Aptos Mono" panose="020B0009020202020204" pitchFamily="49" charset="0"/>
              </a:rPr>
              <a:t>STACK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997A267-344E-D6F4-91FF-FCD5F7B567FD}"/>
              </a:ext>
            </a:extLst>
          </p:cNvPr>
          <p:cNvSpPr/>
          <p:nvPr/>
        </p:nvSpPr>
        <p:spPr>
          <a:xfrm>
            <a:off x="3193256" y="200025"/>
            <a:ext cx="842963" cy="200025"/>
          </a:xfrm>
          <a:prstGeom prst="roundRect">
            <a:avLst/>
          </a:prstGeom>
          <a:noFill/>
          <a:ln w="7144" cap="flat" cmpd="sng" algn="ctr">
            <a:solidFill>
              <a:srgbClr val="E5E7EB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2E1A275-FA71-19DC-DFF1-AACBC22FA208}"/>
              </a:ext>
            </a:extLst>
          </p:cNvPr>
          <p:cNvSpPr txBox="1"/>
          <p:nvPr/>
        </p:nvSpPr>
        <p:spPr>
          <a:xfrm>
            <a:off x="3257550" y="250031"/>
            <a:ext cx="714375" cy="1169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IN" sz="760" b="1">
                <a:solidFill>
                  <a:srgbClr val="64748B"/>
                </a:solidFill>
                <a:latin typeface="Aptos Mono" panose="020B0009020202020204" pitchFamily="49" charset="0"/>
              </a:rPr>
              <a:t>GOVERNANCE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2D8F7B8B-C3AC-ABD1-68E1-74FEB5539414}"/>
              </a:ext>
            </a:extLst>
          </p:cNvPr>
          <p:cNvSpPr/>
          <p:nvPr/>
        </p:nvSpPr>
        <p:spPr>
          <a:xfrm>
            <a:off x="4107656" y="200025"/>
            <a:ext cx="650082" cy="200025"/>
          </a:xfrm>
          <a:prstGeom prst="roundRect">
            <a:avLst/>
          </a:prstGeom>
          <a:noFill/>
          <a:ln w="7144" cap="flat" cmpd="sng" algn="ctr">
            <a:solidFill>
              <a:srgbClr val="E5E7EB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445EDED-70E1-E7AB-79DD-046414804BC7}"/>
              </a:ext>
            </a:extLst>
          </p:cNvPr>
          <p:cNvSpPr txBox="1"/>
          <p:nvPr/>
        </p:nvSpPr>
        <p:spPr>
          <a:xfrm>
            <a:off x="4171950" y="250031"/>
            <a:ext cx="521494" cy="1169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IN" sz="760" b="1">
                <a:solidFill>
                  <a:srgbClr val="64748B"/>
                </a:solidFill>
                <a:latin typeface="Aptos Mono" panose="020B0009020202020204" pitchFamily="49" charset="0"/>
              </a:rPr>
              <a:t>ROADMAP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6A4B4C0F-8D20-3796-0EEE-AFF9082AE7AA}"/>
              </a:ext>
            </a:extLst>
          </p:cNvPr>
          <p:cNvSpPr/>
          <p:nvPr/>
        </p:nvSpPr>
        <p:spPr>
          <a:xfrm>
            <a:off x="4829175" y="200025"/>
            <a:ext cx="900113" cy="200025"/>
          </a:xfrm>
          <a:prstGeom prst="roundRect">
            <a:avLst/>
          </a:prstGeom>
          <a:solidFill>
            <a:srgbClr val="10A37F"/>
          </a:solidFill>
          <a:ln w="7144">
            <a:solidFill>
              <a:srgbClr val="10A37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F0B37F9-03D9-BE78-6664-69EA7609E334}"/>
              </a:ext>
            </a:extLst>
          </p:cNvPr>
          <p:cNvSpPr txBox="1"/>
          <p:nvPr/>
        </p:nvSpPr>
        <p:spPr>
          <a:xfrm>
            <a:off x="4893469" y="250031"/>
            <a:ext cx="771525" cy="1169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IN" sz="760" b="1">
                <a:solidFill>
                  <a:srgbClr val="FFFFFF"/>
                </a:solidFill>
                <a:latin typeface="Aptos Mono" panose="020B0009020202020204" pitchFamily="49" charset="0"/>
              </a:rPr>
              <a:t>PROJECT MAP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1FF1B7F-5C25-6AB5-930D-E7534BAF569F}"/>
              </a:ext>
            </a:extLst>
          </p:cNvPr>
          <p:cNvSpPr/>
          <p:nvPr/>
        </p:nvSpPr>
        <p:spPr>
          <a:xfrm>
            <a:off x="500063" y="4557713"/>
            <a:ext cx="8143875" cy="12700"/>
          </a:xfrm>
          <a:prstGeom prst="rect">
            <a:avLst/>
          </a:prstGeom>
          <a:solidFill>
            <a:srgbClr val="E5E7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75990C7-DD13-3D68-60A7-8504E4539231}"/>
              </a:ext>
            </a:extLst>
          </p:cNvPr>
          <p:cNvSpPr txBox="1"/>
          <p:nvPr/>
        </p:nvSpPr>
        <p:spPr>
          <a:xfrm>
            <a:off x="500063" y="4672013"/>
            <a:ext cx="3000375" cy="1169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760" b="1">
                <a:solidFill>
                  <a:srgbClr val="64748B"/>
                </a:solidFill>
                <a:latin typeface="Aptos Mono" panose="020B0009020202020204" pitchFamily="49" charset="0"/>
              </a:rPr>
              <a:t>PROJECT MAP  -  24 / 24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CFB281A-0622-73DA-9209-C4772D4902BD}"/>
              </a:ext>
            </a:extLst>
          </p:cNvPr>
          <p:cNvSpPr txBox="1"/>
          <p:nvPr/>
        </p:nvSpPr>
        <p:spPr>
          <a:xfrm>
            <a:off x="500063" y="585788"/>
            <a:ext cx="7429500" cy="3030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1969" b="1">
                <a:solidFill>
                  <a:srgbClr val="111827"/>
                </a:solidFill>
                <a:latin typeface="Poppins" panose="00000500000000000000" pitchFamily="2" charset="0"/>
              </a:rPr>
              <a:t>Live Demo Run Sheet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9A4EA6C-413F-BAC9-162E-B8DECB87C799}"/>
              </a:ext>
            </a:extLst>
          </p:cNvPr>
          <p:cNvSpPr txBox="1"/>
          <p:nvPr/>
        </p:nvSpPr>
        <p:spPr>
          <a:xfrm>
            <a:off x="514350" y="1014413"/>
            <a:ext cx="74295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>
                <a:solidFill>
                  <a:srgbClr val="243041"/>
                </a:solidFill>
                <a:latin typeface="Lato" panose="020F0502020204030203" pitchFamily="34" charset="0"/>
              </a:rPr>
              <a:t>A practical path for the seven-hour workshop: show breadth, then show code-level and system-level depth.</a:t>
            </a:r>
            <a:endParaRPr lang="en-IN" sz="900">
              <a:solidFill>
                <a:srgbClr val="243041"/>
              </a:solidFill>
              <a:latin typeface="Lato" panose="020F0502020204030203" pitchFamily="34" charset="0"/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0A532585-C4C9-FF64-89C6-122375BF3599}"/>
              </a:ext>
            </a:extLst>
          </p:cNvPr>
          <p:cNvSpPr/>
          <p:nvPr/>
        </p:nvSpPr>
        <p:spPr>
          <a:xfrm>
            <a:off x="614363" y="1585913"/>
            <a:ext cx="2414587" cy="1314450"/>
          </a:xfrm>
          <a:prstGeom prst="roundRect">
            <a:avLst/>
          </a:prstGeom>
          <a:solidFill>
            <a:srgbClr val="FFFFFF"/>
          </a:solidFill>
          <a:ln w="7144">
            <a:solidFill>
              <a:srgbClr val="D7E0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230639C7-6AB9-845B-9884-5B1AA10DF04E}"/>
              </a:ext>
            </a:extLst>
          </p:cNvPr>
          <p:cNvSpPr/>
          <p:nvPr/>
        </p:nvSpPr>
        <p:spPr>
          <a:xfrm>
            <a:off x="714375" y="1685925"/>
            <a:ext cx="1271588" cy="200025"/>
          </a:xfrm>
          <a:prstGeom prst="round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74A41CD-F506-A37C-6CCA-E18B49A45191}"/>
              </a:ext>
            </a:extLst>
          </p:cNvPr>
          <p:cNvSpPr txBox="1"/>
          <p:nvPr/>
        </p:nvSpPr>
        <p:spPr>
          <a:xfrm>
            <a:off x="785813" y="1721644"/>
            <a:ext cx="1128713" cy="1169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IN" sz="760" b="1">
                <a:solidFill>
                  <a:srgbClr val="FFFFFF"/>
                </a:solidFill>
                <a:latin typeface="Aptos Mono" panose="020B0009020202020204" pitchFamily="49" charset="0"/>
              </a:rPr>
              <a:t>Axiom business AI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EA6EE75-6FC7-1B42-3FA5-A3E9D721A4C0}"/>
              </a:ext>
            </a:extLst>
          </p:cNvPr>
          <p:cNvSpPr txBox="1"/>
          <p:nvPr/>
        </p:nvSpPr>
        <p:spPr>
          <a:xfrm>
            <a:off x="742950" y="2000250"/>
            <a:ext cx="2157413" cy="3508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760">
                <a:solidFill>
                  <a:srgbClr val="243041"/>
                </a:solidFill>
                <a:latin typeface="Lato" panose="020F0502020204030203" pitchFamily="34" charset="0"/>
              </a:rPr>
              <a:t>- Open dashboard or supplier view</a:t>
            </a:r>
          </a:p>
          <a:p>
            <a:r>
              <a:rPr lang="en-US" sz="760">
                <a:solidFill>
                  <a:srgbClr val="243041"/>
                </a:solidFill>
                <a:latin typeface="Lato" panose="020F0502020204030203" pitchFamily="34" charset="0"/>
              </a:rPr>
              <a:t>- Show risk/forecast/agent recommendation</a:t>
            </a:r>
          </a:p>
          <a:p>
            <a:r>
              <a:rPr lang="en-US" sz="760">
                <a:solidFill>
                  <a:srgbClr val="243041"/>
                </a:solidFill>
                <a:latin typeface="Lato" panose="020F0502020204030203" pitchFamily="34" charset="0"/>
              </a:rPr>
              <a:t>- Point to audit, queue, API, validation path</a:t>
            </a:r>
            <a:endParaRPr lang="en-IN" sz="760">
              <a:solidFill>
                <a:srgbClr val="243041"/>
              </a:solidFill>
              <a:latin typeface="Lato" panose="020F0502020204030203" pitchFamily="34" charset="0"/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465EB301-EEE9-8B91-D67E-D7F6DC458D61}"/>
              </a:ext>
            </a:extLst>
          </p:cNvPr>
          <p:cNvSpPr/>
          <p:nvPr/>
        </p:nvSpPr>
        <p:spPr>
          <a:xfrm>
            <a:off x="3457575" y="1585913"/>
            <a:ext cx="2414588" cy="1314450"/>
          </a:xfrm>
          <a:prstGeom prst="roundRect">
            <a:avLst/>
          </a:prstGeom>
          <a:solidFill>
            <a:srgbClr val="FFFFFF"/>
          </a:solidFill>
          <a:ln w="7144">
            <a:solidFill>
              <a:srgbClr val="D7E0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571FE734-4A62-3ACF-53B5-7C067005D287}"/>
              </a:ext>
            </a:extLst>
          </p:cNvPr>
          <p:cNvSpPr/>
          <p:nvPr/>
        </p:nvSpPr>
        <p:spPr>
          <a:xfrm>
            <a:off x="3557588" y="1685925"/>
            <a:ext cx="1443037" cy="200025"/>
          </a:xfrm>
          <a:prstGeom prst="roundRect">
            <a:avLst/>
          </a:prstGeom>
          <a:solidFill>
            <a:srgbClr val="10A37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4CDF518-6750-D1A5-E082-212C28AC024E}"/>
              </a:ext>
            </a:extLst>
          </p:cNvPr>
          <p:cNvSpPr txBox="1"/>
          <p:nvPr/>
        </p:nvSpPr>
        <p:spPr>
          <a:xfrm>
            <a:off x="3629025" y="1721644"/>
            <a:ext cx="1300163" cy="1169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IN" sz="760" b="1">
                <a:solidFill>
                  <a:srgbClr val="FFFFFF"/>
                </a:solidFill>
                <a:latin typeface="Aptos Mono" panose="020B0009020202020204" pitchFamily="49" charset="0"/>
              </a:rPr>
              <a:t>Mastiff data analyst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A95CC58-CAC0-E311-F741-E5BC5DAEA4AA}"/>
              </a:ext>
            </a:extLst>
          </p:cNvPr>
          <p:cNvSpPr txBox="1"/>
          <p:nvPr/>
        </p:nvSpPr>
        <p:spPr>
          <a:xfrm>
            <a:off x="3586163" y="2000250"/>
            <a:ext cx="2157413" cy="3508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760">
                <a:solidFill>
                  <a:srgbClr val="243041"/>
                </a:solidFill>
                <a:latin typeface="Lato" panose="020F0502020204030203" pitchFamily="34" charset="0"/>
              </a:rPr>
              <a:t>- Upload a dataset</a:t>
            </a:r>
          </a:p>
          <a:p>
            <a:r>
              <a:rPr lang="en-US" sz="760">
                <a:solidFill>
                  <a:srgbClr val="243041"/>
                </a:solidFill>
                <a:latin typeface="Lato" panose="020F0502020204030203" pitchFamily="34" charset="0"/>
              </a:rPr>
              <a:t>- Ask a natural-language question</a:t>
            </a:r>
          </a:p>
          <a:p>
            <a:r>
              <a:rPr lang="en-US" sz="760">
                <a:solidFill>
                  <a:srgbClr val="243041"/>
                </a:solidFill>
                <a:latin typeface="Lato" panose="020F0502020204030203" pitchFamily="34" charset="0"/>
              </a:rPr>
              <a:t>- Inspect generated Python, chart, and export</a:t>
            </a:r>
            <a:endParaRPr lang="en-IN" sz="760">
              <a:solidFill>
                <a:srgbClr val="243041"/>
              </a:solidFill>
              <a:latin typeface="Lato" panose="020F0502020204030203" pitchFamily="34" charset="0"/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65BF270-B9AD-E67B-B13F-A9A6B5DC1375}"/>
              </a:ext>
            </a:extLst>
          </p:cNvPr>
          <p:cNvSpPr/>
          <p:nvPr/>
        </p:nvSpPr>
        <p:spPr>
          <a:xfrm>
            <a:off x="6300788" y="1585913"/>
            <a:ext cx="2414587" cy="1314450"/>
          </a:xfrm>
          <a:prstGeom prst="roundRect">
            <a:avLst/>
          </a:prstGeom>
          <a:solidFill>
            <a:srgbClr val="FFFFFF"/>
          </a:solidFill>
          <a:ln w="7144">
            <a:solidFill>
              <a:srgbClr val="D7E0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ECEE9A5A-0E4B-F5C8-78EF-64E90AE07605}"/>
              </a:ext>
            </a:extLst>
          </p:cNvPr>
          <p:cNvSpPr/>
          <p:nvPr/>
        </p:nvSpPr>
        <p:spPr>
          <a:xfrm>
            <a:off x="6400800" y="1685925"/>
            <a:ext cx="1157288" cy="200025"/>
          </a:xfrm>
          <a:prstGeom prst="roundRect">
            <a:avLst/>
          </a:prstGeom>
          <a:solidFill>
            <a:srgbClr val="D69E2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AA431D1-79E9-6514-F960-242B3ACFFF88}"/>
              </a:ext>
            </a:extLst>
          </p:cNvPr>
          <p:cNvSpPr txBox="1"/>
          <p:nvPr/>
        </p:nvSpPr>
        <p:spPr>
          <a:xfrm>
            <a:off x="6472238" y="1721644"/>
            <a:ext cx="1014413" cy="1169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IN" sz="760" b="1">
                <a:solidFill>
                  <a:srgbClr val="FFFFFF"/>
                </a:solidFill>
                <a:latin typeface="Aptos Mono" panose="020B0009020202020204" pitchFamily="49" charset="0"/>
              </a:rPr>
              <a:t>OEE Box edge AI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CB917AE-2AA4-B48D-6EBD-BE23D5E0341C}"/>
              </a:ext>
            </a:extLst>
          </p:cNvPr>
          <p:cNvSpPr txBox="1"/>
          <p:nvPr/>
        </p:nvSpPr>
        <p:spPr>
          <a:xfrm>
            <a:off x="6429375" y="2000250"/>
            <a:ext cx="2157413" cy="3508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760">
                <a:solidFill>
                  <a:srgbClr val="243041"/>
                </a:solidFill>
                <a:latin typeface="Lato" panose="020F0502020204030203" pitchFamily="34" charset="0"/>
              </a:rPr>
              <a:t>- Simulate machine telemetry</a:t>
            </a:r>
          </a:p>
          <a:p>
            <a:r>
              <a:rPr lang="en-US" sz="760">
                <a:solidFill>
                  <a:srgbClr val="243041"/>
                </a:solidFill>
                <a:latin typeface="Lato" panose="020F0502020204030203" pitchFamily="34" charset="0"/>
              </a:rPr>
              <a:t>- Ask why OEE dropped</a:t>
            </a:r>
          </a:p>
          <a:p>
            <a:r>
              <a:rPr lang="en-US" sz="760">
                <a:solidFill>
                  <a:srgbClr val="243041"/>
                </a:solidFill>
                <a:latin typeface="Lato" panose="020F0502020204030203" pitchFamily="34" charset="0"/>
              </a:rPr>
              <a:t>- Show RAG answer, trust score, gatekeeper</a:t>
            </a:r>
            <a:endParaRPr lang="en-IN" sz="760">
              <a:solidFill>
                <a:srgbClr val="243041"/>
              </a:solidFill>
              <a:latin typeface="Lato" panose="020F0502020204030203" pitchFamily="34" charset="0"/>
            </a:endParaRP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974F4FFC-7B4A-7C67-08F8-58B61216CE93}"/>
              </a:ext>
            </a:extLst>
          </p:cNvPr>
          <p:cNvSpPr/>
          <p:nvPr/>
        </p:nvSpPr>
        <p:spPr>
          <a:xfrm>
            <a:off x="857250" y="3228975"/>
            <a:ext cx="7429500" cy="600075"/>
          </a:xfrm>
          <a:prstGeom prst="roundRect">
            <a:avLst/>
          </a:prstGeom>
          <a:solidFill>
            <a:srgbClr val="11182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95194A2-DFEA-6E51-ECF7-58C336A1A42B}"/>
              </a:ext>
            </a:extLst>
          </p:cNvPr>
          <p:cNvSpPr txBox="1"/>
          <p:nvPr/>
        </p:nvSpPr>
        <p:spPr>
          <a:xfrm>
            <a:off x="1100138" y="3386138"/>
            <a:ext cx="1857375" cy="1169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760" b="1">
                <a:solidFill>
                  <a:srgbClr val="CBD5E1"/>
                </a:solidFill>
                <a:latin typeface="Aptos Mono" panose="020B0009020202020204" pitchFamily="49" charset="0"/>
              </a:rPr>
              <a:t>Closing proof statement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52250F8-DA41-D971-4576-8E8A07698F9C}"/>
              </a:ext>
            </a:extLst>
          </p:cNvPr>
          <p:cNvSpPr txBox="1"/>
          <p:nvPr/>
        </p:nvSpPr>
        <p:spPr>
          <a:xfrm>
            <a:off x="1100138" y="3557588"/>
            <a:ext cx="6858000" cy="31175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13" b="1">
                <a:solidFill>
                  <a:srgbClr val="FFFFFF"/>
                </a:solidFill>
                <a:latin typeface="Poppins" panose="00000500000000000000" pitchFamily="2" charset="0"/>
              </a:rPr>
              <a:t>We are not only prompting models. We are connecting AI to data, APIs, workflows, jobs, security controls, tests, dashboards, and measurable business outcomes.</a:t>
            </a:r>
            <a:endParaRPr lang="en-IN" sz="1013" b="1">
              <a:solidFill>
                <a:srgbClr val="FFFFFF"/>
              </a:solidFill>
              <a:latin typeface="Poppins" panose="00000500000000000000" pitchFamily="2" charset="0"/>
            </a:endParaRP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86890B0B-8CE6-A5EE-A28B-ADA120ED80A5}"/>
              </a:ext>
            </a:extLst>
          </p:cNvPr>
          <p:cNvSpPr/>
          <p:nvPr/>
        </p:nvSpPr>
        <p:spPr>
          <a:xfrm>
            <a:off x="1042988" y="4071938"/>
            <a:ext cx="2014537" cy="371475"/>
          </a:xfrm>
          <a:prstGeom prst="roundRect">
            <a:avLst/>
          </a:prstGeom>
          <a:solidFill>
            <a:srgbClr val="FFFFFF"/>
          </a:solidFill>
          <a:ln w="7144">
            <a:solidFill>
              <a:srgbClr val="D7E0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3709DFD8-D774-84DC-6A1C-426392E9961E}"/>
              </a:ext>
            </a:extLst>
          </p:cNvPr>
          <p:cNvSpPr/>
          <p:nvPr/>
        </p:nvSpPr>
        <p:spPr>
          <a:xfrm>
            <a:off x="1143000" y="4171950"/>
            <a:ext cx="700088" cy="200025"/>
          </a:xfrm>
          <a:prstGeom prst="round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2160EE6-E501-57F2-6399-F49BE4D1F6D5}"/>
              </a:ext>
            </a:extLst>
          </p:cNvPr>
          <p:cNvSpPr txBox="1"/>
          <p:nvPr/>
        </p:nvSpPr>
        <p:spPr>
          <a:xfrm>
            <a:off x="1214438" y="4207669"/>
            <a:ext cx="557213" cy="1169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IN" sz="760" b="1">
                <a:solidFill>
                  <a:srgbClr val="FFFFFF"/>
                </a:solidFill>
                <a:latin typeface="Aptos Mono" panose="020B0009020202020204" pitchFamily="49" charset="0"/>
              </a:rPr>
              <a:t>Breadth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E1E48AC-21E5-A8CE-EADE-695A68F19833}"/>
              </a:ext>
            </a:extLst>
          </p:cNvPr>
          <p:cNvSpPr txBox="1"/>
          <p:nvPr/>
        </p:nvSpPr>
        <p:spPr>
          <a:xfrm>
            <a:off x="1171575" y="4486275"/>
            <a:ext cx="1757363" cy="2339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760">
                <a:solidFill>
                  <a:srgbClr val="243041"/>
                </a:solidFill>
                <a:latin typeface="Lato" panose="020F0502020204030203" pitchFamily="34" charset="0"/>
              </a:rPr>
              <a:t>- LLMs, RAG, ML, agents, vision-ready flows</a:t>
            </a:r>
            <a:endParaRPr lang="en-IN" sz="760">
              <a:solidFill>
                <a:srgbClr val="243041"/>
              </a:solidFill>
              <a:latin typeface="Lato" panose="020F0502020204030203" pitchFamily="34" charset="0"/>
            </a:endParaRP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B5640A84-89E4-B89B-3947-79988F7BDA6B}"/>
              </a:ext>
            </a:extLst>
          </p:cNvPr>
          <p:cNvSpPr/>
          <p:nvPr/>
        </p:nvSpPr>
        <p:spPr>
          <a:xfrm>
            <a:off x="3557588" y="4071938"/>
            <a:ext cx="2014537" cy="371475"/>
          </a:xfrm>
          <a:prstGeom prst="roundRect">
            <a:avLst/>
          </a:prstGeom>
          <a:solidFill>
            <a:srgbClr val="FFFFFF"/>
          </a:solidFill>
          <a:ln w="7144">
            <a:solidFill>
              <a:srgbClr val="D7E0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B0C9CC39-2EB1-1514-926C-C5451E3C6BAB}"/>
              </a:ext>
            </a:extLst>
          </p:cNvPr>
          <p:cNvSpPr/>
          <p:nvPr/>
        </p:nvSpPr>
        <p:spPr>
          <a:xfrm>
            <a:off x="3657600" y="4171950"/>
            <a:ext cx="585788" cy="200025"/>
          </a:xfrm>
          <a:prstGeom prst="roundRect">
            <a:avLst/>
          </a:prstGeom>
          <a:solidFill>
            <a:srgbClr val="10A37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E5442F6-1BD8-46BD-9785-234F5CDA2D20}"/>
              </a:ext>
            </a:extLst>
          </p:cNvPr>
          <p:cNvSpPr txBox="1"/>
          <p:nvPr/>
        </p:nvSpPr>
        <p:spPr>
          <a:xfrm>
            <a:off x="3729038" y="4207669"/>
            <a:ext cx="442913" cy="1169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IN" sz="760" b="1">
                <a:solidFill>
                  <a:srgbClr val="FFFFFF"/>
                </a:solidFill>
                <a:latin typeface="Aptos Mono" panose="020B0009020202020204" pitchFamily="49" charset="0"/>
              </a:rPr>
              <a:t>Depth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E6BEEE5-01AE-3F1B-89E2-DEC0E56D2A93}"/>
              </a:ext>
            </a:extLst>
          </p:cNvPr>
          <p:cNvSpPr txBox="1"/>
          <p:nvPr/>
        </p:nvSpPr>
        <p:spPr>
          <a:xfrm>
            <a:off x="3686175" y="4486275"/>
            <a:ext cx="1757363" cy="2339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760">
                <a:solidFill>
                  <a:srgbClr val="243041"/>
                </a:solidFill>
                <a:latin typeface="Lato" panose="020F0502020204030203" pitchFamily="34" charset="0"/>
              </a:rPr>
              <a:t>- Full-stack apps, APIs, queues, data, cloud</a:t>
            </a:r>
            <a:endParaRPr lang="en-IN" sz="760">
              <a:solidFill>
                <a:srgbClr val="243041"/>
              </a:solidFill>
              <a:latin typeface="Lato" panose="020F0502020204030203" pitchFamily="34" charset="0"/>
            </a:endParaRP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95491C90-7E0E-47F9-9119-0766F46F5F9C}"/>
              </a:ext>
            </a:extLst>
          </p:cNvPr>
          <p:cNvSpPr/>
          <p:nvPr/>
        </p:nvSpPr>
        <p:spPr>
          <a:xfrm>
            <a:off x="6072188" y="4071938"/>
            <a:ext cx="2014537" cy="371475"/>
          </a:xfrm>
          <a:prstGeom prst="roundRect">
            <a:avLst/>
          </a:prstGeom>
          <a:solidFill>
            <a:srgbClr val="FFFFFF"/>
          </a:solidFill>
          <a:ln w="7144">
            <a:solidFill>
              <a:srgbClr val="D7E0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AA001B65-20E5-AE48-50BE-A56074D992C0}"/>
              </a:ext>
            </a:extLst>
          </p:cNvPr>
          <p:cNvSpPr/>
          <p:nvPr/>
        </p:nvSpPr>
        <p:spPr>
          <a:xfrm>
            <a:off x="6172200" y="4171950"/>
            <a:ext cx="757238" cy="200025"/>
          </a:xfrm>
          <a:prstGeom prst="roundRect">
            <a:avLst/>
          </a:prstGeom>
          <a:solidFill>
            <a:srgbClr val="E76F5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C9BFA28-DC55-6BE0-D3CA-BF461B23D08D}"/>
              </a:ext>
            </a:extLst>
          </p:cNvPr>
          <p:cNvSpPr txBox="1"/>
          <p:nvPr/>
        </p:nvSpPr>
        <p:spPr>
          <a:xfrm>
            <a:off x="6243638" y="4207669"/>
            <a:ext cx="614363" cy="1169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IN" sz="760" b="1">
                <a:solidFill>
                  <a:srgbClr val="FFFFFF"/>
                </a:solidFill>
                <a:latin typeface="Aptos Mono" panose="020B0009020202020204" pitchFamily="49" charset="0"/>
              </a:rPr>
              <a:t>Maturity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7BEB41E-5B4F-625E-ECC2-A28B9FC6E198}"/>
              </a:ext>
            </a:extLst>
          </p:cNvPr>
          <p:cNvSpPr txBox="1"/>
          <p:nvPr/>
        </p:nvSpPr>
        <p:spPr>
          <a:xfrm>
            <a:off x="6200775" y="4486275"/>
            <a:ext cx="1757363" cy="2339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760">
                <a:solidFill>
                  <a:srgbClr val="243041"/>
                </a:solidFill>
                <a:latin typeface="Lato" panose="020F0502020204030203" pitchFamily="34" charset="0"/>
              </a:rPr>
              <a:t>- Guardrails, audit, tests, telemetry, fallbacks</a:t>
            </a:r>
            <a:endParaRPr lang="en-IN" sz="760">
              <a:solidFill>
                <a:srgbClr val="243041"/>
              </a:solidFill>
              <a:latin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02516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2574</Words>
  <Application>Microsoft Office PowerPoint</Application>
  <PresentationFormat>On-screen Show (16:9)</PresentationFormat>
  <Paragraphs>611</Paragraphs>
  <Slides>24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1" baseType="lpstr">
      <vt:lpstr>Aptos Mono</vt:lpstr>
      <vt:lpstr>Arial</vt:lpstr>
      <vt:lpstr>Calibri</vt:lpstr>
      <vt:lpstr>Georgia</vt:lpstr>
      <vt:lpstr>Lato</vt:lpstr>
      <vt:lpstr>Poppins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Workshop — Interactive Showcase</dc:title>
  <dc:subject>PptxGenJS Presentation</dc:subject>
  <dc:creator>AI Workshop</dc:creator>
  <cp:lastModifiedBy>Shayana, Anantha</cp:lastModifiedBy>
  <cp:revision>3</cp:revision>
  <dcterms:created xsi:type="dcterms:W3CDTF">2026-04-22T11:37:05Z</dcterms:created>
  <dcterms:modified xsi:type="dcterms:W3CDTF">2026-04-22T12:11:17Z</dcterms:modified>
</cp:coreProperties>
</file>