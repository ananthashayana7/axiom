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2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f8e1c8c7d641a1" /><Relationship Type="http://schemas.openxmlformats.org/officeDocument/2006/relationships/extended-properties" Target="/docProps/app.xml" Id="R0f563375cfaa4104" /><Relationship Type="http://schemas.openxmlformats.org/officeDocument/2006/relationships/officeDocument" Target="/ppt/presentation.xml" Id="R73f935b3976541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41d8dba2c34953"/>
  </p:sldMasterIdLst>
  <p:notesMasterIdLst>
    <p:notesMasterId xmlns:r="http://schemas.openxmlformats.org/officeDocument/2006/relationships" r:id="R2bb0e880019a44ee"/>
  </p:notesMasterIdLst>
  <p:sldIdLst>
    <p:sldId xmlns:r="http://schemas.openxmlformats.org/officeDocument/2006/relationships" id="256" r:id="R900eb2a68b624221"/>
    <p:sldId xmlns:r="http://schemas.openxmlformats.org/officeDocument/2006/relationships" id="257" r:id="R9aca01810f364d21"/>
    <p:sldId xmlns:r="http://schemas.openxmlformats.org/officeDocument/2006/relationships" id="258" r:id="R9093414a5312405a"/>
    <p:sldId xmlns:r="http://schemas.openxmlformats.org/officeDocument/2006/relationships" id="259" r:id="Rce1f16a42ac84b63"/>
    <p:sldId xmlns:r="http://schemas.openxmlformats.org/officeDocument/2006/relationships" id="260" r:id="R29ee702d996840a4"/>
    <p:sldId xmlns:r="http://schemas.openxmlformats.org/officeDocument/2006/relationships" id="261" r:id="Rc6f9d5331acc4573"/>
    <p:sldId xmlns:r="http://schemas.openxmlformats.org/officeDocument/2006/relationships" id="262" r:id="R772dfd9bcd55430c"/>
    <p:sldId xmlns:r="http://schemas.openxmlformats.org/officeDocument/2006/relationships" id="263" r:id="Racc21fb83dff42ac"/>
    <p:sldId xmlns:r="http://schemas.openxmlformats.org/officeDocument/2006/relationships" id="264" r:id="R0c5aef9ad8064f93"/>
    <p:sldId xmlns:r="http://schemas.openxmlformats.org/officeDocument/2006/relationships" id="265" r:id="R1f21b7d044354b30"/>
    <p:sldId xmlns:r="http://schemas.openxmlformats.org/officeDocument/2006/relationships" id="266" r:id="R570f2bebafda4c1c"/>
    <p:sldId xmlns:r="http://schemas.openxmlformats.org/officeDocument/2006/relationships" id="267" r:id="R85d471abf4d84333"/>
    <p:sldId xmlns:r="http://schemas.openxmlformats.org/officeDocument/2006/relationships" id="268" r:id="Rd857ac71383b4e40"/>
    <p:sldId xmlns:r="http://schemas.openxmlformats.org/officeDocument/2006/relationships" id="269" r:id="R93accfc977474acb"/>
    <p:sldId xmlns:r="http://schemas.openxmlformats.org/officeDocument/2006/relationships" id="270" r:id="Rcb82e3c6fa054a0f"/>
    <p:sldId xmlns:r="http://schemas.openxmlformats.org/officeDocument/2006/relationships" id="271" r:id="Ref15f5ebfea9411c"/>
    <p:sldId xmlns:r="http://schemas.openxmlformats.org/officeDocument/2006/relationships" id="272" r:id="R513cd2d40e4f47bf"/>
    <p:sldId xmlns:r="http://schemas.openxmlformats.org/officeDocument/2006/relationships" id="273" r:id="Rcde7dc04d5f14250"/>
    <p:sldId xmlns:r="http://schemas.openxmlformats.org/officeDocument/2006/relationships" id="274" r:id="R64d7a18d67344b30"/>
    <p:sldId xmlns:r="http://schemas.openxmlformats.org/officeDocument/2006/relationships" id="275" r:id="R06aebd02e6dd4406"/>
    <p:sldId xmlns:r="http://schemas.openxmlformats.org/officeDocument/2006/relationships" id="276" r:id="R668371a6a09d4eb9"/>
    <p:sldId xmlns:r="http://schemas.openxmlformats.org/officeDocument/2006/relationships" id="277" r:id="Rbfe555891017477f"/>
    <p:sldId xmlns:r="http://schemas.openxmlformats.org/officeDocument/2006/relationships" id="278" r:id="R1a5128bd713d48cb"/>
    <p:sldId xmlns:r="http://schemas.openxmlformats.org/officeDocument/2006/relationships" id="279" r:id="Rfc86b38b3620404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41d8dba2c34953" /><Relationship Type="http://schemas.openxmlformats.org/officeDocument/2006/relationships/theme" Target="/ppt/theme/theme1.xml" Id="R10e646c3d5b04a00" /><Relationship Type="http://schemas.openxmlformats.org/officeDocument/2006/relationships/notesMaster" Target="/ppt/notesMasters/notesMaster1.xml" Id="R2bb0e880019a44ee" /><Relationship Type="http://schemas.openxmlformats.org/officeDocument/2006/relationships/presProps" Target="/ppt/presProps.xml" Id="R23878b88cb754b08" /><Relationship Type="http://schemas.openxmlformats.org/officeDocument/2006/relationships/viewProps" Target="/ppt/viewProps.xml" Id="Rc5de632c6e654bea" /><Relationship Type="http://schemas.openxmlformats.org/officeDocument/2006/relationships/tableStyles" Target="/ppt/tableStyles.xml" Id="R0cf6a7bf84914ccb" /><Relationship Type="http://schemas.openxmlformats.org/officeDocument/2006/relationships/slide" Target="/ppt/slides/slide1.xml" Id="R900eb2a68b624221" /><Relationship Type="http://schemas.openxmlformats.org/officeDocument/2006/relationships/slide" Target="/ppt/slides/slide2.xml" Id="R9aca01810f364d21" /><Relationship Type="http://schemas.openxmlformats.org/officeDocument/2006/relationships/slide" Target="/ppt/slides/slide3.xml" Id="R9093414a5312405a" /><Relationship Type="http://schemas.openxmlformats.org/officeDocument/2006/relationships/slide" Target="/ppt/slides/slide4.xml" Id="Rce1f16a42ac84b63" /><Relationship Type="http://schemas.openxmlformats.org/officeDocument/2006/relationships/slide" Target="/ppt/slides/slide5.xml" Id="R29ee702d996840a4" /><Relationship Type="http://schemas.openxmlformats.org/officeDocument/2006/relationships/slide" Target="/ppt/slides/slide6.xml" Id="Rc6f9d5331acc4573" /><Relationship Type="http://schemas.openxmlformats.org/officeDocument/2006/relationships/slide" Target="/ppt/slides/slide7.xml" Id="R772dfd9bcd55430c" /><Relationship Type="http://schemas.openxmlformats.org/officeDocument/2006/relationships/slide" Target="/ppt/slides/slide8.xml" Id="Racc21fb83dff42ac" /><Relationship Type="http://schemas.openxmlformats.org/officeDocument/2006/relationships/slide" Target="/ppt/slides/slide9.xml" Id="R0c5aef9ad8064f93" /><Relationship Type="http://schemas.openxmlformats.org/officeDocument/2006/relationships/slide" Target="/ppt/slides/slide10.xml" Id="R1f21b7d044354b30" /><Relationship Type="http://schemas.openxmlformats.org/officeDocument/2006/relationships/slide" Target="/ppt/slides/slide11.xml" Id="R570f2bebafda4c1c" /><Relationship Type="http://schemas.openxmlformats.org/officeDocument/2006/relationships/slide" Target="/ppt/slides/slide12.xml" Id="R85d471abf4d84333" /><Relationship Type="http://schemas.openxmlformats.org/officeDocument/2006/relationships/slide" Target="/ppt/slides/slide13.xml" Id="Rd857ac71383b4e40" /><Relationship Type="http://schemas.openxmlformats.org/officeDocument/2006/relationships/slide" Target="/ppt/slides/slide14.xml" Id="R93accfc977474acb" /><Relationship Type="http://schemas.openxmlformats.org/officeDocument/2006/relationships/slide" Target="/ppt/slides/slide15.xml" Id="Rcb82e3c6fa054a0f" /><Relationship Type="http://schemas.openxmlformats.org/officeDocument/2006/relationships/slide" Target="/ppt/slides/slide16.xml" Id="Ref15f5ebfea9411c" /><Relationship Type="http://schemas.openxmlformats.org/officeDocument/2006/relationships/slide" Target="/ppt/slides/slide17.xml" Id="R513cd2d40e4f47bf" /><Relationship Type="http://schemas.openxmlformats.org/officeDocument/2006/relationships/slide" Target="/ppt/slides/slide18.xml" Id="Rcde7dc04d5f14250" /><Relationship Type="http://schemas.openxmlformats.org/officeDocument/2006/relationships/slide" Target="/ppt/slides/slide19.xml" Id="R64d7a18d67344b30" /><Relationship Type="http://schemas.openxmlformats.org/officeDocument/2006/relationships/slide" Target="/ppt/slides/slide20.xml" Id="R06aebd02e6dd4406" /><Relationship Type="http://schemas.openxmlformats.org/officeDocument/2006/relationships/slide" Target="/ppt/slides/slide21.xml" Id="R668371a6a09d4eb9" /><Relationship Type="http://schemas.openxmlformats.org/officeDocument/2006/relationships/slide" Target="/ppt/slides/slide22.xml" Id="Rbfe555891017477f" /><Relationship Type="http://schemas.openxmlformats.org/officeDocument/2006/relationships/slide" Target="/ppt/slides/slide23.xml" Id="R1a5128bd713d48cb" /><Relationship Type="http://schemas.openxmlformats.org/officeDocument/2006/relationships/slide" Target="/ppt/slides/slide24.xml" Id="Rfc86b38b362040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ff2650259cf42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AI Workshop">
  <a:themeElements>
    <a:clrScheme name="AI Workshop">
      <a:accent1>
        <a:srgbClr val="10A37F"/>
      </a:accent1>
      <a:accent2>
        <a:srgbClr val="2563EB"/>
      </a:accent2>
      <a:accent3>
        <a:srgbClr val="D69E2E"/>
      </a:accent3>
      <a:accent4>
        <a:srgbClr val="E76F51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I Workshop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adafb3ad334c1b" /><Relationship Type="http://schemas.openxmlformats.org/officeDocument/2006/relationships/notesMaster" Target="/ppt/notesMasters/notesMaster1.xml" Id="R221eccfba4b549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29a48844564801" /><Relationship Type="http://schemas.openxmlformats.org/officeDocument/2006/relationships/notesMaster" Target="/ppt/notesMasters/notesMaster1.xml" Id="Rd4146801481843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d06cdcdde8462d" /><Relationship Type="http://schemas.openxmlformats.org/officeDocument/2006/relationships/notesMaster" Target="/ppt/notesMasters/notesMaster1.xml" Id="R5e281c432e8649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d59689cded4042" /><Relationship Type="http://schemas.openxmlformats.org/officeDocument/2006/relationships/notesMaster" Target="/ppt/notesMasters/notesMaster1.xml" Id="Rcb9dd68b47174d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0039c5fd7540cc" /><Relationship Type="http://schemas.openxmlformats.org/officeDocument/2006/relationships/notesMaster" Target="/ppt/notesMasters/notesMaster1.xml" Id="Ra33a45e6a25748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b3bdae52b048a8" /><Relationship Type="http://schemas.openxmlformats.org/officeDocument/2006/relationships/notesMaster" Target="/ppt/notesMasters/notesMaster1.xml" Id="Rf47f29721d0e4c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11d3265adf4b3f" /><Relationship Type="http://schemas.openxmlformats.org/officeDocument/2006/relationships/notesMaster" Target="/ppt/notesMasters/notesMaster1.xml" Id="Rfd63d583a42247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869b4e677b4992" /><Relationship Type="http://schemas.openxmlformats.org/officeDocument/2006/relationships/notesMaster" Target="/ppt/notesMasters/notesMaster1.xml" Id="R21822c1b408243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c84f45599743ab" /><Relationship Type="http://schemas.openxmlformats.org/officeDocument/2006/relationships/notesMaster" Target="/ppt/notesMasters/notesMaster1.xml" Id="Rc3f44f5ec29b4f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4de8412e8b41bc" /><Relationship Type="http://schemas.openxmlformats.org/officeDocument/2006/relationships/notesMaster" Target="/ppt/notesMasters/notesMaster1.xml" Id="Rd5709053a2524b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81f21bb4c2423b" /><Relationship Type="http://schemas.openxmlformats.org/officeDocument/2006/relationships/notesMaster" Target="/ppt/notesMasters/notesMaster1.xml" Id="R57e04f242ceb42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67d852d3754065" /><Relationship Type="http://schemas.openxmlformats.org/officeDocument/2006/relationships/notesMaster" Target="/ppt/notesMasters/notesMaster1.xml" Id="Re80e3575904347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079d688f07649ac" /><Relationship Type="http://schemas.openxmlformats.org/officeDocument/2006/relationships/notesMaster" Target="/ppt/notesMasters/notesMaster1.xml" Id="Rf3a68a92742441a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5d63ad1bf1c4187" /><Relationship Type="http://schemas.openxmlformats.org/officeDocument/2006/relationships/notesMaster" Target="/ppt/notesMasters/notesMaster1.xml" Id="Re0f63baf3df845f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ba3379b3b3448c0" /><Relationship Type="http://schemas.openxmlformats.org/officeDocument/2006/relationships/notesMaster" Target="/ppt/notesMasters/notesMaster1.xml" Id="R8f00293de31840a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cffecd4f7bd4744" /><Relationship Type="http://schemas.openxmlformats.org/officeDocument/2006/relationships/notesMaster" Target="/ppt/notesMasters/notesMaster1.xml" Id="R2476e7e963c8459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5a8cfe165044e2b" /><Relationship Type="http://schemas.openxmlformats.org/officeDocument/2006/relationships/notesMaster" Target="/ppt/notesMasters/notesMaster1.xml" Id="R01a3f81eba0348b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7fb645f73f0402d" /><Relationship Type="http://schemas.openxmlformats.org/officeDocument/2006/relationships/notesMaster" Target="/ppt/notesMasters/notesMaster1.xml" Id="R30fa522cad3748f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27801c8cb8d4a25" /><Relationship Type="http://schemas.openxmlformats.org/officeDocument/2006/relationships/notesMaster" Target="/ppt/notesMasters/notesMaster1.xml" Id="Rf4e99ce76a4c418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8c28dedd330473b" /><Relationship Type="http://schemas.openxmlformats.org/officeDocument/2006/relationships/notesMaster" Target="/ppt/notesMasters/notesMaster1.xml" Id="R57f5c661fa00463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760d01412854f43" /><Relationship Type="http://schemas.openxmlformats.org/officeDocument/2006/relationships/notesMaster" Target="/ppt/notesMasters/notesMaster1.xml" Id="R4a2a035e72884a9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9d0346a4a1c475d" /><Relationship Type="http://schemas.openxmlformats.org/officeDocument/2006/relationships/notesMaster" Target="/ppt/notesMasters/notesMaster1.xml" Id="R9ff1c36d5c02485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8d2cb031e294b8a" /><Relationship Type="http://schemas.openxmlformats.org/officeDocument/2006/relationships/notesMaster" Target="/ppt/notesMasters/notesMaster1.xml" Id="R0e85d08badaa4b3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8a9e6f48e6f4819" /><Relationship Type="http://schemas.openxmlformats.org/officeDocument/2006/relationships/notesMaster" Target="/ppt/notesMasters/notesMaster1.xml" Id="R60ba4dd2aa7f47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confidence. The promise is practical AI engineering: models connected to data, software, APIs, evaluation, and governance.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navigation dashboard. In slideshow mode, the cards and navigation pills act as a table of contents.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this as the contract for the day. Mention that demos appear early and architecture follows once the behavior is concrete.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anchors the workshop. The line to repeat: models are powerful, but systems create value.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Move quickly across the six pillars. The goal is to signal breadth, then go deep in the demos.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the model is one layer. Reliability comes from the surrounding engineering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technical bridge into the Knowledge Copilot demo. Explain chunking, embeddings, retrieval, reranking, citations, and feedback.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path: ask factual question, open citation, ask comparison question, ask unsupported question, show feedback capture.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classification, extracted fields, confidence, validation, human correction, and generated API payload.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 about train/test split, baseline model, backtesting, error metrics, confidence bands, and drift monitoring.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safety boundary. Read-only tools are different from write tools. Human approval is required for external writes.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integration categories: identity, knowledge, business systems, communication, data, developer systems, AI providers, and monitoring.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honest. Visual AI needs confidence thresholds, false-positive handling, labels, and human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you demonstrate software skill directly. Show architecture explanation, test generation, patch review, and CI thinking.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layer by layer: frontend, backend, data, AI services, jobs, auth, DevOps, observability.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chart to talk about scorecards: groundedness, citation accuracy, structured output validity, tool success, latency, and cost.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clearly: retrieved content is untrusted input. It cannot override system instructions or tool permissions.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strong mix: two high-integration demos, two high-AI-depth demos, and one live engineering proof 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 one of three live options: mini RAG, API tool for an agent, or data insight generator. Keep starter code and fallback video ready.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to show professionalism. Fallbacks are not weakness; they are how serious teams run important demos.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total video time short: 12 to 18 minutes across the full day. Videos are backup and emphasis, not the whole workshop.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makes the plan feel executable. Each day has a clear job: story, demos, slides, recordings, rehearsal, delivery.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the loop from showcase to action. Make the next step concrete: select use cases, prototype, evaluate, pilot, and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the closing line. Invite questions around production readiness, integrations, evaluation, data security, and first pilots.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4fa452aef1406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0CDADC32-0F7E-435E-828F-95769A4BC3C5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67029B40-A73A-421C-A638-6C63BF34CA96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8949801-4F2F-4471-B8E9-79AF999E67F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1FA391E-3B3A-4717-93E5-C31D7E231C7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51EE07-7B9B-4ACC-B003-662C9BCAA05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7a9aa6f36314bfb" /><Relationship Type="http://schemas.openxmlformats.org/officeDocument/2006/relationships/slideLayout" Target="/ppt/slideLayouts/slideLayout2.xml" Id="R1de4f3f488eb45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9549C4-2104-4543-8055-D803A4A481FC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e4f3f488eb45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27104fa3164939" /><Relationship Type="http://schemas.openxmlformats.org/officeDocument/2006/relationships/notesSlide" Target="/ppt/notesSlides/notesSlide1.xml" Id="R329520d866b743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b77d7e23394796" /><Relationship Type="http://schemas.openxmlformats.org/officeDocument/2006/relationships/notesSlide" Target="/ppt/notesSlides/notesSlide2.xml" Id="Rd587e388c3c843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87a4f589b54bdf" /><Relationship Type="http://schemas.openxmlformats.org/officeDocument/2006/relationships/notesSlide" Target="/ppt/notesSlides/notesSlide3.xml" Id="Rfd4ebec9833648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44a2d17ad8416f" /><Relationship Type="http://schemas.openxmlformats.org/officeDocument/2006/relationships/notesSlide" Target="/ppt/notesSlides/notesSlide4.xml" Id="R5dfc251027ad47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713f147d984541" /><Relationship Type="http://schemas.openxmlformats.org/officeDocument/2006/relationships/notesSlide" Target="/ppt/notesSlides/notesSlide5.xml" Id="Rede6af9b7c4e45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c88f1e7e04407b" /><Relationship Type="http://schemas.openxmlformats.org/officeDocument/2006/relationships/notesSlide" Target="/ppt/notesSlides/notesSlide6.xml" Id="R47bac9ad9b3649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27e47dbd7043c9" /><Relationship Type="http://schemas.openxmlformats.org/officeDocument/2006/relationships/notesSlide" Target="/ppt/notesSlides/notesSlide7.xml" Id="R562a2e64c73e41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28d1d31d4a44b3" /><Relationship Type="http://schemas.openxmlformats.org/officeDocument/2006/relationships/notesSlide" Target="/ppt/notesSlides/notesSlide8.xml" Id="Rdc9bd024caa440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aaa62ab7ee4a74" /><Relationship Type="http://schemas.openxmlformats.org/officeDocument/2006/relationships/notesSlide" Target="/ppt/notesSlides/notesSlide9.xml" Id="R2a995d9c5e3040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77cdbacc0b4cf4" /><Relationship Type="http://schemas.openxmlformats.org/officeDocument/2006/relationships/chart" Target="/ppt/slides/charts/chart1.xml" Id="Rac786b8fe52445f2" /><Relationship Type="http://schemas.openxmlformats.org/officeDocument/2006/relationships/notesSlide" Target="/ppt/notesSlides/notesSlide10.xml" Id="Rc5e0b3daa60b41e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5705a60a0b426a" /><Relationship Type="http://schemas.openxmlformats.org/officeDocument/2006/relationships/notesSlide" Target="/ppt/notesSlides/notesSlide11.xml" Id="R97054096b40c4c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ae1c7e14f64b28" /><Relationship Type="http://schemas.openxmlformats.org/officeDocument/2006/relationships/notesSlide" Target="/ppt/notesSlides/notesSlide12.xml" Id="R09ea07b604f740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cad6f594114cf6" /><Relationship Type="http://schemas.openxmlformats.org/officeDocument/2006/relationships/notesSlide" Target="/ppt/notesSlides/notesSlide13.xml" Id="Rf01957fcf22d443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2148ea2ee144d5" /><Relationship Type="http://schemas.openxmlformats.org/officeDocument/2006/relationships/notesSlide" Target="/ppt/notesSlides/notesSlide14.xml" Id="Re80cbce7c875453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9d2ca9fc074545" /><Relationship Type="http://schemas.openxmlformats.org/officeDocument/2006/relationships/notesSlide" Target="/ppt/notesSlides/notesSlide15.xml" Id="Rd209c4a1f15c4b3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e9267847744c6c" /><Relationship Type="http://schemas.openxmlformats.org/officeDocument/2006/relationships/chart" Target="/ppt/slides/charts/chart2.xml" Id="R260a8cdee71f447b" /><Relationship Type="http://schemas.openxmlformats.org/officeDocument/2006/relationships/notesSlide" Target="/ppt/notesSlides/notesSlide16.xml" Id="R92e8c628eac1466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36d163c29c4ba3" /><Relationship Type="http://schemas.openxmlformats.org/officeDocument/2006/relationships/notesSlide" Target="/ppt/notesSlides/notesSlide17.xml" Id="R7020af9658be410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46b5726ec7458d" /><Relationship Type="http://schemas.openxmlformats.org/officeDocument/2006/relationships/notesSlide" Target="/ppt/notesSlides/notesSlide18.xml" Id="Raf2ab0b31c68469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55987a995d421b" /><Relationship Type="http://schemas.openxmlformats.org/officeDocument/2006/relationships/notesSlide" Target="/ppt/notesSlides/notesSlide19.xml" Id="R910fefffca284b0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e559f3d4d042ce" /><Relationship Type="http://schemas.openxmlformats.org/officeDocument/2006/relationships/notesSlide" Target="/ppt/notesSlides/notesSlide20.xml" Id="Rf2d4be818e1a48d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d4a1c08189433d" /><Relationship Type="http://schemas.openxmlformats.org/officeDocument/2006/relationships/notesSlide" Target="/ppt/notesSlides/notesSlide21.xml" Id="R8c2a1a46733444f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a6caae4cfc4415" /><Relationship Type="http://schemas.openxmlformats.org/officeDocument/2006/relationships/notesSlide" Target="/ppt/notesSlides/notesSlide22.xml" Id="R6b707244642f44b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e62559685342fd" /><Relationship Type="http://schemas.openxmlformats.org/officeDocument/2006/relationships/notesSlide" Target="/ppt/notesSlides/notesSlide23.xml" Id="R074c0de209cb49e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d3624a8d9c4d56" /><Relationship Type="http://schemas.openxmlformats.org/officeDocument/2006/relationships/notesSlide" Target="/ppt/notesSlides/notesSlide24.xml" Id="R0a60d0934f6f4144" /></Relationships>
</file>

<file path=ppt/slides/charts/chart1.xml><?xml version="1.0" encoding="utf-8"?>
<c:chartSpace xmlns:c="http://schemas.openxmlformats.org/drawingml/2006/chart">
  <c:lang val="en-US"/>
  <c:roundedCorners val="0"/>
  <c:chart>
    <c:view3D/>
    <c:plotArea>
      <c:layout/>
      <c:barChart>
        <c:barDir val="col"/>
        <c:varyColors val="0"/>
        <c:ser>
          <c:idx val="0"/>
          <c:order val="0"/>
          <c:tx>
            <c:v>Readiness</c:v>
          </c:tx>
          <c:spPr>
            <a:solidFill xmlns:a="http://schemas.openxmlformats.org/drawingml/2006/main">
              <a:srgbClr val="10A37F"/>
            </a:solidFill>
          </c:spPr>
          <c:cat>
            <c:strLit>
              <c:ptCount val="4"/>
              <c:pt idx="0">
                <c:v>Baseline</c:v>
              </c:pt>
              <c:pt idx="1">
                <c:v>Feature model</c:v>
              </c:pt>
              <c:pt idx="2">
                <c:v>Backtested</c:v>
              </c:pt>
              <c:pt idx="3">
                <c:v>Monitored</c:v>
              </c:pt>
            </c:strLit>
          </c:cat>
          <c:val>
            <c:numLit>
              <c:formatCode/>
              <c:ptCount val="4"/>
              <c:pt idx="0">
                <c:v>42</c:v>
              </c:pt>
              <c:pt idx="1">
                <c:v>68</c:v>
              </c:pt>
              <c:pt idx="2">
                <c:v>82</c:v>
              </c:pt>
              <c:pt idx="3">
                <c:v>74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view3D/>
    <c:plotArea>
      <c:layout/>
      <c:barChart>
        <c:barDir val="col"/>
        <c:varyColors val="0"/>
        <c:ser>
          <c:idx val="0"/>
          <c:order val="0"/>
          <c:tx>
            <c:v>Target</c:v>
          </c:tx>
          <c:spPr>
            <a:solidFill xmlns:a="http://schemas.openxmlformats.org/drawingml/2006/main">
              <a:srgbClr val="10A37F"/>
            </a:solidFill>
          </c:spPr>
          <c:cat>
            <c:strLit>
              <c:ptCount val="5"/>
              <c:pt idx="0">
                <c:v>Groundedness</c:v>
              </c:pt>
              <c:pt idx="1">
                <c:v>Citations</c:v>
              </c:pt>
              <c:pt idx="2">
                <c:v>JSON validity</c:v>
              </c:pt>
              <c:pt idx="3">
                <c:v>Tool success</c:v>
              </c:pt>
              <c:pt idx="4">
                <c:v>Latency</c:v>
              </c:pt>
            </c:strLit>
          </c:cat>
          <c:val>
            <c:numLit>
              <c:formatCode/>
              <c:ptCount val="5"/>
              <c:pt idx="0">
                <c:v>90</c:v>
              </c:pt>
              <c:pt idx="1">
                <c:v>95</c:v>
              </c:pt>
              <c:pt idx="2">
                <c:v>98</c:v>
              </c:pt>
              <c:pt idx="3">
                <c:v>95</c:v>
              </c:pt>
              <c:pt idx="4">
                <c:v>85</c:v>
              </c:pt>
            </c:numLit>
          </c:val>
        </c:ser>
        <c:ser>
          <c:idx val="1"/>
          <c:order val="1"/>
          <c:tx>
            <c:v>Current</c:v>
          </c:tx>
          <c:spPr>
            <a:solidFill xmlns:a="http://schemas.openxmlformats.org/drawingml/2006/main">
              <a:srgbClr val="D69E2E"/>
            </a:solidFill>
          </c:spPr>
          <c:cat>
            <c:strLit>
              <c:ptCount val="5"/>
              <c:pt idx="0">
                <c:v>Groundedness</c:v>
              </c:pt>
              <c:pt idx="1">
                <c:v>Citations</c:v>
              </c:pt>
              <c:pt idx="2">
                <c:v>JSON validity</c:v>
              </c:pt>
              <c:pt idx="3">
                <c:v>Tool success</c:v>
              </c:pt>
              <c:pt idx="4">
                <c:v>Latency</c:v>
              </c:pt>
            </c:strLit>
          </c:cat>
          <c:val>
            <c:numLit>
              <c:formatCode/>
              <c:ptCount val="5"/>
              <c:pt idx="0">
                <c:v>78</c:v>
              </c:pt>
              <c:pt idx="1">
                <c:v>84</c:v>
              </c:pt>
              <c:pt idx="2">
                <c:v>92</c:v>
              </c:pt>
              <c:pt idx="3">
                <c:v>88</c:v>
              </c:pt>
              <c:pt idx="4">
                <c:v>72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latin typeface="Lato"/>
              <a:ea typeface="Lato"/>
              <a:cs typeface="Lato"/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51EE07-7B9B-4ACC-B003-662C9BCAA0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EE92C-5D6D-4652-B6EE-ED45CDE4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8572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>
              <a:alpha val="13333"/>
            </a:srgbClr>
          </a:solidFill>
          <a:ln xmlns:a="http://schemas.openxmlformats.org/drawingml/2006/main" w="19050">
            <a:solidFill>
              <a:srgbClr val="10A37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9EB78-66E0-4AB3-80AB-EB363488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195262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15D65-8AE9-42C7-9CB4-9F506253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2209800"/>
            <a:ext cx="1066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82536-DF10-4438-A20D-A77C1CBF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157162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253ED-C743-496D-846B-0EF23F48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18669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9A4C3-41A7-4291-A940-4A2F2B72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0" y="16192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47AE3E-2A32-41CA-8EEB-0738781E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7925" y="1914525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APIs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BB5B04-44AD-4B4B-8931-BC5C4F6E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2875" y="40005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F2C973-3976-4FC9-8815-C7B3CAC9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4295775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UX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2B62F-9332-49BD-9B90-3F095E6A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750" y="39814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0054BB-8446-4E39-9228-748643EE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7425" y="4276725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EVALS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129578-CFBF-4B95-97D2-B0543B40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48577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918056-A515-45B3-A86C-500E6BA1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9675" y="5153025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0844CC-0C68-47C8-BAE6-8125076A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876300"/>
            <a:ext cx="504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F3D0"/>
                </a:solidFill>
              </a:defRPr>
            </a:pPr>
            <a:r>
              <a:rPr sz="975" b="1">
                <a:solidFill>
                  <a:srgbClr val="A7F3D0"/>
                </a:solidFill>
              </a:rPr>
              <a:t>APRIL 28, 2026 | 7-HOUR TECHNICAL SHOWCASE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DD337-C258-4F9F-9383-3E41296E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352550"/>
            <a:ext cx="581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AI Workshop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2AAB91-D446-4EF3-B6D6-4869CFCE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133600"/>
            <a:ext cx="5715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E2E8F0"/>
                </a:solidFill>
              </a:defRPr>
            </a:pPr>
            <a:r>
              <a:rPr sz="2100" b="0">
                <a:solidFill>
                  <a:srgbClr val="E2E8F0"/>
                </a:solidFill>
              </a:rPr>
              <a:t>From ideas to reliable intelligent software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688513-BCA4-4939-8D75-EBEE943E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714750"/>
            <a:ext cx="5238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D09FC7-ABD9-4280-ABCA-DD65A816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4000500"/>
            <a:ext cx="4705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Models + data + APIs + product engineering + governance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5F3006-26B0-4F0F-A103-A5AC48B8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5238750"/>
            <a:ext cx="1809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START WITH AGENDA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42BFD1-689E-4817-8C58-928D2558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6050" y="5238750"/>
            <a:ext cx="2095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OPEN DEMO PORTFOLIO</a:t>
            </a:r>
          </a:p>
        </p:txBody>
      </p:sp>
    </p:spTree>
    <p:extLst>
      <p:ext uri="{BB962C8B-B14F-4D97-AF65-F5344CB8AC3E}">
        <p14:creationId xmlns:p14="http://schemas.microsoft.com/office/powerpoint/2010/main" val="13175322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51EE07-7B9B-4ACC-B003-662C9BCAA0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E5589-A05B-4149-984B-0001E9D8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-1333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B6B10-32B5-4F6B-9064-D21DA87D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38250" y="4762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2539F-6847-44B4-820F-A14F8681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439CA-91A4-43C9-A7E4-DB860941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2286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B57"/>
                </a:solidFill>
              </a:defRPr>
            </a:pPr>
            <a:r>
              <a:rPr sz="900" b="1">
                <a:solidFill>
                  <a:srgbClr val="0B6B57"/>
                </a:solidFill>
              </a:rPr>
              <a:t>HOME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D8E43-705F-4D13-92F8-A7D7656E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0400" y="22860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02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E3BAB5-C90C-430F-B1E4-FFC1ECE4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55245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332C4-20D2-40DF-9131-F5B1CD1D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6334125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28E0D-E9FE-4DEB-B1D3-4327056D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FOUNDATIONS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B468FF-1DC1-4168-93F3-503B03A4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7FBD49-D128-4226-A1C8-5E08DAC3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9525">
            <a:solidFill>
              <a:srgbClr val="D69E2E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78E82-7B65-423D-A5A2-FE3F6DF2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3050" y="6334125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354CA-382A-4B3D-8B8C-78D5D4C5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495EF-4B61-4CF7-A790-639F61B2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38200"/>
            <a:ext cx="8286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Workshop Control Room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A69B63-6FD4-4058-8942-0EFD7D2F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28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Jump into any section, return home anytime, and keep the day moving.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56EEB1-3F64-4F1B-8685-AAEE0A28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2324100"/>
            <a:ext cx="23622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C1370E-7DF1-4559-BA7C-E61850CA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533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3D0126-7053-483F-9D29-941F870A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EA696B-8B4A-473D-A8DD-6D04E6E5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825" y="2762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5799B3-FF69-48AA-ACBC-0AA1B263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27432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F5CFCA-6747-40FB-BDCD-2A474E9D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26098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AGENDA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697FEF-9774-4B36-A96F-ED97E168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31623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1"/>
                </a:solidFill>
              </a:defRPr>
            </a:pPr>
            <a:r>
              <a:rPr sz="1200" b="0">
                <a:solidFill>
                  <a:srgbClr val="243041"/>
                </a:solidFill>
              </a:rPr>
              <a:t>Seven-hour flow and pacing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2D4BB7-D202-4A7B-9B20-D78363FC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2324100"/>
            <a:ext cx="23622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F6A925-FAD0-47F9-9413-1BC616DD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450" y="2533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14288">
            <a:solidFill>
              <a:srgbClr val="10A37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8F757D-BD01-4CFC-B9C4-73AA03F3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1DFEDA-299B-41B2-9993-988DF50A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8575" y="2762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6BD3EC-78D2-4A6F-A6BE-4106A9DB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950" y="27432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6988CF-167F-472A-A5CD-50C788FE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26098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37F"/>
                </a:solidFill>
              </a:defRPr>
            </a:pPr>
            <a:r>
              <a:rPr sz="1125" b="1">
                <a:solidFill>
                  <a:srgbClr val="10A37F"/>
                </a:solidFill>
              </a:rPr>
              <a:t>FOUNDATIONS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70415C-1FD5-4643-8988-A137C3B2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31623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1"/>
                </a:solidFill>
              </a:defRPr>
            </a:pPr>
            <a:r>
              <a:rPr sz="1200" b="0">
                <a:solidFill>
                  <a:srgbClr val="243041"/>
                </a:solidFill>
              </a:rPr>
              <a:t>AI/ML basics, RAG, architecture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8321FE-9550-4564-A621-F45EED01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2324100"/>
            <a:ext cx="23622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228C8C-B9D0-4DF7-B61D-980DDD6F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2200" y="2533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14288">
            <a:solidFill>
              <a:srgbClr val="D69E2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4A79D4-8D33-48E2-9D74-BDD63192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1B2EF1-BF30-4C62-B968-A032ADC3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0325" y="2762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C38429-C8F8-4716-9ADA-1DA78EF3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700" y="27432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6708E2-CE35-42DF-8A5C-468EBDF4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26098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69E2E"/>
                </a:solidFill>
              </a:defRPr>
            </a:pPr>
            <a:r>
              <a:rPr sz="1125" b="1">
                <a:solidFill>
                  <a:srgbClr val="D69E2E"/>
                </a:solidFill>
              </a:rPr>
              <a:t>DEMOS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372D6F-F2B6-4D04-8876-64A21FE2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31623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1"/>
                </a:solidFill>
              </a:defRPr>
            </a:pPr>
            <a:r>
              <a:rPr sz="1200" b="0">
                <a:solidFill>
                  <a:srgbClr val="243041"/>
                </a:solidFill>
              </a:rPr>
              <a:t>Six showcase demos and runbook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8B0492-87E6-4821-BEC6-32728B55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400" y="2324100"/>
            <a:ext cx="23622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72D4F9-99B2-44FA-85D6-BDD91EEB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2533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F3A6A5-7755-4E81-9161-8F2E99C5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2781300"/>
            <a:ext cx="476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018826-E38B-47E4-8F49-07F29205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450" y="2724150"/>
            <a:ext cx="476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822EC6-0CB7-459B-83D6-B6386BA2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0650" y="2667000"/>
            <a:ext cx="476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2D5B4B-5EAF-4AB6-AFD4-0CD348D6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0" y="26098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STACK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065017-8FD3-442E-808F-494FBB19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31623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1"/>
                </a:solidFill>
              </a:defRPr>
            </a:pPr>
            <a:r>
              <a:rPr sz="1200" b="0">
                <a:solidFill>
                  <a:srgbClr val="243041"/>
                </a:solidFill>
              </a:rPr>
              <a:t>Software stack and API connects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0192A5-ADED-4201-AE39-789B5BD0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2650" y="4324350"/>
            <a:ext cx="23622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04083A-7755-4A4D-984D-768C5070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4533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14288">
            <a:solidFill>
              <a:srgbClr val="E76F5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C664DA-1E81-4559-9DA9-D58FF32F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6025" y="4629150"/>
            <a:ext cx="171450" cy="2286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EC411B-D261-4E7F-91FA-FE8D2663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3650" y="4829175"/>
            <a:ext cx="76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8F8FC3-7882-448C-A2D1-955EA5A1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46101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76F51"/>
                </a:solidFill>
              </a:defRPr>
            </a:pPr>
            <a:r>
              <a:rPr sz="1125" b="1">
                <a:solidFill>
                  <a:srgbClr val="E76F51"/>
                </a:solidFill>
              </a:rPr>
              <a:t>GOVERNANCE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C98DF54-B914-49CF-A646-C33EE89D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0" y="516255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1"/>
                </a:solidFill>
              </a:defRPr>
            </a:pPr>
            <a:r>
              <a:rPr sz="1200" b="0">
                <a:solidFill>
                  <a:srgbClr val="243041"/>
                </a:solidFill>
              </a:rPr>
              <a:t>Security, evals, responsible AI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653EF8-ABE0-4066-AF0E-F4AB729B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900" y="4324350"/>
            <a:ext cx="23622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0503C17-64BA-4555-ABB0-945189F0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7450" y="4533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14288">
            <a:solidFill>
              <a:srgbClr val="22A06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2D8DC51-38F5-470F-8B4A-41D2ECE5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4676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6CE8FA6-634F-49F5-B3C1-1DA11031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5575" y="4762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FEB0144-3FE7-497E-BCA7-6704BB09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950" y="47434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9D9FD7A-48DD-4F71-9A41-F25193E4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8950" y="46101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A06B"/>
                </a:solidFill>
              </a:defRPr>
            </a:pPr>
            <a:r>
              <a:rPr sz="1125" b="1">
                <a:solidFill>
                  <a:srgbClr val="22A06B"/>
                </a:solidFill>
              </a:rPr>
              <a:t>ROADMAP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EAB3790-FD70-4513-A4B1-50B8D0DE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516255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1"/>
                </a:solidFill>
              </a:defRPr>
            </a:pPr>
            <a:r>
              <a:rPr sz="1200" b="0">
                <a:solidFill>
                  <a:srgbClr val="243041"/>
                </a:solidFill>
              </a:rPr>
              <a:t>Prep plan and 30-60-90 path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17C9BEB-8C39-42BE-9B85-AEF645D1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953125"/>
            <a:ext cx="10810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827">
              <a:alpha val="6275"/>
            </a:srgbClr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C17F672-10F0-4D19-B900-087994E2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60102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Tip: use slideshow mode. Every top-level card, footer pill, and HOME button is clickable.</a:t>
            </a:r>
          </a:p>
        </p:txBody>
      </p:sp>
    </p:spTree>
    <p:extLst>
      <p:ext uri="{BB962C8B-B14F-4D97-AF65-F5344CB8AC3E}">
        <p14:creationId xmlns:p14="http://schemas.microsoft.com/office/powerpoint/2010/main" val="11235620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51EE07-7B9B-4ACC-B003-662C9BCAA0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85FAD-37EF-4642-B755-BB8BE464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-1333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C8BA5-D062-4C84-BF5B-D227A570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38250" y="4762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1B876-C2E9-4EC7-A657-3AF9CAF3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AABC3-89B8-46C3-8BB2-629F9AAA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2286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B57"/>
                </a:solidFill>
              </a:defRPr>
            </a:pPr>
            <a:r>
              <a:rPr sz="900" b="1">
                <a:solidFill>
                  <a:srgbClr val="0B6B57"/>
                </a:solidFill>
              </a:rPr>
              <a:t>AGENDA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8C4AF-F792-4E81-AB7C-0B333498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0400" y="22860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03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29F18-FCF7-4960-870E-513A1AF3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55245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EC3B8-892B-4B42-87A4-1381BA2A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6334125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C1AB7-470A-4E24-8C71-2A93C87A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FOUNDATIONS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7C710-0803-4040-B225-DF3B65AE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408428-A49F-45F1-AE02-0E54FFAB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9525">
            <a:solidFill>
              <a:srgbClr val="D69E2E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F8B1B-E3E9-4A75-ABE3-DD5DE15F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3050" y="6334125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D6D682-67BA-401C-98FC-E32BE265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EC0E26-77AA-478C-B3B4-626B426B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38200"/>
            <a:ext cx="8477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Seven-Hour 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069F2-CB31-4946-80EE-D948AE8C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28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A balanced day: vision, foundations, demos, engineering depth, governance, and roadmap.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4E1DD1-1C79-4F0D-A9D6-58B32D92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3095625"/>
            <a:ext cx="1047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CB374-A646-4017-B47D-76CB6623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8670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FB07FF-2369-4E5D-B10C-6DECBA15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" y="23812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0:00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9DB6EE-0155-47C6-A173-C00612C7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35242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3041"/>
                </a:solidFill>
              </a:defRPr>
            </a:pPr>
            <a:r>
              <a:rPr sz="975" b="1">
                <a:solidFill>
                  <a:srgbClr val="243041"/>
                </a:solidFill>
              </a:rPr>
              <a:t>Opening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3888E5-19EC-4F79-9496-1CE31D48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2625" y="28670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EDBF8B-D302-4C95-B0E1-8A84DE0E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4025" y="23812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0:30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D042E1-5C4B-436C-9AE2-085F8389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2575" y="35242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3041"/>
                </a:solidFill>
              </a:defRPr>
            </a:pPr>
            <a:r>
              <a:rPr sz="975" b="1">
                <a:solidFill>
                  <a:srgbClr val="243041"/>
                </a:solidFill>
              </a:rPr>
              <a:t>Foundations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02B569-760F-49A2-A598-2C195E6A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28670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B258E5-44EF-43C8-AA97-86B7D873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23812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1:15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903915-B368-4AA9-BE8A-32BF73EA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950" y="35242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3041"/>
                </a:solidFill>
              </a:defRPr>
            </a:pPr>
            <a:r>
              <a:rPr sz="975" b="1">
                <a:solidFill>
                  <a:srgbClr val="243041"/>
                </a:solidFill>
              </a:rPr>
              <a:t>Knowledge demo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7EE5D8-5E09-4588-8D62-86417BBB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5875" y="28670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67FF17-A156-42C8-A8F8-CA0014A4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7275" y="23812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2:15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174056-BB43-4995-B1E6-27EF1D95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5825" y="35242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3041"/>
                </a:solidFill>
              </a:defRPr>
            </a:pPr>
            <a:r>
              <a:rPr sz="975" b="1">
                <a:solidFill>
                  <a:srgbClr val="243041"/>
                </a:solidFill>
              </a:rPr>
              <a:t>Predictive ML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A0DBDA-45D6-4F17-9466-EC3A8F70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28670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9589DD-984F-4F96-8FAE-23930D65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4150" y="23812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3:00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C8EC58-B2D2-4EC6-9C5A-02E82FCB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700" y="35242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3041"/>
                </a:solidFill>
              </a:defRPr>
            </a:pPr>
            <a:r>
              <a:rPr sz="975" b="1">
                <a:solidFill>
                  <a:srgbClr val="243041"/>
                </a:solidFill>
              </a:rPr>
              <a:t>Agents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86974F-0F5C-421B-B49C-532099D2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28670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AF2365-BD51-49FC-AACC-F331DAD1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23812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3:45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A76AE1-ACBC-401F-A70F-BFB2A61F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6200" y="35242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3041"/>
                </a:solidFill>
              </a:defRPr>
            </a:pPr>
            <a:r>
              <a:rPr sz="975" b="1">
                <a:solidFill>
                  <a:srgbClr val="243041"/>
                </a:solidFill>
              </a:rPr>
              <a:t>Break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B6CE00-EEC1-4AAD-AE4A-B407A630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6875" y="28670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779DC6-B7B7-4D73-B723-3911D7CE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8275" y="23812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4:15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9C4D57-F3FC-4B76-91FA-B1B420EF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6825" y="35242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3041"/>
                </a:solidFill>
              </a:defRPr>
            </a:pPr>
            <a:r>
              <a:rPr sz="975" b="1">
                <a:solidFill>
                  <a:srgbClr val="243041"/>
                </a:solidFill>
              </a:rPr>
              <a:t>Stack deep dive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635D0A-DDF4-4695-B3F5-B4CA04E9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3250" y="28670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8043A5-17E8-472D-B09E-4E96516C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34650" y="23812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5:45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AFBC78-2B38-4C92-9751-3602129E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3200" y="35242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3041"/>
                </a:solidFill>
              </a:defRPr>
            </a:pPr>
            <a:r>
              <a:rPr sz="975" b="1">
                <a:solidFill>
                  <a:srgbClr val="243041"/>
                </a:solidFill>
              </a:rPr>
              <a:t>Governance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09173E-09A6-4622-9632-770085C6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4686300"/>
            <a:ext cx="32194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11518D-6C28-4BFE-ADF2-3FFC907F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46863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6CEFCF-611B-4A66-8118-F27AB74F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48577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A37F"/>
                </a:solidFill>
              </a:defRPr>
            </a:pPr>
            <a:r>
              <a:rPr sz="975" b="1">
                <a:solidFill>
                  <a:srgbClr val="10A37F"/>
                </a:solidFill>
              </a:rPr>
              <a:t>Pacing rule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2D411F-9936-4444-B3E9-06703192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5219700"/>
            <a:ext cx="2800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41"/>
                </a:solidFill>
              </a:defRPr>
            </a:pPr>
            <a:r>
              <a:rPr sz="1050" b="0">
                <a:solidFill>
                  <a:srgbClr val="243041"/>
                </a:solidFill>
              </a:rPr>
              <a:t>Use demos early. Explain architecture after the audience has seen the behavior.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CC619C-ECFD-43F5-8EC4-845235B1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686300"/>
            <a:ext cx="32194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4728C1-CDD9-41C7-8F85-249C11CE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6863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ECBDBE-15BD-4F84-8BE2-EFBAA062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5350" y="48577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9E2E"/>
                </a:solidFill>
              </a:defRPr>
            </a:pPr>
            <a:r>
              <a:rPr sz="975" b="1">
                <a:solidFill>
                  <a:srgbClr val="D69E2E"/>
                </a:solidFill>
              </a:rPr>
              <a:t>Flexible buffer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0C20E59-2E13-4585-B924-2255689B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5350" y="5219700"/>
            <a:ext cx="2800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41"/>
                </a:solidFill>
              </a:defRPr>
            </a:pPr>
            <a:r>
              <a:rPr sz="1050" b="0">
                <a:solidFill>
                  <a:srgbClr val="243041"/>
                </a:solidFill>
              </a:rPr>
              <a:t>Keep 30 to 45 minutes available for deeper Q&amp;A, setup delays, or audience-led discussion.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F8AD46-7EFF-4EAB-8A0C-399D6217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4686300"/>
            <a:ext cx="32194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108759-916B-43A9-9B2D-130676F3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46863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597C09F-935E-4030-8DD7-358B39DE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3900" y="48577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Presenter mode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CBF4AC0-2E90-42D6-8148-C441EB1C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3900" y="5219700"/>
            <a:ext cx="2800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41"/>
                </a:solidFill>
              </a:defRPr>
            </a:pPr>
            <a:r>
              <a:rPr sz="1050" b="0">
                <a:solidFill>
                  <a:srgbClr val="243041"/>
                </a:solidFill>
              </a:rPr>
              <a:t>Use HOME for navigation and speaker notes for talk tracks.</a:t>
            </a:r>
          </a:p>
        </p:txBody>
      </p:sp>
    </p:spTree>
    <p:extLst>
      <p:ext uri="{BB962C8B-B14F-4D97-AF65-F5344CB8AC3E}">
        <p14:creationId xmlns:p14="http://schemas.microsoft.com/office/powerpoint/2010/main" val="11936615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51EE07-7B9B-4ACC-B003-662C9BCAA0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4E059-A18C-4DC3-9E4E-94423717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-1333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0C346-090D-4A9F-A069-E1C00580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38250" y="4762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5EEA4-A500-4DDF-A870-5E45E62F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D9217-DD62-4C54-9BB6-DC94FAB4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2286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B57"/>
                </a:solidFill>
              </a:defRPr>
            </a:pPr>
            <a:r>
              <a:rPr sz="900" b="1">
                <a:solidFill>
                  <a:srgbClr val="0B6B57"/>
                </a:solidFill>
              </a:rPr>
              <a:t>FOUNDATIONS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41C3F9-0D35-40BD-BDF9-77BCC959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0400" y="22860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04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BE39E-6C4C-4784-AC91-99CC21CB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55245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444C4-A944-476B-854D-2E11C2E1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6334125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99968-F123-4BE9-9EF9-B066B49B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FOUNDATIONS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322E90-D46F-4D09-B379-8FF644CB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2D5E5-9D1A-4068-B3EB-A7A96859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9525">
            <a:solidFill>
              <a:srgbClr val="D69E2E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C76527-D70D-49A3-A550-3CED728A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3050" y="6334125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719AA0-040D-48D2-AE66-02791103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5F9561-6320-4ECE-854D-D00B9140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38200"/>
            <a:ext cx="9429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North Star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965D28-BD20-4777-A3F1-0282E22A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28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AI is not a feature bolted on at the end. It is a capability layer inside a complete product system.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5EE6D8-E1D1-4BD6-819E-B9A28FB2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2524125"/>
            <a:ext cx="10553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937B8-1001-4FE9-9C90-99411C2E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2876550"/>
            <a:ext cx="979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562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"AI is a capability layer: data, models, APIs, UX, evaluation, security, and operations working together."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531CC1-FA91-4D8C-B1A2-7059B66A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238625"/>
            <a:ext cx="3048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EE0C05-E285-41D4-8DCA-AB3E53F9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238625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62D468-CC32-4265-982B-77082903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4410075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F550FB-E732-43BF-AD21-BF65CFD3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4772025"/>
            <a:ext cx="2628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1"/>
                </a:solidFill>
              </a:defRPr>
            </a:pPr>
            <a:r>
              <a:rPr sz="1125" b="0">
                <a:solidFill>
                  <a:srgbClr val="243041"/>
                </a:solidFill>
              </a:rPr>
              <a:t>Reasoning, generation, classification, embeddings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3A6DF5-0FF3-4EF7-B5DB-9022FC74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2950" y="4238625"/>
            <a:ext cx="3048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5987DB-0EA6-4B41-B7D8-33772C90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2950" y="4238625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291A6A-1480-456A-B589-9B43E612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4410075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A37F"/>
                </a:solidFill>
              </a:defRPr>
            </a:pPr>
            <a:r>
              <a:rPr sz="975" b="1">
                <a:solidFill>
                  <a:srgbClr val="10A37F"/>
                </a:solidFill>
              </a:rPr>
              <a:t>System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5BCFFA-F31C-4A68-B7FF-FB698F8A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4772025"/>
            <a:ext cx="2628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1"/>
                </a:solidFill>
              </a:defRPr>
            </a:pPr>
            <a:r>
              <a:rPr sz="1125" b="0">
                <a:solidFill>
                  <a:srgbClr val="243041"/>
                </a:solidFill>
              </a:rPr>
              <a:t>Retrieval, tools, jobs, data, APIs, state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7BAAE9-1AF3-4253-99D3-87605518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7200" y="4238625"/>
            <a:ext cx="3048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58C7EA-6810-481A-A725-4D2BFAD6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7200" y="4238625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9C356C-EF11-4DD7-945C-C8DCC295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0" y="4410075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</a:defRPr>
            </a:pPr>
            <a:r>
              <a:rPr sz="975" b="1">
                <a:solidFill>
                  <a:srgbClr val="E76F51"/>
                </a:solidFill>
              </a:rPr>
              <a:t>Trust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1C7490-4F20-467C-A94C-F72DDC5F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0" y="4772025"/>
            <a:ext cx="2628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1"/>
                </a:solidFill>
              </a:defRPr>
            </a:pPr>
            <a:r>
              <a:rPr sz="1125" b="0">
                <a:solidFill>
                  <a:srgbClr val="243041"/>
                </a:solidFill>
              </a:rPr>
              <a:t>Permissions, evals, audit logs, human approval</a:t>
            </a:r>
          </a:p>
        </p:txBody>
      </p:sp>
    </p:spTree>
    <p:extLst>
      <p:ext uri="{BB962C8B-B14F-4D97-AF65-F5344CB8AC3E}">
        <p14:creationId xmlns:p14="http://schemas.microsoft.com/office/powerpoint/2010/main" val="3783424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51EE07-7B9B-4ACC-B003-662C9BCAA0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5DB0C-E842-435D-A9E7-E3CB230B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-1333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C3E00-E7E2-41BB-B409-94233351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38250" y="4762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C3DBC-92CE-4CA7-8F56-D2854666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8BB66-4A31-42B0-BFA0-802A419C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2286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B57"/>
                </a:solidFill>
              </a:defRPr>
            </a:pPr>
            <a:r>
              <a:rPr sz="900" b="1">
                <a:solidFill>
                  <a:srgbClr val="0B6B57"/>
                </a:solidFill>
              </a:rPr>
              <a:t>FOUNDATIONS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A7E4B-BCB7-49AF-A1A8-8352CDD8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0400" y="22860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05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9F54E-D1ED-40F3-9D92-4A9AA43C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55245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EFF200-7EED-40D6-A010-331500B2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6334125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61396-4EDC-4A0C-96DF-877CCF27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FOUNDATIONS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FD161-4B0D-4AB2-BF3F-AD4CC23E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1BD638-541A-4732-99F4-3AD39372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9525">
            <a:solidFill>
              <a:srgbClr val="D69E2E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8B9C4A-AAE5-41DA-BBC8-4413386E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3050" y="6334125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113F2-ACE3-49EF-8E3C-FC557EC4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A1623C-119C-432C-890C-C3E97AAA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38200"/>
            <a:ext cx="8572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Capability 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AF0C63-C994-4587-9192-5A19E06A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28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Six pillars show breadth without turning the workshop into a random collection of experiments.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B7A553-C6AE-40F1-8FCE-F6010297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333625"/>
            <a:ext cx="32766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5004C7-84DD-489F-9C45-C15079D3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333625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5D0C18-99BB-497A-859D-D3016B9D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25050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Knowledge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8BE9B1-3CDC-423D-AB20-1CC28214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2867025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1"/>
                </a:solidFill>
              </a:defRPr>
            </a:pPr>
            <a:r>
              <a:rPr sz="1125" b="0">
                <a:solidFill>
                  <a:srgbClr val="243041"/>
                </a:solidFill>
              </a:rPr>
              <a:t>RAG, semantic search, citations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7F61EF-DC67-4573-A01A-4F00D953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2333625"/>
            <a:ext cx="32766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724F28-EB22-460D-8B87-0A706DF0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2333625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DBB03F-890B-42AF-BC8F-2C2DE30A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25050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A37F"/>
                </a:solidFill>
              </a:defRPr>
            </a:pPr>
            <a:r>
              <a:rPr sz="975" b="1">
                <a:solidFill>
                  <a:srgbClr val="10A37F"/>
                </a:solidFill>
              </a:rPr>
              <a:t>Document Intelligence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34C1C2-5674-439D-A4B9-D98CDEB2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2867025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1"/>
                </a:solidFill>
              </a:defRPr>
            </a:pPr>
            <a:r>
              <a:rPr sz="1125" b="0">
                <a:solidFill>
                  <a:srgbClr val="243041"/>
                </a:solidFill>
              </a:rPr>
              <a:t>OCR, extraction, validation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8D44F9-CB05-48F1-9868-37CF6078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2333625"/>
            <a:ext cx="32766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A50741-8266-43ED-80B3-111AE6BF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2333625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85AB74-C2CA-4C2C-8A74-41E4253D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1050" y="25050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9E2E"/>
                </a:solidFill>
              </a:defRPr>
            </a:pPr>
            <a:r>
              <a:rPr sz="975" b="1">
                <a:solidFill>
                  <a:srgbClr val="D69E2E"/>
                </a:solidFill>
              </a:rPr>
              <a:t>Predictive ML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544AE8-0DF4-4AC1-940E-B5C389D8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1050" y="2867025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1"/>
                </a:solidFill>
              </a:defRPr>
            </a:pPr>
            <a:r>
              <a:rPr sz="1125" b="0">
                <a:solidFill>
                  <a:srgbClr val="243041"/>
                </a:solidFill>
              </a:rPr>
              <a:t>Forecasting, anomalies, risk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F8697E-DB9D-4A7C-9E3B-E1BE8D8E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4048125"/>
            <a:ext cx="32766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075699-BF30-449B-9782-39841859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4048125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8A3AAA-8EC9-427C-9C7C-979A0FF1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42195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Workflow Agents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6A501D-2A66-4EE2-B25B-0958A3EE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4581525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1"/>
                </a:solidFill>
              </a:defRPr>
            </a:pPr>
            <a:r>
              <a:rPr sz="1125" b="0">
                <a:solidFill>
                  <a:srgbClr val="243041"/>
                </a:solidFill>
              </a:rPr>
              <a:t>Tool calling, approvals, logs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0A9878-14C9-489C-AFAE-A0280B73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4048125"/>
            <a:ext cx="32766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C69E46-2731-42D8-9D33-E2C41B1F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4048125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447F8C-8B02-4570-9AD7-4951372F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42195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</a:defRPr>
            </a:pPr>
            <a:r>
              <a:rPr sz="975" b="1">
                <a:solidFill>
                  <a:srgbClr val="E76F51"/>
                </a:solidFill>
              </a:rPr>
              <a:t>Visual AI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37E962-BC1D-4B66-88C4-AE97DC51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4581525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1"/>
                </a:solidFill>
              </a:defRPr>
            </a:pPr>
            <a:r>
              <a:rPr sz="1125" b="0">
                <a:solidFill>
                  <a:srgbClr val="243041"/>
                </a:solidFill>
              </a:rPr>
              <a:t>Images, charts, screenshots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6E912C-2A9C-4CE0-84D3-E2AAA590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4048125"/>
            <a:ext cx="32766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1C84F9-A91B-43BC-977A-AAF51CE9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4048125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72A8CB-F4F3-484A-895E-36B2B6B9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1050" y="42195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A06B"/>
                </a:solidFill>
              </a:defRPr>
            </a:pPr>
            <a:r>
              <a:rPr sz="975" b="1">
                <a:solidFill>
                  <a:srgbClr val="22A06B"/>
                </a:solidFill>
              </a:rPr>
              <a:t>Developer Intelligence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F11D41-DF0B-499A-8891-BED31122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1050" y="4581525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1"/>
                </a:solidFill>
              </a:defRPr>
            </a:pPr>
            <a:r>
              <a:rPr sz="1125" b="0">
                <a:solidFill>
                  <a:srgbClr val="243041"/>
                </a:solidFill>
              </a:rPr>
              <a:t>Code, tests, review, docs</a:t>
            </a:r>
          </a:p>
        </p:txBody>
      </p:sp>
    </p:spTree>
    <p:extLst>
      <p:ext uri="{BB962C8B-B14F-4D97-AF65-F5344CB8AC3E}">
        <p14:creationId xmlns:p14="http://schemas.microsoft.com/office/powerpoint/2010/main" val="15930539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51EE07-7B9B-4ACC-B003-662C9BCAA0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74310-32F4-4A43-BBFD-32C3C7EE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-1333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434C7F-6CBA-4471-B570-AA6CF36A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38250" y="4762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A581A-6110-446E-AE67-2498A9EF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236E0-69CC-4C27-BF26-303F61D2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2286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B57"/>
                </a:solidFill>
              </a:defRPr>
            </a:pPr>
            <a:r>
              <a:rPr sz="900" b="1">
                <a:solidFill>
                  <a:srgbClr val="0B6B57"/>
                </a:solidFill>
              </a:rPr>
              <a:t>FOUNDATIONS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E611E-254F-40D0-A760-5D04DF08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0400" y="22860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06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A3E88-59AD-4DEA-A2AD-3D975068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55245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777B1-A208-4128-9488-6EBFCE60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6334125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BE5C27-3DE4-4D1D-8631-EE4E212E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FOUNDATIONS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93B7D-7869-4C0D-A574-5194A2E4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74FEC-F6EB-41D6-9FD6-97FBD3D8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9525">
            <a:solidFill>
              <a:srgbClr val="D69E2E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014C81-9B13-45AF-8385-3150BA76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3050" y="6334125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3CF56E-9A69-41F4-93E7-16930837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2981C7-D414-4A28-B8BE-393964A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38200"/>
            <a:ext cx="9906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Reference Architecture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4EC1DB-225F-43E2-B132-D8F61BF6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28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A production-minded AI system coordinates UX, APIs, orchestration, models, retrieval, data, integrations, and operations.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57B10-9232-419B-9CF9-7F716F04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2114550"/>
            <a:ext cx="923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D17BF5-F152-4187-9311-72B99C61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21145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5860C9-CD05-44ED-B5AA-BE6B23DD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22193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Experience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AEAC10-9C99-4C4E-9115-A438AC97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2228850"/>
            <a:ext cx="595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1"/>
                </a:solidFill>
              </a:defRPr>
            </a:pPr>
            <a:r>
              <a:rPr sz="1125" b="0">
                <a:solidFill>
                  <a:srgbClr val="243041"/>
                </a:solidFill>
              </a:rPr>
              <a:t>Web app, dashboards, chat, admin console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155DD5-AA08-44BA-8A0A-BAB1050F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2705100"/>
            <a:ext cx="923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36E296-7AC7-4C52-A8EC-1A32A30D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27051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96EBF7-D5C6-4454-89AB-4C693616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28098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37F"/>
                </a:solidFill>
              </a:defRPr>
            </a:pPr>
            <a:r>
              <a:rPr sz="1125" b="1">
                <a:solidFill>
                  <a:srgbClr val="10A37F"/>
                </a:solidFill>
              </a:rPr>
              <a:t>Application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E458B9-A386-47AC-A8BA-A758667A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2819400"/>
            <a:ext cx="595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1"/>
                </a:solidFill>
              </a:defRPr>
            </a:pPr>
            <a:r>
              <a:rPr sz="1125" b="0">
                <a:solidFill>
                  <a:srgbClr val="243041"/>
                </a:solidFill>
              </a:rPr>
              <a:t>REST/GraphQL, auth, validation, rate limits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28E050-F0E9-48B7-AA23-928E46E9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295650"/>
            <a:ext cx="923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AA573D-69B9-4D57-8599-E4B0E4EA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2956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5A9FD1-4240-45FF-9788-3BB53853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34004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Orchestration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F8A1FB-B42B-43EB-8343-DDDEB018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3409950"/>
            <a:ext cx="595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1"/>
                </a:solidFill>
              </a:defRPr>
            </a:pPr>
            <a:r>
              <a:rPr sz="1125" b="0">
                <a:solidFill>
                  <a:srgbClr val="243041"/>
                </a:solidFill>
              </a:rPr>
              <a:t>Workflow engine, agent planner, queues, approvals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487D1A-D801-49F3-BB27-37543136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886200"/>
            <a:ext cx="923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7DEE1C-2D5B-4342-BCB3-27B06209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8862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F5569E-8D70-498A-B97E-3DA2BFB2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39909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69E2E"/>
                </a:solidFill>
              </a:defRPr>
            </a:pPr>
            <a:r>
              <a:rPr sz="1125" b="1">
                <a:solidFill>
                  <a:srgbClr val="D69E2E"/>
                </a:solidFill>
              </a:rPr>
              <a:t>AI + Retrieval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F76EC2-2F9B-44D6-A14B-165E60AB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4000500"/>
            <a:ext cx="595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1"/>
                </a:solidFill>
              </a:defRPr>
            </a:pPr>
            <a:r>
              <a:rPr sz="1125" b="0">
                <a:solidFill>
                  <a:srgbClr val="243041"/>
                </a:solidFill>
              </a:rPr>
              <a:t>LLMs, embeddings, vector search, reranking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74DD52-53BE-4AE0-9A2C-6C04A387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476750"/>
            <a:ext cx="923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A6E6D4-3CFD-4B84-8B2F-29378799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4767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C521A6-00D7-45B9-9091-E379A4A2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45815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91B2"/>
                </a:solidFill>
              </a:defRPr>
            </a:pPr>
            <a:r>
              <a:rPr sz="1125" b="1">
                <a:solidFill>
                  <a:srgbClr val="0891B2"/>
                </a:solidFill>
              </a:rPr>
              <a:t>Data + Integrations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16CB01-D625-45F0-9E19-2FE78C25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4591050"/>
            <a:ext cx="595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1"/>
                </a:solidFill>
              </a:defRPr>
            </a:pPr>
            <a:r>
              <a:rPr sz="1125" b="0">
                <a:solidFill>
                  <a:srgbClr val="243041"/>
                </a:solidFill>
              </a:rPr>
              <a:t>SQL, files, CRM, ERP, email, calendar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61B16F-F0DD-4160-92EA-F6247C81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5067300"/>
            <a:ext cx="923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71FD02-9CB0-4260-BEB7-ED9BF551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50673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F84731-EFD1-4D22-88DB-3A7A6B79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51720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76F51"/>
                </a:solidFill>
              </a:defRPr>
            </a:pPr>
            <a:r>
              <a:rPr sz="1125" b="1">
                <a:solidFill>
                  <a:srgbClr val="E76F51"/>
                </a:solidFill>
              </a:rPr>
              <a:t>Governance + Ops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01AB6B-66CE-4C00-A1DD-F9E5843C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5181600"/>
            <a:ext cx="595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1"/>
                </a:solidFill>
              </a:defRPr>
            </a:pPr>
            <a:r>
              <a:rPr sz="1125" b="0">
                <a:solidFill>
                  <a:srgbClr val="243041"/>
                </a:solidFill>
              </a:rPr>
              <a:t>RBAC, audit logs, evals, monitoring, CI/CD</a:t>
            </a:r>
          </a:p>
        </p:txBody>
      </p:sp>
    </p:spTree>
    <p:extLst>
      <p:ext uri="{BB962C8B-B14F-4D97-AF65-F5344CB8AC3E}">
        <p14:creationId xmlns:p14="http://schemas.microsoft.com/office/powerpoint/2010/main" val="9897633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51EE07-7B9B-4ACC-B003-662C9BCAA0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0407E-1C2F-4E7D-8BCD-1EA1D7F2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-1333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EC45E-D7C4-43A2-B2EF-54427D37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38250" y="4762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EB2F2-6EF2-4901-9E7B-175CE64C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488C1-8462-4434-9DBC-D38AD0C4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2286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B57"/>
                </a:solidFill>
              </a:defRPr>
            </a:pPr>
            <a:r>
              <a:rPr sz="900" b="1">
                <a:solidFill>
                  <a:srgbClr val="0B6B57"/>
                </a:solidFill>
              </a:rPr>
              <a:t>FOUNDATIONS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DFBA6-C5BF-4126-9DCF-43D84BA3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0400" y="22860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07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5EDCAF-C845-4AE9-A658-0CF80214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55245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D1E6F-38C3-4FB5-846D-60A4DB3E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6334125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18060-56F3-4823-94B6-CA54D590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FOUNDATIONS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1D32A8-0DE3-49D7-BBE4-31E23E76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1FC88-30A5-453A-9F47-98BF49D0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9525">
            <a:solidFill>
              <a:srgbClr val="D69E2E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7A988B-E428-45CC-B1E7-24668FE2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3050" y="6334125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74544-2266-48C0-9497-5658FF9E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AC8431-1278-467E-A44C-99F2702B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38200"/>
            <a:ext cx="1000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RAG Pipeline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0A6FFD-735C-49D1-BAF3-FB870C90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28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Retrieval augmented generation grounds answers in trusted sources instead of asking the model to guess.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E2F88F-95BD-4D45-BD38-AFB2D9E6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647950"/>
            <a:ext cx="142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D4017E-723E-429E-A525-268BF235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2247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0584B6-4F36-4E27-8B7D-8C8CA01A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23812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E1E9C3-A266-4CFF-A897-2179C33B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295275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Sources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37C38A-4C7C-4138-A74C-A423F090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329565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43041"/>
                </a:solidFill>
              </a:defRPr>
            </a:pPr>
            <a:r>
              <a:rPr sz="975" b="0">
                <a:solidFill>
                  <a:srgbClr val="243041"/>
                </a:solidFill>
              </a:rPr>
              <a:t>Docs, tickets, reports, wikis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D3C963-136D-4584-8805-6A4E5C62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9800" y="3190875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49D297-888A-47FF-B95D-BB2C831F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2647950"/>
            <a:ext cx="142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3DC1B8-E7C4-4C59-ADA7-A416EA24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950" y="2247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E8D4F5-F9BA-4B83-B090-FCECA8E5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950" y="23812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0C11CB-246D-4791-8297-4EA008BA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5100" y="295275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A37F"/>
                </a:solidFill>
              </a:defRPr>
            </a:pPr>
            <a:r>
              <a:rPr sz="1050" b="1">
                <a:solidFill>
                  <a:srgbClr val="10A37F"/>
                </a:solidFill>
              </a:rPr>
              <a:t>Ingest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CFF743-A234-4124-B65F-C4609523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329565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43041"/>
                </a:solidFill>
              </a:defRPr>
            </a:pPr>
            <a:r>
              <a:rPr sz="975" b="0">
                <a:solidFill>
                  <a:srgbClr val="243041"/>
                </a:solidFill>
              </a:rPr>
              <a:t>Extract, clean, chunk, enrich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1FB9BC-75E1-4417-B6D8-249B9545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9550" y="3190875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125A46-CA1D-45D6-A47B-6FB1A61F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2647950"/>
            <a:ext cx="142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9233EF-2795-403C-9F01-0DB3DEC2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8700" y="2247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B9F880-597F-41FA-910A-6AFA34A5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8700" y="23812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D9EA16-6362-4107-99BB-FCCA9C80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850" y="295275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69E2E"/>
                </a:solidFill>
              </a:defRPr>
            </a:pPr>
            <a:r>
              <a:rPr sz="1050" b="1">
                <a:solidFill>
                  <a:srgbClr val="D69E2E"/>
                </a:solidFill>
              </a:rPr>
              <a:t>Embed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FD6EC3-1546-45CD-A4E1-DD9E8CF9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329565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43041"/>
                </a:solidFill>
              </a:defRPr>
            </a:pPr>
            <a:r>
              <a:rPr sz="975" b="0">
                <a:solidFill>
                  <a:srgbClr val="243041"/>
                </a:solidFill>
              </a:rPr>
              <a:t>Create searchable vector signals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EF8670-1371-4BE8-A3C9-54EA69C0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9300" y="3190875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CF421C-E897-4C15-BFFE-99C418EA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2647950"/>
            <a:ext cx="142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95042A-9A48-4B80-99F6-B83588F4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2247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556046-1B82-4ECA-A869-BD0F056F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23812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AE4A08-2797-4D21-8DCC-CD372EF4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295275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Retrieve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814845-1284-4174-B084-97984CC6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3650" y="329565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43041"/>
                </a:solidFill>
              </a:defRPr>
            </a:pPr>
            <a:r>
              <a:rPr sz="975" b="0">
                <a:solidFill>
                  <a:srgbClr val="243041"/>
                </a:solidFill>
              </a:rPr>
              <a:t>Hybrid search and reranking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FDC7A8-EE1B-419F-A701-C9FC7A60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9050" y="3190875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295A3C-5D90-449E-A707-96ECCEF1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2647950"/>
            <a:ext cx="142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CE2E89-3B7B-4042-9819-F8C779AA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8200" y="2247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C70E72-4427-4C60-B786-7CEBB202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8200" y="23812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FFA532-21D1-4C8C-9AC3-AFF1E79D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295275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6F51"/>
                </a:solidFill>
              </a:defRPr>
            </a:pPr>
            <a:r>
              <a:rPr sz="1050" b="1">
                <a:solidFill>
                  <a:srgbClr val="E76F51"/>
                </a:solidFill>
              </a:rPr>
              <a:t>Answer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6A8D24-BA56-4A7F-A197-0EEA4E9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0" y="329565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43041"/>
                </a:solidFill>
              </a:defRPr>
            </a:pPr>
            <a:r>
              <a:rPr sz="975" b="0">
                <a:solidFill>
                  <a:srgbClr val="243041"/>
                </a:solidFill>
              </a:rPr>
              <a:t>Grounded response with citations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7A8ADB-BA2A-4E3D-8BEA-10BE445F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3190875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3354FF-C7EE-4831-8528-C6314AC7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750" y="2647950"/>
            <a:ext cx="142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33E8FC-D169-41DB-8D9E-B507C4E6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7950" y="2247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9D9C61-372C-4558-9DF6-27DB9258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7950" y="23812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454845-7934-402B-8832-0FBC9681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4100" y="295275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A06B"/>
                </a:solidFill>
              </a:defRPr>
            </a:pPr>
            <a:r>
              <a:rPr sz="1050" b="1">
                <a:solidFill>
                  <a:srgbClr val="22A06B"/>
                </a:solidFill>
              </a:rPr>
              <a:t>Evaluate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B9C520-1407-4368-8589-D079F8A2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63150" y="329565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43041"/>
                </a:solidFill>
              </a:defRPr>
            </a:pPr>
            <a:r>
              <a:rPr sz="975" b="0">
                <a:solidFill>
                  <a:srgbClr val="243041"/>
                </a:solidFill>
              </a:rPr>
              <a:t>Feedback, golden tests, refusal checks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6929EA-74AC-4CF6-A0ED-33F34ACE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75" y="4810125"/>
            <a:ext cx="8858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68936BB-8EC7-4294-ACA0-A641777D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75" y="4810125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5C40925-9655-4367-8FF1-C36E6520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6425" y="4981575"/>
            <a:ext cx="843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A37F"/>
                </a:solidFill>
              </a:defRPr>
            </a:pPr>
            <a:r>
              <a:rPr sz="975" b="1">
                <a:solidFill>
                  <a:srgbClr val="10A37F"/>
                </a:solidFill>
              </a:rPr>
              <a:t>Quality contract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879C218-92B4-4E81-A48F-B810A03A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6425" y="5343525"/>
            <a:ext cx="843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645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1"/>
                </a:solidFill>
              </a:defRPr>
            </a:pPr>
            <a:r>
              <a:rPr sz="1125" b="0">
                <a:solidFill>
                  <a:srgbClr val="243041"/>
                </a:solidFill>
              </a:rPr>
              <a:t>Answer directly, cite sources, separate fact from interpretation, show uncertainty, and refuse unsupported questions.</a:t>
            </a:r>
          </a:p>
        </p:txBody>
      </p:sp>
    </p:spTree>
    <p:extLst>
      <p:ext uri="{BB962C8B-B14F-4D97-AF65-F5344CB8AC3E}">
        <p14:creationId xmlns:p14="http://schemas.microsoft.com/office/powerpoint/2010/main" val="10157731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51EE07-7B9B-4ACC-B003-662C9BCAA0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4E2C5-7943-4A29-B014-DAFE0D30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-1333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651BF-B032-496A-9887-8CE70B9E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38250" y="4762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B57E9-892C-4ECC-A9FF-A5D8979C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4128E-4F23-42C6-93C0-88B4DE79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2286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B57"/>
                </a:solidFill>
              </a:defRPr>
            </a:pPr>
            <a:r>
              <a:rPr sz="900" b="1">
                <a:solidFill>
                  <a:srgbClr val="0B6B57"/>
                </a:solidFill>
              </a:rPr>
              <a:t>DEMOS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46250-168D-4245-B709-413EA240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0400" y="22860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08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1E634-6C72-4B29-B6CC-8B0B14B5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55245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148C2-DFE1-49EA-92D8-715D0FF1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6334125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0D567-100F-4CB6-986E-DBD0C5D0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FOUNDATIONS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738602-0CE6-472C-8EF3-3B71883E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0351F-1ED2-488A-93AE-97697827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9525">
            <a:solidFill>
              <a:srgbClr val="D69E2E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88D8A8-0250-4E79-819C-00B2D56E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3050" y="6334125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3AE88-B921-4118-BA90-EA9EF6CB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95028D-71FA-4391-AEE6-C47B7B4E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38200"/>
            <a:ext cx="933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Demo 1: Knowledge Copilot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F2CA42-1012-4DAD-82B7-94D3EF86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28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A private knowledge assistant that answers from approved documents with citations and refusal behavior.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0D1368-2002-457B-B7BD-9E525B12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476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39B071-F6EF-46E7-AD24-34CDAECA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5527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96C5A1-9E09-4EAD-8F92-F71027BB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2476500"/>
            <a:ext cx="37814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37F"/>
                </a:solidFill>
              </a:defRPr>
            </a:pPr>
            <a:r>
              <a:rPr sz="1125" b="1">
                <a:solidFill>
                  <a:srgbClr val="10A37F"/>
                </a:solidFill>
              </a:rPr>
              <a:t>Upload/connect docs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5E6974-D56E-4713-A367-029070B8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2743200"/>
            <a:ext cx="37814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41"/>
                </a:solidFill>
              </a:defRPr>
            </a:pPr>
            <a:r>
              <a:rPr sz="1050" b="0">
                <a:solidFill>
                  <a:srgbClr val="243041"/>
                </a:solidFill>
              </a:rPr>
              <a:t>Document library and metadata filters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ACB102-56BA-4DD0-AC1E-1D70094C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2476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4E71A6-FB02-4923-8645-0D864421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25527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ED63AC-5641-4FB1-91FF-49B6797A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2476500"/>
            <a:ext cx="37814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69E2E"/>
                </a:solidFill>
              </a:defRPr>
            </a:pPr>
            <a:r>
              <a:rPr sz="1125" b="1">
                <a:solidFill>
                  <a:srgbClr val="D69E2E"/>
                </a:solidFill>
              </a:rPr>
              <a:t>Ask grounded question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DB8DC7-F856-401E-8838-EC9BFD5D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2743200"/>
            <a:ext cx="37814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41"/>
                </a:solidFill>
              </a:defRPr>
            </a:pPr>
            <a:r>
              <a:rPr sz="1050" b="0">
                <a:solidFill>
                  <a:srgbClr val="243041"/>
                </a:solidFill>
              </a:rPr>
              <a:t>Retriever selects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9BBCCB-5319-41A1-8461-B5BA0066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37623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AC7A25-327F-459E-ABF9-EF909B34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38385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178FF7-46C7-4DE0-A650-3C2B4422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3762375"/>
            <a:ext cx="37814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37F"/>
                </a:solidFill>
              </a:defRPr>
            </a:pPr>
            <a:r>
              <a:rPr sz="1125" b="1">
                <a:solidFill>
                  <a:srgbClr val="10A37F"/>
                </a:solidFill>
              </a:rPr>
              <a:t>Answer with citations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D4D166-5E7D-4F83-996F-3058FFB8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4029075"/>
            <a:ext cx="37814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41"/>
                </a:solidFill>
              </a:defRPr>
            </a:pPr>
            <a:r>
              <a:rPr sz="1050" b="0">
                <a:solidFill>
                  <a:srgbClr val="243041"/>
                </a:solidFill>
              </a:rPr>
              <a:t>Open source and inspect context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7D48BD-35A9-4E50-88B7-8CFB520C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37623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2F4CE2-E073-4188-905B-9199B926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38385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9463F3-4F0B-4F07-8CC4-D65197D0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3762375"/>
            <a:ext cx="37814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69E2E"/>
                </a:solidFill>
              </a:defRPr>
            </a:pPr>
            <a:r>
              <a:rPr sz="1125" b="1">
                <a:solidFill>
                  <a:srgbClr val="D69E2E"/>
                </a:solidFill>
              </a:rPr>
              <a:t>Unsupported question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A724B4-1279-4088-9606-E51A77CC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4029075"/>
            <a:ext cx="37814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41"/>
                </a:solidFill>
              </a:defRPr>
            </a:pPr>
            <a:r>
              <a:rPr sz="1050" b="0">
                <a:solidFill>
                  <a:srgbClr val="243041"/>
                </a:solidFill>
              </a:rPr>
              <a:t>Refuse or ask for clarification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C1FFBC-8749-420E-90B0-313C586B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5200" y="4857750"/>
            <a:ext cx="3429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E6B8B9-89A2-412E-9325-10D11E9F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5200" y="48577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2611D9-EDE5-49C3-A639-11434ABC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50292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Technical proof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4DBB44-F2DA-4C2C-A735-A454EED7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539115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436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41"/>
                </a:solidFill>
              </a:defRPr>
            </a:pPr>
            <a:r>
              <a:rPr sz="1050" b="0">
                <a:solidFill>
                  <a:srgbClr val="243041"/>
                </a:solidFill>
              </a:rPr>
              <a:t>Chunking, embeddings, hybrid retrieval, reranking, citations, feedback loop, evaluation set.</a:t>
            </a:r>
          </a:p>
        </p:txBody>
      </p:sp>
    </p:spTree>
    <p:extLst>
      <p:ext uri="{BB962C8B-B14F-4D97-AF65-F5344CB8AC3E}">
        <p14:creationId xmlns:p14="http://schemas.microsoft.com/office/powerpoint/2010/main" val="7696448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51EE07-7B9B-4ACC-B003-662C9BCAA0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F2A90-362B-45A9-B90C-53F0371F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-1333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29F08-316F-425D-93C0-E983572E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38250" y="4762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8FD89-44F4-40F9-A01E-70FDD8C9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ABC02-DAC5-4D86-A412-5C852A7F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2286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B57"/>
                </a:solidFill>
              </a:defRPr>
            </a:pPr>
            <a:r>
              <a:rPr sz="900" b="1">
                <a:solidFill>
                  <a:srgbClr val="0B6B57"/>
                </a:solidFill>
              </a:rPr>
              <a:t>DEMOS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49D0C-E956-4EFC-A416-A128AAF5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0400" y="22860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09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B5595-C079-4FCB-9340-353AAB10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55245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F3721-5B79-4A1A-9CF6-AF9584B1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6334125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A653F-E5D7-42D6-A316-13FED1D4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FOUNDATIONS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DE0BB-FF93-47DC-92F9-935CDD67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1D8FE-E8F0-4A23-8DDE-95D9EC78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9525">
            <a:solidFill>
              <a:srgbClr val="D69E2E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D2FF8-08C6-4BD6-8E0A-43FF5C1E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3050" y="6334125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43A531-43A0-46BE-B7A2-36B67CA4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B27066-A6F7-4838-B807-09D2A49C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38200"/>
            <a:ext cx="9810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Demo 2: Document Intelligence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744AA5-E1F2-460D-8680-E82993A7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28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Convert unstructured documents into validated, reviewable, API-ready structured data.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9D3F6A-A2CC-4E88-BC42-01FFEE1C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2743200"/>
            <a:ext cx="1314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F43FA4-0A49-42CD-8073-A956A1E8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3057525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Classify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682389-D200-42E3-8780-60EE8D5E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302895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AFD350-F608-4147-AFE8-3D852A60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0875" y="2743200"/>
            <a:ext cx="1314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37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F26CC8-37B9-4C89-9650-114FF73C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5175" y="3057525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A37F"/>
                </a:solidFill>
              </a:defRPr>
            </a:pPr>
            <a:r>
              <a:rPr sz="1350" b="1">
                <a:solidFill>
                  <a:srgbClr val="10A37F"/>
                </a:solidFill>
              </a:rPr>
              <a:t>Extract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F4667F-9E7A-4DBF-B0E9-A053DC2D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302895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93FDAD-14B7-4F50-8116-FFC0EE1B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2743200"/>
            <a:ext cx="1314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9E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6C0D02-7894-4A51-81C0-506B4C10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3057525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69E2E"/>
                </a:solidFill>
              </a:defRPr>
            </a:pPr>
            <a:r>
              <a:rPr sz="1350" b="1">
                <a:solidFill>
                  <a:srgbClr val="D69E2E"/>
                </a:solidFill>
              </a:rPr>
              <a:t>Validate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5B1D6E-211A-4A4D-95F5-638FDA11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302895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30F9C1-9B47-4DC6-B3F3-73C09383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6125" y="2743200"/>
            <a:ext cx="1314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858845-E930-4979-9A0A-D2D1D16A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0425" y="3057525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34C47B-7390-4201-8249-48183BFC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302895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97094D-18BE-494C-B7E4-843CC400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0" y="2743200"/>
            <a:ext cx="1314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6F5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28BD59-6267-4F8F-BA70-E9AE9411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3050" y="3057525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76F51"/>
                </a:solidFill>
              </a:defRPr>
            </a:pPr>
            <a:r>
              <a:rPr sz="1350" b="1">
                <a:solidFill>
                  <a:srgbClr val="E76F51"/>
                </a:solidFill>
              </a:rPr>
              <a:t>Payload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3472C7-B41F-4A88-AB39-3913A431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476750"/>
            <a:ext cx="2952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98A539-E677-45F6-B817-58826518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4767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26B3B5-3DBF-4D95-B863-CF135D1B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4648200"/>
            <a:ext cx="2533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A37F"/>
                </a:solidFill>
              </a:defRPr>
            </a:pPr>
            <a:r>
              <a:rPr sz="975" b="1">
                <a:solidFill>
                  <a:srgbClr val="10A37F"/>
                </a:solidFill>
              </a:rPr>
              <a:t>Schema-driven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237A9E-9C91-4A83-834C-9CD359EA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5010150"/>
            <a:ext cx="2533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41"/>
                </a:solidFill>
              </a:defRPr>
            </a:pPr>
            <a:r>
              <a:rPr sz="1050" b="0">
                <a:solidFill>
                  <a:srgbClr val="243041"/>
                </a:solidFill>
              </a:rPr>
              <a:t>Extraction fields are defined up front and validated before export.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36842B-1DFA-44BE-AB22-2D5A6B3A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4476750"/>
            <a:ext cx="2952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2EDD84-58BE-4819-BB2D-39D04607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44767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8F12B9-27C2-4F57-BC28-8F94D56F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4648200"/>
            <a:ext cx="2533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9E2E"/>
                </a:solidFill>
              </a:defRPr>
            </a:pPr>
            <a:r>
              <a:rPr sz="975" b="1">
                <a:solidFill>
                  <a:srgbClr val="D69E2E"/>
                </a:solidFill>
              </a:rPr>
              <a:t>Confidence-aware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12C388-5053-4D53-A979-0E565C29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5010150"/>
            <a:ext cx="2533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41"/>
                </a:solidFill>
              </a:defRPr>
            </a:pPr>
            <a:r>
              <a:rPr sz="1050" b="0">
                <a:solidFill>
                  <a:srgbClr val="243041"/>
                </a:solidFill>
              </a:rPr>
              <a:t>Low-confidence values are routed to human review instead of hidden.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D01AF8-2488-42FE-B9E3-04889FD1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476750"/>
            <a:ext cx="2952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9B96C0-4907-4A5B-9CF5-9E43141A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4767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F1828F-A15A-4832-89A3-41EBF21A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5800" y="4648200"/>
            <a:ext cx="2533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API-ready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543159-2951-4B2A-8F96-46E7C5EC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5800" y="5010150"/>
            <a:ext cx="2533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41"/>
                </a:solidFill>
              </a:defRPr>
            </a:pPr>
            <a:r>
              <a:rPr sz="1050" b="0">
                <a:solidFill>
                  <a:srgbClr val="243041"/>
                </a:solidFill>
              </a:rPr>
              <a:t>Validated JSON payloads can move into workflow systems safely.</a:t>
            </a:r>
          </a:p>
        </p:txBody>
      </p:sp>
    </p:spTree>
    <p:extLst>
      <p:ext uri="{BB962C8B-B14F-4D97-AF65-F5344CB8AC3E}">
        <p14:creationId xmlns:p14="http://schemas.microsoft.com/office/powerpoint/2010/main" val="19137228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51EE07-7B9B-4ACC-B003-662C9BCAA0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5683A-D6EF-48D2-B675-1FCE55AC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-1333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48147-5760-43A5-9F4E-9D718746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38250" y="4762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129D1-4661-4DB2-B694-FDEB0AE2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94AC7-3C64-4E41-832E-B6CBF8A1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2286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B57"/>
                </a:solidFill>
              </a:defRPr>
            </a:pPr>
            <a:r>
              <a:rPr sz="900" b="1">
                <a:solidFill>
                  <a:srgbClr val="0B6B57"/>
                </a:solidFill>
              </a:rPr>
              <a:t>DEMOS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6F9E4-50BA-4FB3-83E0-EF5F844D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0400" y="22860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10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4BFEE-65BB-4C0A-B828-B56B866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55245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0184D-5732-488C-B629-C4BF1E70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6334125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18130-1A04-4C0B-8B36-3580424E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FOUNDATIONS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9B73F-D783-430B-B8C1-8126692F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D9B6B7-BC7A-411E-BA50-04429A35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9525">
            <a:solidFill>
              <a:srgbClr val="D69E2E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21F0C8-D03F-4373-813D-029A8002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3050" y="6334125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DD43DB-A286-45A8-90B7-270C3E73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5D2A60-57D2-487B-9F45-1553ECAE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38200"/>
            <a:ext cx="9906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Demo 3: Predictive ML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B1F971-8A20-4057-B968-B8F74ABD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28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Show that applied AI is broader than chat: forecasting, anomaly detection, scoring, and decision support.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6AE6CC-7634-4542-BD87-9EA97B4D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333625"/>
            <a:ext cx="2971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ACCB46-9B35-4E42-AD3E-F78B1A38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333625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958C41-3947-43B1-ABD6-1BEF0301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2505075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A37F"/>
                </a:solidFill>
              </a:defRPr>
            </a:pPr>
            <a:r>
              <a:rPr sz="975" b="1">
                <a:solidFill>
                  <a:srgbClr val="10A37F"/>
                </a:solidFill>
              </a:rPr>
              <a:t>ML lifecycle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185623-795F-4CFF-BC08-8183D581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2867025"/>
            <a:ext cx="2552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041"/>
                </a:solidFill>
              </a:defRPr>
            </a:pPr>
            <a:r>
              <a:rPr sz="975" b="0">
                <a:solidFill>
                  <a:srgbClr val="243041"/>
                </a:solidFill>
              </a:rPr>
              <a:t>Clean data, features, split, train, test, serve, monitor.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B790B9-7D57-42DE-BA3F-C80981A8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667125"/>
            <a:ext cx="2971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8B6622-C7FE-47B7-A778-E3B4366F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667125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D6504-5B6F-4130-A7C6-8B83D2B2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3838575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9E2E"/>
                </a:solidFill>
              </a:defRPr>
            </a:pPr>
            <a:r>
              <a:rPr sz="975" b="1">
                <a:solidFill>
                  <a:srgbClr val="D69E2E"/>
                </a:solidFill>
              </a:rPr>
              <a:t>Presenter angle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CF0C8D-E64B-484E-A5AF-272D8040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4200525"/>
            <a:ext cx="2552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041"/>
                </a:solidFill>
              </a:defRPr>
            </a:pPr>
            <a:r>
              <a:rPr sz="975" b="0">
                <a:solidFill>
                  <a:srgbClr val="243041"/>
                </a:solidFill>
              </a:rPr>
              <a:t>Use metrics to show that ML is measurable, not magical.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70238C-ED37-4D90-B716-0EF9782B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2095500"/>
            <a:ext cx="719137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95C194-1408-4618-850F-A87C70E4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2450" y="232410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Forecast demo scorecard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4476750" y="2781300"/>
          <a:ext xmlns:a="http://schemas.openxmlformats.org/drawingml/2006/main" cx="61912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786b8fe52445f2"/>
          </a:graphicData>
        </a:graphic>
      </p:graphicFrame>
    </p:spTree>
    <p:extLst>
      <p:ext uri="{BB962C8B-B14F-4D97-AF65-F5344CB8AC3E}">
        <p14:creationId xmlns:p14="http://schemas.microsoft.com/office/powerpoint/2010/main" val="1419887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51EE07-7B9B-4ACC-B003-662C9BCAA0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F7FEB-86A2-4C01-AC29-A086B5DD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-1333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32336-5949-4C3E-9E2B-008E2097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38250" y="4762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0F0585-89F4-4324-B3FB-090DA8CA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7CA05-AC89-4F07-B3FF-D75708FA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2286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B57"/>
                </a:solidFill>
              </a:defRPr>
            </a:pPr>
            <a:r>
              <a:rPr sz="900" b="1">
                <a:solidFill>
                  <a:srgbClr val="0B6B57"/>
                </a:solidFill>
              </a:rPr>
              <a:t>DEMOS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F57D2-993E-46C3-904C-9D8D7741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0400" y="22860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11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38790-0D68-4681-B35D-2B7E3031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55245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97E23-B7E7-4936-8B6E-84C56194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6334125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F54EF-FEF1-4BB0-8F54-A79C6AA5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FOUNDATIONS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6973A-0057-4947-A174-E5D345BF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60755-902D-4042-B884-6AA43EF3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9525">
            <a:solidFill>
              <a:srgbClr val="D69E2E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063901-09FB-480A-973B-F9C55CDD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3050" y="6334125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F3C04-ED38-419D-AC65-B0C2E4D4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F34C1F-724C-4540-BE36-307AA6D2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38200"/>
            <a:ext cx="1000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Demo 4: Agentic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680287-0E0C-47C7-8A8F-B320F50E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28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Move from answers to controlled actions through typed tools, approvals, API execution, and audit logs.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112EC-5B27-41BB-AEB3-CBBCCF00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667000"/>
            <a:ext cx="114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4BB8D0-BCD6-4D20-8CA0-CF6036D5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288607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Request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509C02-0743-44A9-AA28-136E9CCF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7875" y="289560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58625C-DDCB-4A93-9460-A93AA0E3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0" y="2667000"/>
            <a:ext cx="114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37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D6C373-B43D-49DA-8D3D-EF47F0E7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288607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A37F"/>
                </a:solidFill>
              </a:defRPr>
            </a:pPr>
            <a:r>
              <a:rPr sz="1050" b="1">
                <a:solidFill>
                  <a:srgbClr val="10A37F"/>
                </a:solidFill>
              </a:rPr>
              <a:t>Classify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4A7659-7BCF-4C7D-A15A-943008EF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7125" y="289560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F7669D-2277-423C-91BB-D83B97CB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2667000"/>
            <a:ext cx="114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9E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113674-B87C-4FC7-A957-C413E601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0" y="288607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69E2E"/>
                </a:solidFill>
              </a:defRPr>
            </a:pPr>
            <a:r>
              <a:rPr sz="1050" b="1">
                <a:solidFill>
                  <a:srgbClr val="D69E2E"/>
                </a:solidFill>
              </a:rPr>
              <a:t>Gather 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E16E42-7B60-42ED-8248-4A9EFF2F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6375" y="289560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230773-E997-4897-9528-50CCD729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0" y="2667000"/>
            <a:ext cx="114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C7F839-D676-4BAF-8A17-5AA61C13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288607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Plan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F2100C-FF4C-405F-8B2C-C6440647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6125" y="289560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A98408-E6F0-464A-9392-38184A67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2667000"/>
            <a:ext cx="114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6F5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70A84B-AB2E-41CC-AF01-E05A28E3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88607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6F51"/>
                </a:solidFill>
              </a:defRPr>
            </a:pPr>
            <a:r>
              <a:rPr sz="1050" b="1">
                <a:solidFill>
                  <a:srgbClr val="E76F51"/>
                </a:solidFill>
              </a:rPr>
              <a:t>Approve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1452B7-0F5A-4E16-8C1D-C5992C48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289560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83179A-BF7B-482C-970D-10F957C5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2667000"/>
            <a:ext cx="114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A06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A920F4-E7B6-4219-9E91-4A903B97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0" y="288607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A06B"/>
                </a:solidFill>
              </a:defRPr>
            </a:pPr>
            <a:r>
              <a:rPr sz="1050" b="1">
                <a:solidFill>
                  <a:srgbClr val="22A06B"/>
                </a:solidFill>
              </a:rPr>
              <a:t>Execute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AA616E-D513-457F-A814-3C906245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44125" y="289560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82D14B-3E89-4819-A052-EABA64CE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2667000"/>
            <a:ext cx="114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91B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5BBE15-731F-4E16-862E-9EBA712B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0" y="288607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91B2"/>
                </a:solidFill>
              </a:defRPr>
            </a:pPr>
            <a:r>
              <a:rPr sz="1050" b="1">
                <a:solidFill>
                  <a:srgbClr val="0891B2"/>
                </a:solidFill>
              </a:rPr>
              <a:t>Audit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E065C3-47C7-4650-A73D-767488BA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381500"/>
            <a:ext cx="3048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828773-07F9-4482-B7BD-B272E2F8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38150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B14C52-88E6-47BC-A547-7C8ED924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455295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</a:defRPr>
            </a:pPr>
            <a:r>
              <a:rPr sz="975" b="1">
                <a:solidFill>
                  <a:srgbClr val="E76F51"/>
                </a:solidFill>
              </a:rPr>
              <a:t>Safety boundary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CDA6C2-22AE-4E22-A735-D12BAFD1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4914900"/>
            <a:ext cx="262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41"/>
                </a:solidFill>
              </a:defRPr>
            </a:pPr>
            <a:r>
              <a:rPr sz="1050" b="0">
                <a:solidFill>
                  <a:srgbClr val="243041"/>
                </a:solidFill>
              </a:rPr>
              <a:t>Read tools and write tools are separate. External writes require approval.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858BE2-D7EE-499F-AAE0-6989BA7F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4381500"/>
            <a:ext cx="3048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1DDCF8-1DA4-42B5-AD0F-E985A46E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438150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CC176B-0C53-4996-B089-AEEAED51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455295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A37F"/>
                </a:solidFill>
              </a:defRPr>
            </a:pPr>
            <a:r>
              <a:rPr sz="975" b="1">
                <a:solidFill>
                  <a:srgbClr val="10A37F"/>
                </a:solidFill>
              </a:rPr>
              <a:t>Typed tools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8ECEB9-7FFF-4398-B35E-E90E3E77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4914900"/>
            <a:ext cx="262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41"/>
                </a:solidFill>
              </a:defRPr>
            </a:pPr>
            <a:r>
              <a:rPr sz="1050" b="0">
                <a:solidFill>
                  <a:srgbClr val="243041"/>
                </a:solidFill>
              </a:rPr>
              <a:t>Every tool has a schema, validation, timeout, retry behavior, and audit payload.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497074-17A6-4B76-81F7-71F8F5F0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4381500"/>
            <a:ext cx="3048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EA4EA9-9971-4C5F-91B2-D60D2428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438150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6A777E1-F3E2-4D49-8E64-2F8D381A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455295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Dry run mode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F43141-3BC6-45E3-92D8-1B6AE422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4914900"/>
            <a:ext cx="262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41"/>
                </a:solidFill>
              </a:defRPr>
            </a:pPr>
            <a:r>
              <a:rPr sz="1050" b="0">
                <a:solidFill>
                  <a:srgbClr val="243041"/>
                </a:solidFill>
              </a:rPr>
              <a:t>Show proposed actions before execution. Keep demos safe and inspectable.</a:t>
            </a:r>
          </a:p>
        </p:txBody>
      </p:sp>
    </p:spTree>
    <p:extLst>
      <p:ext uri="{BB962C8B-B14F-4D97-AF65-F5344CB8AC3E}">
        <p14:creationId xmlns:p14="http://schemas.microsoft.com/office/powerpoint/2010/main" val="12340178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51EE07-7B9B-4ACC-B003-662C9BCAA0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B9EA4-92F6-4B06-BF5B-F0D5416F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-1333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D6BC6-70F6-43B2-BF03-345001B7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38250" y="4762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F473F-AADA-4C10-97BB-893CA28E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D53D5-A4BD-43C1-A697-97A27DAD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2286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B57"/>
                </a:solidFill>
              </a:defRPr>
            </a:pPr>
            <a:r>
              <a:rPr sz="900" b="1">
                <a:solidFill>
                  <a:srgbClr val="0B6B57"/>
                </a:solidFill>
              </a:rPr>
              <a:t>DEMOS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D79CB-FA20-4229-ABCB-B71B7210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0400" y="22860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12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2215E-2E19-4CAC-9164-99B7FF4D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55245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A0300-0FB3-466B-88D9-303E3A6B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6334125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742E9-4AD1-4F70-85B2-1F67AE9D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FOUNDATIONS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24C616-299E-404A-BFBF-761FB08F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71BF36-6E95-472F-B421-4B461962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9525">
            <a:solidFill>
              <a:srgbClr val="D69E2E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90185B-1A71-4AC7-A109-CD204153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3050" y="6334125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9D18B-67CC-4FED-83B3-F9D65E7A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C1FB66-8C5F-4B07-A1D5-BE72B4B3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38200"/>
            <a:ext cx="9906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API Integration Topology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B7CB24-F946-42E5-BBE5-53985AF5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28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AI becomes useful when it can safely read context, call tools, and write approved outcomes.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DDDEAD-86C6-4983-9AAC-B5C96667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0" y="271462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3F70F4-F5BB-4060-BBB2-FF3493FF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0" y="3114675"/>
            <a:ext cx="114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AI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Orchestration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Hub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DD3502-0AFB-4BFF-AF8B-6E9088DD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2047875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0C07C6-42CA-4C6B-B75E-B3437AB1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2575" y="2314575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Identity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A29FF6-0286-479F-87AE-DB0F6329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1666875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37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267C2F-C2AA-4653-B098-6C2AA9BB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1933575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A37F"/>
                </a:solidFill>
              </a:defRPr>
            </a:pPr>
            <a:r>
              <a:rPr sz="1275" b="1">
                <a:solidFill>
                  <a:srgbClr val="10A37F"/>
                </a:solidFill>
              </a:rPr>
              <a:t>Knowledge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629301-94FA-40AF-B68E-B29C2F7D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2047875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9E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A8FC22-C1D1-4B06-B7F0-8C7AC4DF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1450" y="2314575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69E2E"/>
                </a:solidFill>
              </a:defRPr>
            </a:pPr>
            <a:r>
              <a:rPr sz="1275" b="1">
                <a:solidFill>
                  <a:srgbClr val="D69E2E"/>
                </a:solidFill>
              </a:rPr>
              <a:t>Business systems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8A685A-5A5F-47D7-B328-E48C9817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4000500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6729D9-7EB4-447C-A1B4-CA98F2A6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6325" y="426720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C3AED"/>
                </a:solidFill>
              </a:defRPr>
            </a:pPr>
            <a:r>
              <a:rPr sz="1275" b="1">
                <a:solidFill>
                  <a:srgbClr val="7C3AED"/>
                </a:solidFill>
              </a:rPr>
              <a:t>Communication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F52C98-A734-466D-95CB-A853B8FD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0" y="5286375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6F5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0E084D-C80B-494F-8600-84FBE70A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9950" y="5553075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76F51"/>
                </a:solidFill>
              </a:defRPr>
            </a:pPr>
            <a:r>
              <a:rPr sz="1275" b="1">
                <a:solidFill>
                  <a:srgbClr val="E76F51"/>
                </a:solidFill>
              </a:rPr>
              <a:t>AI providers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25742A-0F35-411A-B7F7-5E811CD8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7125" y="5286375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A0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2342A5-AD47-4415-86A0-FF7F34AB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8575" y="5553075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2A06B"/>
                </a:solidFill>
              </a:defRPr>
            </a:pPr>
            <a:r>
              <a:rPr sz="1275" b="1">
                <a:solidFill>
                  <a:srgbClr val="22A06B"/>
                </a:solidFill>
              </a:rPr>
              <a:t>Data systems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FD79E2-2F85-4957-884E-6C29779B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4000500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91B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B62E77-BB1C-47E1-AD4D-E40F0E48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426720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91B2"/>
                </a:solidFill>
              </a:defRPr>
            </a:pPr>
            <a:r>
              <a:rPr sz="1275" b="1">
                <a:solidFill>
                  <a:srgbClr val="0891B2"/>
                </a:solidFill>
              </a:rPr>
              <a:t>Developer systems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A1FDC6-0464-4FE8-929C-3B69F448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5667375"/>
            <a:ext cx="2857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B8ED7B-8D24-4797-88AE-1CAC14EC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5667375"/>
            <a:ext cx="76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89ABBA-F29E-47C9-9442-BFC5C020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838825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A37F"/>
                </a:solidFill>
              </a:defRPr>
            </a:pPr>
            <a:r>
              <a:rPr sz="825" b="1">
                <a:solidFill>
                  <a:srgbClr val="10A37F"/>
                </a:solidFill>
              </a:rPr>
              <a:t>Rule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B72896-19C9-4740-B94B-9B644F67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6200775"/>
            <a:ext cx="24384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Permission first, then retrieval, then action.</a:t>
            </a:r>
          </a:p>
        </p:txBody>
      </p:sp>
    </p:spTree>
    <p:extLst>
      <p:ext uri="{BB962C8B-B14F-4D97-AF65-F5344CB8AC3E}">
        <p14:creationId xmlns:p14="http://schemas.microsoft.com/office/powerpoint/2010/main" val="5934783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51EE07-7B9B-4ACC-B003-662C9BCAA0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95DD7-3D2D-4D41-BAEE-F6818483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-1333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34EF9-96DF-4AE6-8401-4BF5074E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38250" y="4762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753EA-1DEF-4945-85A0-005989F6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66749-3C5A-4E7C-BABA-8CBBEFB8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2286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B57"/>
                </a:solidFill>
              </a:defRPr>
            </a:pPr>
            <a:r>
              <a:rPr sz="900" b="1">
                <a:solidFill>
                  <a:srgbClr val="0B6B57"/>
                </a:solidFill>
              </a:rPr>
              <a:t>DEMOS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4A001-E3FB-49E2-BACD-9C17B0FF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0400" y="22860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13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8FEF1D-7757-4430-A03D-8C9170AE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55245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77706-91FE-426C-8705-73EB4DA1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6334125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EE281D-8EBA-4BF5-BAD7-67EA9AF6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FOUNDATIONS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6F0337-AF05-49BB-99B2-857252D7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49EA9-78B1-4746-BB59-2EDA7BCE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9525">
            <a:solidFill>
              <a:srgbClr val="D69E2E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D7E17B-5EF8-47B5-AEB6-45BB3207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3050" y="6334125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24674C-1973-42B6-85B0-126D1153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DC42E1-E8C1-455D-B727-718B83B7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38200"/>
            <a:ext cx="9810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Multimodal and Visual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FDDE26-8A67-44D7-B57D-09632F78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28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Images, screenshots, charts, forms, and video frames become first-class inputs for intelligent workflows.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BF196C-DD10-402B-AB6C-FA9F82F4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381250"/>
            <a:ext cx="4286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162E52-F9BE-4D1F-9CBA-C08B4BA7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38125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B71DBC-969B-4AFC-8E4F-1EAE16E2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2552700"/>
            <a:ext cx="386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Screenshot analyzer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F6C9FC-F0C0-4B0F-8507-761E3936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2914650"/>
            <a:ext cx="38671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1"/>
                </a:solidFill>
              </a:defRPr>
            </a:pPr>
            <a:r>
              <a:rPr sz="1125" b="0">
                <a:solidFill>
                  <a:srgbClr val="243041"/>
                </a:solidFill>
              </a:rPr>
              <a:t>Understand UI states and errors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433DF5-DC55-4E0E-8D55-9233800F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2381250"/>
            <a:ext cx="4286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E576C8-D51E-4BF6-8C72-F736FEC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238125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300D9C-01E7-4A85-8323-B46968C9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552700"/>
            <a:ext cx="386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A37F"/>
                </a:solidFill>
              </a:defRPr>
            </a:pPr>
            <a:r>
              <a:rPr sz="975" b="1">
                <a:solidFill>
                  <a:srgbClr val="10A37F"/>
                </a:solidFill>
              </a:rPr>
              <a:t>Form image reader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D9112A-9B75-4C36-8943-6537461D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914650"/>
            <a:ext cx="38671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1"/>
                </a:solidFill>
              </a:defRPr>
            </a:pPr>
            <a:r>
              <a:rPr sz="1125" b="0">
                <a:solidFill>
                  <a:srgbClr val="243041"/>
                </a:solidFill>
              </a:rPr>
              <a:t>OCR + structured extraction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5F3F60-11D8-4E20-A711-2667B815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3952875"/>
            <a:ext cx="4286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2FF477-A57C-4DC4-AFF6-7E9C081D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395287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98E667-043F-435D-A576-F452A0E3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4124325"/>
            <a:ext cx="386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9E2E"/>
                </a:solidFill>
              </a:defRPr>
            </a:pPr>
            <a:r>
              <a:rPr sz="975" b="1">
                <a:solidFill>
                  <a:srgbClr val="D69E2E"/>
                </a:solidFill>
              </a:rPr>
              <a:t>Chart explainer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CBC13A-5C77-450B-8353-9C922E76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4486275"/>
            <a:ext cx="38671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1"/>
                </a:solidFill>
              </a:defRPr>
            </a:pPr>
            <a:r>
              <a:rPr sz="1125" b="0">
                <a:solidFill>
                  <a:srgbClr val="243041"/>
                </a:solidFill>
              </a:rPr>
              <a:t>Ask questions about visual data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5E2975-10DA-42E1-8706-CFB366C8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3952875"/>
            <a:ext cx="4286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58582E-BA72-491A-B969-68699CEA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395287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85EBC1-E37C-4BD5-A6E6-1C7CB760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4124325"/>
            <a:ext cx="386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</a:defRPr>
            </a:pPr>
            <a:r>
              <a:rPr sz="975" b="1">
                <a:solidFill>
                  <a:srgbClr val="E76F51"/>
                </a:solidFill>
              </a:rPr>
              <a:t>Visual QA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723017-F406-4098-A38A-7D1DFA4D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4486275"/>
            <a:ext cx="38671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1"/>
                </a:solidFill>
              </a:defRPr>
            </a:pPr>
            <a:r>
              <a:rPr sz="1125" b="0">
                <a:solidFill>
                  <a:srgbClr val="243041"/>
                </a:solidFill>
              </a:rPr>
              <a:t>Classify defects and flag uncertainty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713830-40D5-4462-AD13-D09718B4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3375" y="2343150"/>
            <a:ext cx="2476500" cy="2571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61DBD6-558A-4E22-AE87-9CF24D58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8175" y="2667000"/>
            <a:ext cx="18669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36B9D5-FC58-44A7-A2D3-BEE2E925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3450" y="2971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FD53FF-EDA3-4985-8B92-F39357FD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0" y="2990850"/>
            <a:ext cx="819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5FD11B-8E0E-4E16-9184-CFA1F9B2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0" y="32385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AD5EEE-2695-4EFB-A6C2-7C18293E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42291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Confidence + review</a:t>
            </a:r>
          </a:p>
        </p:txBody>
      </p:sp>
    </p:spTree>
    <p:extLst>
      <p:ext uri="{BB962C8B-B14F-4D97-AF65-F5344CB8AC3E}">
        <p14:creationId xmlns:p14="http://schemas.microsoft.com/office/powerpoint/2010/main" val="6387490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51EE07-7B9B-4ACC-B003-662C9BCAA0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2ED0D-5141-474A-A15D-C2D7BBCD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-1333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F534C-6A21-4907-B654-60300E58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38250" y="4762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F6F2B-A898-451F-A922-6599C126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AD43B-7A6B-44FA-B89B-517BE45D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2286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B57"/>
                </a:solidFill>
              </a:defRPr>
            </a:pPr>
            <a:r>
              <a:rPr sz="900" b="1">
                <a:solidFill>
                  <a:srgbClr val="0B6B57"/>
                </a:solidFill>
              </a:rPr>
              <a:t>DEMOS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7BF56-4032-4505-A6B1-4113115A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0400" y="22860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14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E4D88-6052-414C-8F44-17373092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55245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F39BE-69A9-4FB9-82ED-06CE2612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6334125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8B104-902E-4D73-B795-04EFF96F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FOUNDATIONS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3FEEA-3DF4-4C27-845D-FA1D51E4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D3D9E3-5252-4F52-8ABD-1CE24C46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9525">
            <a:solidFill>
              <a:srgbClr val="D69E2E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C11A9-AED6-4BEC-A748-40E873DE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3050" y="6334125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E65D5A-8A0D-4E80-BB36-B32EA4E8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09DE55-6F2D-41D5-AB08-C552A3AA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38200"/>
            <a:ext cx="9906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Developer Intelligence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CB06BA-580A-43A3-88C4-F81DE621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28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Use AI to understand code, generate tests, review diffs, explain logs, and speed up delivery.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89B930-2FCB-4BA5-B603-7B87A424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619375"/>
            <a:ext cx="2324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CF02A3-43E1-49FC-A2F0-7AC999E9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61937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2D0F62-0D4E-4003-9CDF-E01CDDD2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850" y="27908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Understand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E7F61A-14C2-4BD1-9E31-B5A02D35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850" y="3152775"/>
            <a:ext cx="1905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41"/>
                </a:solidFill>
              </a:defRPr>
            </a:pPr>
            <a:r>
              <a:rPr sz="1050" b="0">
                <a:solidFill>
                  <a:srgbClr val="243041"/>
                </a:solidFill>
              </a:rPr>
              <a:t>Index a repo, explain modules, map dependencies.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8E4A6A-9CE6-43C5-86EE-6A7F9D9C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2619375"/>
            <a:ext cx="2324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6FF74F-FC1F-48AE-A01D-5797F89A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261937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007F4C-CE65-4218-80F8-4A847E3A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9050" y="27908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A37F"/>
                </a:solidFill>
              </a:defRPr>
            </a:pPr>
            <a:r>
              <a:rPr sz="975" b="1">
                <a:solidFill>
                  <a:srgbClr val="10A37F"/>
                </a:solidFill>
              </a:rPr>
              <a:t>Generate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F78C80-DD61-43E3-BB66-4056055A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9050" y="3152775"/>
            <a:ext cx="1905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41"/>
                </a:solidFill>
              </a:defRPr>
            </a:pPr>
            <a:r>
              <a:rPr sz="1050" b="0">
                <a:solidFill>
                  <a:srgbClr val="243041"/>
                </a:solidFill>
              </a:rPr>
              <a:t>Create focused unit tests and API docs.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812839-F775-4F49-B95D-C19B9DED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700" y="2619375"/>
            <a:ext cx="2324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A04EFA-1FF9-4A26-B30A-D6D92102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700" y="261937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2B04D1-4773-4176-BEFB-14CF047D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27908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9E2E"/>
                </a:solidFill>
              </a:defRPr>
            </a:pPr>
            <a:r>
              <a:rPr sz="975" b="1">
                <a:solidFill>
                  <a:srgbClr val="D69E2E"/>
                </a:solidFill>
              </a:rPr>
              <a:t>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0BF208-EDE8-4D9A-A35E-14A27487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3152775"/>
            <a:ext cx="1905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41"/>
                </a:solidFill>
              </a:defRPr>
            </a:pPr>
            <a:r>
              <a:rPr sz="1050" b="0">
                <a:solidFill>
                  <a:srgbClr val="243041"/>
                </a:solidFill>
              </a:rPr>
              <a:t>Inspect diffs for bugs, regressions, missing tests.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A33D90-8199-4993-B320-86F52673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5900" y="2619375"/>
            <a:ext cx="2324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51BBA9-D0F8-4629-BC66-F29DA67C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5900" y="261937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E33133-B97B-41A7-B3D6-AC33703A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0" y="27908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</a:defRPr>
            </a:pPr>
            <a:r>
              <a:rPr sz="975" b="1">
                <a:solidFill>
                  <a:srgbClr val="E76F51"/>
                </a:solidFill>
              </a:rPr>
              <a:t>Debug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7BEBDB-3A82-45AB-943B-D6C96C8A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0" y="3152775"/>
            <a:ext cx="1905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41"/>
                </a:solidFill>
              </a:defRPr>
            </a:pPr>
            <a:r>
              <a:rPr sz="1050" b="0">
                <a:solidFill>
                  <a:srgbClr val="243041"/>
                </a:solidFill>
              </a:rPr>
              <a:t>Summarize logs and propose next checks.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D42BAB-8C9B-4D98-BCF9-2F165B05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4810125"/>
            <a:ext cx="8001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00AC3F-3463-46D5-A444-DB989BFD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0" y="501015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Human review remains the gate: AI proposes, engineers verify, tests prove.</a:t>
            </a:r>
          </a:p>
        </p:txBody>
      </p:sp>
    </p:spTree>
    <p:extLst>
      <p:ext uri="{BB962C8B-B14F-4D97-AF65-F5344CB8AC3E}">
        <p14:creationId xmlns:p14="http://schemas.microsoft.com/office/powerpoint/2010/main" val="11467518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51EE07-7B9B-4ACC-B003-662C9BCAA0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6D028-683B-4172-A820-4CC8236A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-1333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02B22-AAF4-4AAD-86C1-748C89C0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38250" y="4762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72F16-036F-4DD5-AAB3-A30D0C98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4AF6C-F22F-4380-89AE-0B141BCF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2286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B57"/>
                </a:solidFill>
              </a:defRPr>
            </a:pPr>
            <a:r>
              <a:rPr sz="900" b="1">
                <a:solidFill>
                  <a:srgbClr val="0B6B57"/>
                </a:solidFill>
              </a:rPr>
              <a:t>STACK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56B8D-5517-4E8F-9E3B-3817F294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0400" y="22860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15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FAF2C-7FE4-41E3-8CD0-E335332D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55245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E16A1-A34E-4FA8-B57B-B7D1F483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6334125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F3150-2053-4366-9375-ADC8A45F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FOUNDATIONS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E3E7A4-954B-4FF7-9E11-ABF83698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8315B-8153-4EEB-BAA6-6198E5EC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9525">
            <a:solidFill>
              <a:srgbClr val="D69E2E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BB80C-7E72-4DE0-A5FB-545EC5F1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3050" y="6334125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07267-1270-45FE-BEAC-5AE0D411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615A5-B753-4B5C-9BA0-E3D01EC1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38200"/>
            <a:ext cx="933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Software Stack Deep Dive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E1ED34-BE88-4A0F-A527-9988AD5A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28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The workshop should prove full-stack competence, not only model familiarity.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ED4F0F-7B5B-4DA9-AE49-29F77DBD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238375"/>
            <a:ext cx="31623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8E8E55-657D-4C4B-BE2C-92BD0C1D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238375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362D2D-0641-418A-B7EC-8BEAB9EE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850" y="2409825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Frontend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A90948-B00C-4F48-A99E-8565189C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850" y="2771775"/>
            <a:ext cx="274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41"/>
                </a:solidFill>
              </a:defRPr>
            </a:pPr>
            <a:r>
              <a:rPr sz="1050" b="0">
                <a:solidFill>
                  <a:srgbClr val="243041"/>
                </a:solidFill>
              </a:rPr>
              <a:t>React-style UI, dashboards, chat, uploads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5C94EF-DCDE-4A01-A544-C1C1F60B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2238375"/>
            <a:ext cx="31623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BAB05F-1F40-4940-A7D4-1F2B4366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2238375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E51513-61DA-4625-A990-7911A1E5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5350" y="2409825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A37F"/>
                </a:solidFill>
              </a:defRPr>
            </a:pPr>
            <a:r>
              <a:rPr sz="975" b="1">
                <a:solidFill>
                  <a:srgbClr val="10A37F"/>
                </a:solidFill>
              </a:rPr>
              <a:t>Backend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64D3F6-1320-43B2-A1A7-143C3695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5350" y="2771775"/>
            <a:ext cx="274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41"/>
                </a:solidFill>
              </a:defRPr>
            </a:pPr>
            <a:r>
              <a:rPr sz="1050" b="0">
                <a:solidFill>
                  <a:srgbClr val="243041"/>
                </a:solidFill>
              </a:rPr>
              <a:t>Typed APIs, auth, validation, background jobs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317972-976F-4FEE-B9C2-FC004EB4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2238375"/>
            <a:ext cx="31623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DA52F6-704C-4624-90DF-EE41CE34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2238375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3228A5-3EB9-4EE9-8D45-465B592C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4850" y="2409825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9E2E"/>
                </a:solidFill>
              </a:defRPr>
            </a:pPr>
            <a:r>
              <a:rPr sz="975" b="1">
                <a:solidFill>
                  <a:srgbClr val="D69E2E"/>
                </a:solidFill>
              </a:rPr>
              <a:t>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79365A-2FDD-407D-A791-39634EE0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4850" y="2771775"/>
            <a:ext cx="274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41"/>
                </a:solidFill>
              </a:defRPr>
            </a:pPr>
            <a:r>
              <a:rPr sz="1050" b="0">
                <a:solidFill>
                  <a:srgbClr val="243041"/>
                </a:solidFill>
              </a:rPr>
              <a:t>SQL, object storage, vector search, cache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B9BA2F-6FD4-459F-835F-AFC39817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857625"/>
            <a:ext cx="31623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3558C9-7616-4A77-BD14-D315F2E6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857625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FF37F6-E0A2-474D-8D71-104719B9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850" y="4029075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AI/ML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6CD59B-59E1-4B13-A384-60A651F8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850" y="4391025"/>
            <a:ext cx="274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41"/>
                </a:solidFill>
              </a:defRPr>
            </a:pPr>
            <a:r>
              <a:rPr sz="1050" b="0">
                <a:solidFill>
                  <a:srgbClr val="243041"/>
                </a:solidFill>
              </a:rPr>
              <a:t>LLMs, embeddings, vision, speech, classical ML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7C116E-DECD-41E7-85B4-CBC19A69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857625"/>
            <a:ext cx="31623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EBC9CF-9330-47BF-A3BB-96759EF6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857625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3FCD29-BB96-448E-810A-D934E1BD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5350" y="4029075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A06B"/>
                </a:solidFill>
              </a:defRPr>
            </a:pPr>
            <a:r>
              <a:rPr sz="975" b="1">
                <a:solidFill>
                  <a:srgbClr val="22A06B"/>
                </a:solidFill>
              </a:rPr>
              <a:t>DevOps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1C72B6-A76A-47A6-83BA-E35B39AB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5350" y="4391025"/>
            <a:ext cx="274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41"/>
                </a:solidFill>
              </a:defRPr>
            </a:pPr>
            <a:r>
              <a:rPr sz="1050" b="0">
                <a:solidFill>
                  <a:srgbClr val="243041"/>
                </a:solidFill>
              </a:rPr>
              <a:t>CI/CD, tests, containers, staged deploys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B6F567-B293-4F51-A609-17310630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3857625"/>
            <a:ext cx="31623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948E83-76C3-482F-8272-9A543A79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3857625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328456-8627-46B3-8C52-B59B72EE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4850" y="4029075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</a:defRPr>
            </a:pPr>
            <a:r>
              <a:rPr sz="975" b="1">
                <a:solidFill>
                  <a:srgbClr val="E76F51"/>
                </a:solidFill>
              </a:rPr>
              <a:t>Observability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6AA5B1-7FC9-489E-A1A6-9AABE4D2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4850" y="4391025"/>
            <a:ext cx="274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41"/>
                </a:solidFill>
              </a:defRPr>
            </a:pPr>
            <a:r>
              <a:rPr sz="1050" b="0">
                <a:solidFill>
                  <a:srgbClr val="243041"/>
                </a:solidFill>
              </a:rPr>
              <a:t>Logs, traces, metrics, cost controls</a:t>
            </a:r>
          </a:p>
        </p:txBody>
      </p:sp>
    </p:spTree>
    <p:extLst>
      <p:ext uri="{BB962C8B-B14F-4D97-AF65-F5344CB8AC3E}">
        <p14:creationId xmlns:p14="http://schemas.microsoft.com/office/powerpoint/2010/main" val="7632378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51EE07-7B9B-4ACC-B003-662C9BCAA0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68B31-08F9-4EA1-AE85-B7BDF4C3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-1333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6470F-428C-4085-B526-F822C598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38250" y="4762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00E02-36E3-4389-9BE1-987BB6B1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474AD-24D2-4824-82C3-57BEB055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2286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B57"/>
                </a:solidFill>
              </a:defRPr>
            </a:pPr>
            <a:r>
              <a:rPr sz="900" b="1">
                <a:solidFill>
                  <a:srgbClr val="0B6B57"/>
                </a:solidFill>
              </a:rPr>
              <a:t>GOVERNANCE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29A38-E786-41B8-998C-0C6AF814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0400" y="22860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16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F5BAD3-7260-4405-A32B-719755BD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55245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310E2-BDA2-4983-BCCF-C1F7D779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6334125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473D40-1B8B-4123-9D12-AA9EB938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FOUNDATIONS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B5C20-013C-4800-BC35-90A52CBD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9DF76F-7C96-4C51-8660-EF13B906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9525">
            <a:solidFill>
              <a:srgbClr val="D69E2E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442AC9-D31F-429B-8935-ED0868CA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3050" y="6334125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664CE7-410E-4009-B4F0-40235CD5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538F53-F2E7-4410-98B2-7E00ABEE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38200"/>
            <a:ext cx="971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Evaluation and LLMOps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31BA94-43B3-4A5E-AB63-71F8532C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28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The mature question is not only what the model can do. It is how we know it works.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4058FD-AC5C-47C5-B396-968AA980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190750"/>
            <a:ext cx="10668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1095375" y="2714625"/>
          <a:ext xmlns:a="http://schemas.openxmlformats.org/drawingml/2006/main" cx="5905500" cy="2238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0a8cdee71f447b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186BAA-581D-4D62-B16B-A37B5720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476500"/>
            <a:ext cx="3333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7C0413-8399-4B4E-A434-0584C9F8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47650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F1C1F3-673B-4205-AD02-0CD9D5AA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9050" y="26479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A37F"/>
                </a:solidFill>
              </a:defRPr>
            </a:pPr>
            <a:r>
              <a:rPr sz="825" b="1">
                <a:solidFill>
                  <a:srgbClr val="10A37F"/>
                </a:solidFill>
              </a:rPr>
              <a:t>Evaluation methods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07264F-FFCD-4254-B60B-291D32DD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9050" y="3009900"/>
            <a:ext cx="2914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54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41"/>
                </a:solidFill>
              </a:defRPr>
            </a:pPr>
            <a:r>
              <a:rPr sz="1050" b="0">
                <a:solidFill>
                  <a:srgbClr val="243041"/>
                </a:solidFill>
              </a:rPr>
              <a:t>Golden Q&amp;A</a:t>
            </a:r>
          </a:p>
          <a:p xmlns:a="http://schemas.openxmlformats.org/drawingml/2006/main">
            <a:pPr algn="l">
              <a:defRPr sz="1050" b="0">
                <a:solidFill>
                  <a:srgbClr val="243041"/>
                </a:solidFill>
              </a:defRPr>
            </a:pPr>
            <a:r>
              <a:rPr sz="1050" b="0">
                <a:solidFill>
                  <a:srgbClr val="243041"/>
                </a:solidFill>
              </a:rPr>
              <a:t>Human review</a:t>
            </a:r>
          </a:p>
          <a:p xmlns:a="http://schemas.openxmlformats.org/drawingml/2006/main">
            <a:pPr algn="l">
              <a:defRPr sz="1050" b="0">
                <a:solidFill>
                  <a:srgbClr val="243041"/>
                </a:solidFill>
              </a:defRPr>
            </a:pPr>
            <a:r>
              <a:rPr sz="1050" b="0">
                <a:solidFill>
                  <a:srgbClr val="243041"/>
                </a:solidFill>
              </a:rPr>
              <a:t>Schema and source checks</a:t>
            </a:r>
          </a:p>
          <a:p xmlns:a="http://schemas.openxmlformats.org/drawingml/2006/main">
            <a:pPr algn="l">
              <a:defRPr sz="1050" b="0">
                <a:solidFill>
                  <a:srgbClr val="243041"/>
                </a:solidFill>
              </a:defRPr>
            </a:pPr>
            <a:r>
              <a:rPr sz="1050" b="0">
                <a:solidFill>
                  <a:srgbClr val="243041"/>
                </a:solidFill>
              </a:rPr>
              <a:t>Red-team prompts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1499CC-EE38-4568-ADB9-A9D29F69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4000500"/>
            <a:ext cx="3333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D54C4D-5516-475A-92B3-CC0EC335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400050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F093D0-90B0-450C-9D8C-6F8AA781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9050" y="41719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69E2E"/>
                </a:solidFill>
              </a:defRPr>
            </a:pPr>
            <a:r>
              <a:rPr sz="825" b="1">
                <a:solidFill>
                  <a:srgbClr val="D69E2E"/>
                </a:solidFill>
              </a:rPr>
              <a:t>Operational metrics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BD7321-F4D7-4C17-9AEB-03087B2E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9050" y="4533900"/>
            <a:ext cx="2914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54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41"/>
                </a:solidFill>
              </a:defRPr>
            </a:pPr>
            <a:r>
              <a:rPr sz="1050" b="0">
                <a:solidFill>
                  <a:srgbClr val="243041"/>
                </a:solidFill>
              </a:rPr>
              <a:t>Latency and cost</a:t>
            </a:r>
          </a:p>
          <a:p xmlns:a="http://schemas.openxmlformats.org/drawingml/2006/main">
            <a:pPr algn="l">
              <a:defRPr sz="1050" b="0">
                <a:solidFill>
                  <a:srgbClr val="243041"/>
                </a:solidFill>
              </a:defRPr>
            </a:pPr>
            <a:r>
              <a:rPr sz="1050" b="0">
                <a:solidFill>
                  <a:srgbClr val="243041"/>
                </a:solidFill>
              </a:rPr>
              <a:t>Refusal rate</a:t>
            </a:r>
          </a:p>
          <a:p xmlns:a="http://schemas.openxmlformats.org/drawingml/2006/main">
            <a:pPr algn="l">
              <a:defRPr sz="1050" b="0">
                <a:solidFill>
                  <a:srgbClr val="243041"/>
                </a:solidFill>
              </a:defRPr>
            </a:pPr>
            <a:r>
              <a:rPr sz="1050" b="0">
                <a:solidFill>
                  <a:srgbClr val="243041"/>
                </a:solidFill>
              </a:rPr>
              <a:t>Tool success</a:t>
            </a:r>
          </a:p>
          <a:p xmlns:a="http://schemas.openxmlformats.org/drawingml/2006/main">
            <a:pPr algn="l">
              <a:defRPr sz="1050" b="0">
                <a:solidFill>
                  <a:srgbClr val="243041"/>
                </a:solidFill>
              </a:defRPr>
            </a:pPr>
            <a:r>
              <a:rPr sz="1050" b="0">
                <a:solidFill>
                  <a:srgbClr val="243041"/>
                </a:solidFill>
              </a:rPr>
              <a:t>Feedback review</a:t>
            </a:r>
          </a:p>
        </p:txBody>
      </p:sp>
    </p:spTree>
    <p:extLst>
      <p:ext uri="{BB962C8B-B14F-4D97-AF65-F5344CB8AC3E}">
        <p14:creationId xmlns:p14="http://schemas.microsoft.com/office/powerpoint/2010/main" val="12295716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51EE07-7B9B-4ACC-B003-662C9BCAA0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FEB71-4DEB-49B1-BAB4-2B9A027C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-1333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7774A-70E0-4073-ADA5-DDDF96CB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38250" y="4762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780C3-A790-47CE-A0F2-EB080A95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99F8D-296F-4FB9-AC05-DC7309FD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2286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B57"/>
                </a:solidFill>
              </a:defRPr>
            </a:pPr>
            <a:r>
              <a:rPr sz="900" b="1">
                <a:solidFill>
                  <a:srgbClr val="0B6B57"/>
                </a:solidFill>
              </a:rPr>
              <a:t>GOVERNANCE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87A47-02BF-400D-BA94-B1940D42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0400" y="22860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17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4FECB-FD69-4D6A-BC26-8EE0205D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55245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45C25-6050-4023-91C1-DFD34736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6334125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097FD-3996-4FB4-980D-927A4C0B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FOUNDATIONS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2F01E-0701-4FA2-A7AE-0A20189E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0F575-523D-497F-AD3B-F1C5FD30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9525">
            <a:solidFill>
              <a:srgbClr val="D69E2E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BEFE5-B7AD-442C-BC59-C9A2BF7C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3050" y="6334125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831507-A50F-4218-BF8E-48A1AD96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ED59B2-FD6D-415E-9B82-75AD80DA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38200"/>
            <a:ext cx="1000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Security and Responsible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673F3D-3754-4F90-B335-CA61ED07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28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Trust comes from permission checks, audit logs, refusal behavior, privacy controls, and human approval.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9586EB-F805-4001-9292-3162F39A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238375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C5E54C-4B68-4748-9DE6-AD8E0A78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238375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9B2750-83DC-4D7C-98C8-322BF952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2409825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Least privilege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EDED72-B3E7-418B-B645-1D230D52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2771775"/>
            <a:ext cx="2914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041"/>
                </a:solidFill>
              </a:defRPr>
            </a:pPr>
            <a:r>
              <a:rPr sz="975" b="0">
                <a:solidFill>
                  <a:srgbClr val="243041"/>
                </a:solidFill>
              </a:rPr>
              <a:t>Every connector gets only the scope it needs.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414D11-F324-4559-A0E2-D823CD5D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7225" y="2238375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A2EF87-02DA-4F77-9E54-06DE1672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7225" y="2238375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122963-512E-466D-8D69-7C71E35D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775" y="2409825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A37F"/>
                </a:solidFill>
              </a:defRPr>
            </a:pPr>
            <a:r>
              <a:rPr sz="975" b="1">
                <a:solidFill>
                  <a:srgbClr val="10A37F"/>
                </a:solidFill>
              </a:rPr>
              <a:t>Access-aware retrieval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5E716D-02E6-48D2-969A-C3BFF630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775" y="2771775"/>
            <a:ext cx="2914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041"/>
                </a:solidFill>
              </a:defRPr>
            </a:pPr>
            <a:r>
              <a:rPr sz="975" b="0">
                <a:solidFill>
                  <a:srgbClr val="243041"/>
                </a:solidFill>
              </a:rPr>
              <a:t>Filter content before the model sees it.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9964C0-23B9-423C-B9CD-41CE4D4F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2238375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CE6D5B-23AE-498C-B03F-A69C1D54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2238375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0BFDA9-1661-42A6-9CF4-59A1446C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9150" y="2409825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9E2E"/>
                </a:solidFill>
              </a:defRPr>
            </a:pPr>
            <a:r>
              <a:rPr sz="975" b="1">
                <a:solidFill>
                  <a:srgbClr val="D69E2E"/>
                </a:solidFill>
              </a:rPr>
              <a:t>Approval gates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DEB2B4-E8AD-41C3-A3B1-41D9A518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9150" y="2771775"/>
            <a:ext cx="2914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041"/>
                </a:solidFill>
              </a:defRPr>
            </a:pPr>
            <a:r>
              <a:rPr sz="975" b="0">
                <a:solidFill>
                  <a:srgbClr val="243041"/>
                </a:solidFill>
              </a:rPr>
              <a:t>External writes require explicit human approval.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60B204-4CDF-4EF3-BC7F-25E0E5CC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819525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354B59-2CE4-48C4-9450-9679902B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819525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9D7621-5399-43EF-9359-67F37F51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3990975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Audit logs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A5378A-E9AC-4BAC-B333-4955E39D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352925"/>
            <a:ext cx="2914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041"/>
                </a:solidFill>
              </a:defRPr>
            </a:pPr>
            <a:r>
              <a:rPr sz="975" b="0">
                <a:solidFill>
                  <a:srgbClr val="243041"/>
                </a:solidFill>
              </a:rPr>
              <a:t>Store prompts, tool calls, decisions, and outcomes.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28FE11-51A2-4F19-A800-4392DC01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7225" y="3819525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21A32F-5249-4E19-8452-895B857B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7225" y="3819525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397E42-9B0B-4114-9C35-58DA949F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775" y="3990975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</a:defRPr>
            </a:pPr>
            <a:r>
              <a:rPr sz="975" b="1">
                <a:solidFill>
                  <a:srgbClr val="E76F51"/>
                </a:solidFill>
              </a:rPr>
              <a:t>Prompt injection defense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E33F3A-FAD9-4929-875D-C680C077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775" y="4352925"/>
            <a:ext cx="2914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041"/>
                </a:solidFill>
              </a:defRPr>
            </a:pPr>
            <a:r>
              <a:rPr sz="975" b="0">
                <a:solidFill>
                  <a:srgbClr val="243041"/>
                </a:solidFill>
              </a:rPr>
              <a:t>Retrieved text cannot override system/tool rules.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A04644-92A1-452C-8A4B-18CAAEF3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3819525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169E42-E831-422F-93DF-69D8E53F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3819525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BCC13E-4BEA-47B4-A515-7B67FD4A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9150" y="3990975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A06B"/>
                </a:solidFill>
              </a:defRPr>
            </a:pPr>
            <a:r>
              <a:rPr sz="975" b="1">
                <a:solidFill>
                  <a:srgbClr val="22A06B"/>
                </a:solidFill>
              </a:rPr>
              <a:t>Cost controls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A53498-2D58-49DA-AB7B-D5E68676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9150" y="4352925"/>
            <a:ext cx="2914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041"/>
                </a:solidFill>
              </a:defRPr>
            </a:pPr>
            <a:r>
              <a:rPr sz="975" b="0">
                <a:solidFill>
                  <a:srgbClr val="243041"/>
                </a:solidFill>
              </a:rPr>
              <a:t>Rate limits, quotas, caching, and model routing.</a:t>
            </a:r>
          </a:p>
        </p:txBody>
      </p:sp>
    </p:spTree>
    <p:extLst>
      <p:ext uri="{BB962C8B-B14F-4D97-AF65-F5344CB8AC3E}">
        <p14:creationId xmlns:p14="http://schemas.microsoft.com/office/powerpoint/2010/main" val="98552315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51EE07-7B9B-4ACC-B003-662C9BCAA0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B649A-653A-4AF0-B3D9-8B654ACB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-1333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CE823-8A85-4649-8736-9EB81D4A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38250" y="4762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42956-07AD-47C2-989A-0025652D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7ED8C-D0EC-40C9-8B6C-9DCBC3A1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2286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B57"/>
                </a:solidFill>
              </a:defRPr>
            </a:pPr>
            <a:r>
              <a:rPr sz="900" b="1">
                <a:solidFill>
                  <a:srgbClr val="0B6B57"/>
                </a:solidFill>
              </a:rPr>
              <a:t>DEMOS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A6B4A-3425-4529-B53D-D5200B1A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0400" y="22860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18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860E3A-5BAE-4EF9-AA70-3A8E1EB6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55245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594E5-7C52-4C60-965F-B97E8335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6334125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9C0E69-E551-4E86-AEF8-56D41787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FOUNDATIONS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7570A-A28F-447F-B2E8-60EA9E83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9CDF3E-DBF6-4586-9D5D-2EBA9B9B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9525">
            <a:solidFill>
              <a:srgbClr val="D69E2E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E1AC80-AAB4-418A-A887-2DB364EA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3050" y="6334125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D4D23-D9D4-4DDA-B97A-443A5CBC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09B92D-0C5D-43D8-9E82-883181D6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38200"/>
            <a:ext cx="971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Demo Portfolio Matrix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510369-3A9C-45CA-9FC0-788B3A1F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28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Pick a portfolio that proves both model depth and software integration depth.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88D916-2FE4-4B1D-AAAD-B578C80D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3125" y="2266950"/>
            <a:ext cx="79057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8534B4-D61A-4458-9066-5188649C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2266950"/>
            <a:ext cx="14288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328F57-0F68-4E9A-A8E4-80FE8798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3125" y="3767138"/>
            <a:ext cx="7905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AACBF5-B147-4B32-ABAA-440D7E21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7325" y="3005138"/>
            <a:ext cx="438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AI / ML depth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786955-55CD-4762-981C-DE5EFF50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5534025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Software and API integration depth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9269F9-3CD2-4575-89D0-019B98CB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25527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510D82-0A83-457A-9BAA-5CFA6387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4725" y="2781300"/>
            <a:ext cx="704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Knowledge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Copilot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695972-4C1D-4BC4-83FC-F1FECA77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1875" y="37338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129D3E-6884-4744-BAAA-D59EE5F6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7600" y="3962400"/>
            <a:ext cx="704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Document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Workflow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4540D6-AC33-4A8B-A1FF-537271D0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41910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B0B1E1-FA42-48FA-824E-CD41F019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600" y="4419600"/>
            <a:ext cx="704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AI Ops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CF34DC-C3D2-4045-86E9-082A6CEB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25908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796ADA-ABBB-4BED-BFE6-04C0CFA9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1475" y="2819400"/>
            <a:ext cx="704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Predictive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ML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B519AC-928C-46EE-BF6A-91D0C319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7550" y="35623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DE10BF-F6C8-44E6-9812-77E70FF3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43275" y="3790950"/>
            <a:ext cx="704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Visual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C678F8-A2E3-4DED-9B74-6E3A29FA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42672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78AC9C-18D2-4D1B-A559-B65119E9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5475" y="4514850"/>
            <a:ext cx="742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Developer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Workbench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C06710-BFA6-427C-A228-607A64C5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59055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Best mix: two high-integration demos, two high-AI-depth demos, one live engineering proof point.</a:t>
            </a:r>
          </a:p>
        </p:txBody>
      </p:sp>
    </p:spTree>
    <p:extLst>
      <p:ext uri="{BB962C8B-B14F-4D97-AF65-F5344CB8AC3E}">
        <p14:creationId xmlns:p14="http://schemas.microsoft.com/office/powerpoint/2010/main" val="14674084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51EE07-7B9B-4ACC-B003-662C9BCAA0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FD165-EC23-4602-B37E-7E7DFCCB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-1333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E5D7C-BAB6-4F55-ACD8-DE6A01EA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38250" y="4762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88378-37AB-4D96-B1C5-A5320740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653F9-06BB-4DEC-BEED-8B09A3D9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2286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B57"/>
                </a:solidFill>
              </a:defRPr>
            </a:pPr>
            <a:r>
              <a:rPr sz="900" b="1">
                <a:solidFill>
                  <a:srgbClr val="0B6B57"/>
                </a:solidFill>
              </a:rPr>
              <a:t>DEMOS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F1AA6-88B3-422C-9136-76867DB4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0400" y="22860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19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4919D-26C8-4188-B62B-CB51898C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55245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7EA564-C617-46AE-A31A-76135795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6334125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B59569-57F2-43B9-BC78-9325B55E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FOUNDATIONS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C26E2A-8FB9-4BB3-910C-9A82478A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F56A3-0F52-4076-8228-B67F2B68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9525">
            <a:solidFill>
              <a:srgbClr val="D69E2E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D7BC6C-62EC-4749-B966-D2B06B21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3050" y="6334125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8FF7C0-2EFD-4C7B-93B5-1FB5B30F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94BBAC-5769-48D7-9A45-F6353C65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38200"/>
            <a:ext cx="9906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Live Build Segment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99655B-944F-4A8F-BD36-93CE1E99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28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A bounded live build proves real skill without risking the entire workshop.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236869-D41A-420D-AB7E-4516CE85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619375"/>
            <a:ext cx="3000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902BC-8E0F-4426-B12B-79C971BE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619375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49F87D-36CD-43AB-A71D-C2D4E0C5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2790825"/>
            <a:ext cx="2581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Mini RAG App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C769A3-D60B-4DE5-B436-A2032BEE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3152775"/>
            <a:ext cx="25812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1"/>
                </a:solidFill>
              </a:defRPr>
            </a:pPr>
            <a:r>
              <a:rPr sz="1125" b="0">
                <a:solidFill>
                  <a:srgbClr val="243041"/>
                </a:solidFill>
              </a:rPr>
              <a:t>Paste text, chunk it, retrieve relevant sections, generate cited answer.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3C36EB-3744-4D88-945E-9196C02F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4375" y="2619375"/>
            <a:ext cx="3000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F7F54C-7883-417C-B264-60517CDD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4375" y="2619375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82E82A-41BC-46D4-B756-E0728AF2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3925" y="2790825"/>
            <a:ext cx="2581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A37F"/>
                </a:solidFill>
              </a:defRPr>
            </a:pPr>
            <a:r>
              <a:rPr sz="975" b="1">
                <a:solidFill>
                  <a:srgbClr val="10A37F"/>
                </a:solidFill>
              </a:rPr>
              <a:t>Agent API Tool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CD0984-0FAE-477B-B69E-6B1A56E0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3925" y="3152775"/>
            <a:ext cx="25812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1"/>
                </a:solidFill>
              </a:defRPr>
            </a:pPr>
            <a:r>
              <a:rPr sz="1125" b="0">
                <a:solidFill>
                  <a:srgbClr val="243041"/>
                </a:solidFill>
              </a:rPr>
              <a:t>Define schema, validate input, dry-run action, request approval, log result.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194685-1C66-4A90-8F3D-1234EFEE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2619375"/>
            <a:ext cx="3000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0FEB38-6204-46FF-A38D-3BA1E3E6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2619375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667945-8AF0-44EF-81D4-BA887AA5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2790825"/>
            <a:ext cx="2581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9E2E"/>
                </a:solidFill>
              </a:defRPr>
            </a:pPr>
            <a:r>
              <a:rPr sz="975" b="1">
                <a:solidFill>
                  <a:srgbClr val="D69E2E"/>
                </a:solidFill>
              </a:rPr>
              <a:t>Data Insight Generator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3A744B-4D5A-405E-856C-BFE00318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3152775"/>
            <a:ext cx="25812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1"/>
                </a:solidFill>
              </a:defRPr>
            </a:pPr>
            <a:r>
              <a:rPr sz="1125" b="0">
                <a:solidFill>
                  <a:srgbClr val="243041"/>
                </a:solidFill>
              </a:rPr>
              <a:t>Load CSV, profile columns, chart metrics, generate grounded summary.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F65B8E-02F2-4196-B0AE-CFDF767B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3550" y="4953000"/>
            <a:ext cx="8724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9D8F3B-36E9-4C2B-BDA2-C91E9C9D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8350" y="5124450"/>
            <a:ext cx="811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Rule: tiny scope, rehearsed starter code, mock mode, and a recorded fallback.</a:t>
            </a:r>
          </a:p>
        </p:txBody>
      </p:sp>
    </p:spTree>
    <p:extLst>
      <p:ext uri="{BB962C8B-B14F-4D97-AF65-F5344CB8AC3E}">
        <p14:creationId xmlns:p14="http://schemas.microsoft.com/office/powerpoint/2010/main" val="34398334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51EE07-7B9B-4ACC-B003-662C9BCAA0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E9217-E471-41A2-AD48-1D5A4886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-1333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3530D-1477-47A4-89D7-4409B9E0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38250" y="4762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C5F1E6-1D5A-4243-AF3B-453C51C1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697CC-3DA8-401B-A564-512EDAF5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2286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B57"/>
                </a:solidFill>
              </a:defRPr>
            </a:pPr>
            <a:r>
              <a:rPr sz="900" b="1">
                <a:solidFill>
                  <a:srgbClr val="0B6B57"/>
                </a:solidFill>
              </a:rPr>
              <a:t>DEMOS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226F5-243F-4031-8412-7A4DF981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0400" y="22860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20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46B00-9591-40B1-9726-5A4BFB2F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55245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6844F-3CF7-4F44-98C5-F8F91BE0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6334125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1A974-3F6D-4747-A167-1A5B4DC8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FOUNDATIONS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D5CAA9-D8D7-49D5-8D5F-52CD2D81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F2295A-2F86-4CD6-A946-575D779A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9525">
            <a:solidFill>
              <a:srgbClr val="D69E2E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907764-F762-49BA-A2A0-F449E248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3050" y="6334125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DE02C4-861E-4DD6-9949-A5B0596D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3BD12-9118-42F5-8D12-F2DE9E9F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38200"/>
            <a:ext cx="9906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Demo Fallback Runbook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BE0F60-7F7C-4C23-99E8-19D2F4AD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28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Every impressive live demo needs a calm backup path.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C976B0-7466-4E81-A7CA-DEB852DC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2190750"/>
            <a:ext cx="9906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5AD580-DCB0-45D8-BDA6-4CC31B7E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24574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B57"/>
                </a:solidFill>
              </a:defRPr>
            </a:pPr>
            <a:r>
              <a:rPr sz="1050" b="1">
                <a:solidFill>
                  <a:srgbClr val="0B6B57"/>
                </a:solidFill>
              </a:rPr>
              <a:t>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B62AB7-B18E-45A8-86B6-B606BEA3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245745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B57"/>
                </a:solidFill>
              </a:defRPr>
            </a:pPr>
            <a:r>
              <a:rPr sz="1050" b="1">
                <a:solidFill>
                  <a:srgbClr val="0B6B57"/>
                </a:solidFill>
              </a:rPr>
              <a:t>Fallback asset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8F838E-B6F3-4ABF-9B55-1DFDAC56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28098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217E97-DB93-4ACB-8AB8-F111C7F4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29146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Knowledge Copilot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06EC5A-D1E5-419B-BD0C-094C6531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29146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1"/>
                </a:solidFill>
              </a:defRPr>
            </a:pPr>
            <a:r>
              <a:rPr sz="1125" b="0">
                <a:solidFill>
                  <a:srgbClr val="243041"/>
                </a:solidFill>
              </a:rPr>
              <a:t>recorded walkthrough, screenshots, sample Q&amp;A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2BE765-9F35-4FE6-A10C-AE475AAC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3267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65F5B4-8FD2-40B9-A269-78B50F40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33718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Document Extraction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668E56-7328-41F0-A33C-B4B5AE07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33718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1"/>
                </a:solidFill>
              </a:defRPr>
            </a:pPr>
            <a:r>
              <a:rPr sz="1125" b="0">
                <a:solidFill>
                  <a:srgbClr val="243041"/>
                </a:solidFill>
              </a:rPr>
              <a:t>pre-extracted JSON and validation screen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A20274-11C8-43BF-994A-F8C40231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37242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76AA94-ACAF-4B28-975E-E57B351C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38290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Predictive ML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022CF9-96FF-48CF-850F-B060A188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38290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1"/>
                </a:solidFill>
              </a:defRPr>
            </a:pPr>
            <a:r>
              <a:rPr sz="1125" b="0">
                <a:solidFill>
                  <a:srgbClr val="243041"/>
                </a:solidFill>
              </a:rPr>
              <a:t>precomputed outputs and metrics screenshot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7E56F7-BF5D-42B8-B31D-D1D7CFF8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41814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998D77-72D4-4C9E-8447-07C55E75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4286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Agent Workflow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99248B-655A-4DB7-B6E5-B075DB74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42862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1"/>
                </a:solidFill>
              </a:defRPr>
            </a:pPr>
            <a:r>
              <a:rPr sz="1125" b="0">
                <a:solidFill>
                  <a:srgbClr val="243041"/>
                </a:solidFill>
              </a:rPr>
              <a:t>dry-run mode and visible tool payload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BBB7BA-2836-4EC0-8608-734820B8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46386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71EFE2-2F77-4260-883A-92CDF2E3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47434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Visual AI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4B169F-B9B6-41D5-BF69-A8648C18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47434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1"/>
                </a:solidFill>
              </a:defRPr>
            </a:pPr>
            <a:r>
              <a:rPr sz="1125" b="0">
                <a:solidFill>
                  <a:srgbClr val="243041"/>
                </a:solidFill>
              </a:rPr>
              <a:t>labeled expected output and review queue</a:t>
            </a:r>
          </a:p>
        </p:txBody>
      </p:sp>
    </p:spTree>
    <p:extLst>
      <p:ext uri="{BB962C8B-B14F-4D97-AF65-F5344CB8AC3E}">
        <p14:creationId xmlns:p14="http://schemas.microsoft.com/office/powerpoint/2010/main" val="116502554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51EE07-7B9B-4ACC-B003-662C9BCAA0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B96C3-2775-4BD5-822C-23C83B7E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-1333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6BDF7-151C-477F-877B-AD18C24B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38250" y="4762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40F28-0913-4D6A-9208-C8B9D4D9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A78FC1-A9AB-47C6-882E-D07D9BAC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2286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B57"/>
                </a:solidFill>
              </a:defRPr>
            </a:pPr>
            <a:r>
              <a:rPr sz="900" b="1">
                <a:solidFill>
                  <a:srgbClr val="0B6B57"/>
                </a:solidFill>
              </a:rPr>
              <a:t>STACK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E3E78-F73B-4A6B-BA93-E9B686E4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0400" y="22860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21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82140-280A-43B0-B27C-0E26BF40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55245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30A3D-9391-4D06-8EFE-8E3026DC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6334125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43B032-D773-4A41-9910-EDF37F5D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FOUNDATIONS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B6C29D-41FD-4234-9189-B0FBAB17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EE5FA-C974-4B8B-AFEE-F1948334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9525">
            <a:solidFill>
              <a:srgbClr val="D69E2E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9D16B-89F3-4D97-BEEE-F3A80445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3050" y="6334125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EA85D7-9BA7-4CE0-B9D2-E4F2EF81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88098-7BCC-436B-B241-C66C2671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38200"/>
            <a:ext cx="9525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Video and Media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26A92B-6184-4789-8BC8-25704ED5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28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Short videos support live demos, compress complex flows, and protect the session from network/API surprises.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98A833-0D59-4BE5-B6D4-8C6FDD1E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2381250"/>
            <a:ext cx="3105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EBEEAC-1C8A-46CD-9185-E1567495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" y="276225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82EB9D-924C-40AF-BAA6-A815AF47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261937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Opening montage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008E65-8D6E-4BD9-8F5D-5469D31C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29718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45-60 sec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45C535-B21A-4540-A634-5E03CDF9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8650" y="2381250"/>
            <a:ext cx="3105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5E93EF-FD89-437C-8B72-CE496ED9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775" y="276225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963A2F-8837-4AB3-A6E7-37E9A692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261937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Knowledge Copilot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6BCE1A-5E6E-41F1-B854-2947C989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29718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</a:defRPr>
            </a:pPr>
            <a:r>
              <a:rPr sz="1050" b="1">
                <a:solidFill>
                  <a:srgbClr val="10A37F"/>
                </a:solidFill>
              </a:rPr>
              <a:t>2-3 min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7ADED8-B107-4A72-BF1D-5FA0D75F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2381250"/>
            <a:ext cx="3105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89E7F9-6F88-4B1C-BAF5-C18BED0F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6275" y="276225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45D82F-BE55-4241-B44F-3F5AD3C8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9200" y="261937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Agent workflow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56E97A-AC04-4A38-AF85-303E876C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9200" y="29718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2-3 min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9E7002-4863-4975-991B-DEAF16FC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3857625"/>
            <a:ext cx="3105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937A4D-1EE4-4CAA-ADF7-4C4F16D1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" y="423862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6EE4DB-655F-4602-9EF0-C130B715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40957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ML dashboard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7E9C61-D33E-44C5-9CF6-B89C0004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444817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9E2E"/>
                </a:solidFill>
              </a:defRPr>
            </a:pPr>
            <a:r>
              <a:rPr sz="1050" b="1">
                <a:solidFill>
                  <a:srgbClr val="D69E2E"/>
                </a:solidFill>
              </a:rPr>
              <a:t>90 sec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7C7FBC-0E1E-4ADC-BA4A-DDDD6E1C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8650" y="3857625"/>
            <a:ext cx="3105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28E930-089D-4D73-892F-B1579733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775" y="423862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53D6D8-C1C3-4954-8B35-9789C8FB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40957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Engineering stack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84FD67-37DF-4878-B667-6FF53DBF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444817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76F51"/>
                </a:solidFill>
              </a:defRPr>
            </a:pPr>
            <a:r>
              <a:rPr sz="1050" b="1">
                <a:solidFill>
                  <a:srgbClr val="E76F51"/>
                </a:solidFill>
              </a:rPr>
              <a:t>2 min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F073A7-CDCC-4032-8721-A1DCF0F9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3857625"/>
            <a:ext cx="3105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6C5478-66B5-4332-B24F-A6A6C28F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6275" y="423862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968571-5964-4E97-B596-34563F3F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9200" y="40957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Closing roadmap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1056F9-4264-4451-A1B0-59D1E1A4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9200" y="444817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A06B"/>
                </a:solidFill>
              </a:defRPr>
            </a:pPr>
            <a:r>
              <a:rPr sz="1050" b="1">
                <a:solidFill>
                  <a:srgbClr val="22A06B"/>
                </a:solidFill>
              </a:rPr>
              <a:t>45 sec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40F6AD-7E69-44A5-8C76-AC450D7E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565785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Keep total video time around 12 to 18 minutes. Use videos as backup and emphasis, not as the whole workshop.</a:t>
            </a:r>
          </a:p>
        </p:txBody>
      </p:sp>
    </p:spTree>
    <p:extLst>
      <p:ext uri="{BB962C8B-B14F-4D97-AF65-F5344CB8AC3E}">
        <p14:creationId xmlns:p14="http://schemas.microsoft.com/office/powerpoint/2010/main" val="207272379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51EE07-7B9B-4ACC-B003-662C9BCAA0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34429-ED11-41F1-B2E4-C99F7396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-1333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B5554-C1D1-4FC0-9773-738BD74E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38250" y="4762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1385E-F7DA-4C5A-A498-FD6ECDCC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66E49-886D-4363-94EF-00F59D37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2286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B57"/>
                </a:solidFill>
              </a:defRPr>
            </a:pPr>
            <a:r>
              <a:rPr sz="900" b="1">
                <a:solidFill>
                  <a:srgbClr val="0B6B57"/>
                </a:solidFill>
              </a:rPr>
              <a:t>ROADMAP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685F9-BDCF-4A1E-AD56-0F7290AE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0400" y="22860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22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BE1FF-E6EE-4C5E-BA1A-907A73F6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55245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D3481-91D2-40CB-AF10-DFA280D3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6334125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5943F-6473-4D04-B80A-82ACE086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FOUNDATIONS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49133E-DF41-4960-8712-81FC4609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21532-7EA2-4319-AD25-B8A73D04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9525">
            <a:solidFill>
              <a:srgbClr val="D69E2E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C1C69-6A24-4BFF-A685-921D557B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3050" y="6334125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A18D00-579C-4AB1-8E21-69E21367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8F4BAA-F666-43BF-B33A-CC570FDB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38200"/>
            <a:ext cx="9906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Prep Timeline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3122AC-F939-4E8B-BB1A-1DAADE78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28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From Wednesday, April 22, 2026 to workshop day on Tuesday, April 28, 2026.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2A26B8-F1DD-452D-B23E-3D3CDDF8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3257550"/>
            <a:ext cx="971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B8437F-11B0-4763-A42A-6C5ADCB4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71D0AB-B01A-4650-9FC2-19057C16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2495550"/>
            <a:ext cx="1095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Apr 22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268B50-C9D6-4A42-B841-0F406F1D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7528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3041"/>
                </a:solidFill>
              </a:defRPr>
            </a:pPr>
            <a:r>
              <a:rPr sz="1050" b="1">
                <a:solidFill>
                  <a:srgbClr val="243041"/>
                </a:solidFill>
              </a:rPr>
              <a:t>Build 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698AB7-3F2C-40F1-8C7F-F1329421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1800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771BA5-A26D-40C0-8050-E8D6A7BB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6050" y="2495550"/>
            <a:ext cx="1095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A37F"/>
                </a:solidFill>
              </a:defRPr>
            </a:pPr>
            <a:r>
              <a:rPr sz="1125" b="1">
                <a:solidFill>
                  <a:srgbClr val="10A37F"/>
                </a:solidFill>
              </a:rPr>
              <a:t>Apr 23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59E9E6-B8AD-4597-B1FE-E0216E5F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4600" y="37528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3041"/>
                </a:solidFill>
              </a:defRPr>
            </a:pPr>
            <a:r>
              <a:rPr sz="1050" b="1">
                <a:solidFill>
                  <a:srgbClr val="243041"/>
                </a:solidFill>
              </a:rPr>
              <a:t>Polish demos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0E56F3-A59A-4768-B73C-76C163CF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51FE6D-08BD-4CCA-BC52-B1E660BC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2495550"/>
            <a:ext cx="1095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69E2E"/>
                </a:solidFill>
              </a:defRPr>
            </a:pPr>
            <a:r>
              <a:rPr sz="1125" b="1">
                <a:solidFill>
                  <a:srgbClr val="D69E2E"/>
                </a:solidFill>
              </a:rPr>
              <a:t>Apr 24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CBA1F7-D332-4A93-9685-58C853F7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9600" y="37528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3041"/>
                </a:solidFill>
              </a:defRPr>
            </a:pPr>
            <a:r>
              <a:rPr sz="1050" b="1">
                <a:solidFill>
                  <a:srgbClr val="243041"/>
                </a:solidFill>
              </a:rPr>
              <a:t>Slides + visuals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23157F-CA05-487C-AD09-FD2605F0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1800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6863DD-5FA4-4772-899A-946E9C61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6050" y="2495550"/>
            <a:ext cx="1095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Apr 25-26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DF9406-6D7B-4200-97F2-F5CFC37C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37528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3041"/>
                </a:solidFill>
              </a:defRPr>
            </a:pPr>
            <a:r>
              <a:rPr sz="1050" b="1">
                <a:solidFill>
                  <a:srgbClr val="243041"/>
                </a:solidFill>
              </a:rPr>
              <a:t>Record backups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FA1D7C-BFA8-483F-B593-A7E59276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6800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E8563E-B375-4A46-B851-9560D6B3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1050" y="2495550"/>
            <a:ext cx="1095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76F51"/>
                </a:solidFill>
              </a:defRPr>
            </a:pPr>
            <a:r>
              <a:rPr sz="1125" b="1">
                <a:solidFill>
                  <a:srgbClr val="E76F51"/>
                </a:solidFill>
              </a:rPr>
              <a:t>Apr 27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4B0A25-9C92-4E68-BD9D-FB68D177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37528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3041"/>
                </a:solidFill>
              </a:defRPr>
            </a:pPr>
            <a:r>
              <a:rPr sz="1050" b="1">
                <a:solidFill>
                  <a:srgbClr val="243041"/>
                </a:solidFill>
              </a:rPr>
              <a:t>Full rehearsal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1F1A59-1294-49C7-AB98-CA7532F1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1800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16650F-4D5C-4A17-922D-B7A462EA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6050" y="2495550"/>
            <a:ext cx="1095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A06B"/>
                </a:solidFill>
              </a:defRPr>
            </a:pPr>
            <a:r>
              <a:rPr sz="1125" b="1">
                <a:solidFill>
                  <a:srgbClr val="22A06B"/>
                </a:solidFill>
              </a:rPr>
              <a:t>Apr 28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1087B5-5519-43DA-9F30-092E3894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4600" y="37528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3041"/>
                </a:solidFill>
              </a:defRPr>
            </a:pPr>
            <a:r>
              <a:rPr sz="1050" b="1">
                <a:solidFill>
                  <a:srgbClr val="243041"/>
                </a:solidFill>
              </a:rPr>
              <a:t>Workshop day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6B826C-068A-40DD-9878-A37DA7D9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4705350"/>
            <a:ext cx="8524875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DB4387-1900-4158-8278-AB3F1314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4705350"/>
            <a:ext cx="76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651131-F927-4F4D-A935-1DDA9943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8350" y="4876800"/>
            <a:ext cx="8105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A37F"/>
                </a:solidFill>
              </a:defRPr>
            </a:pPr>
            <a:r>
              <a:rPr sz="975" b="1">
                <a:solidFill>
                  <a:srgbClr val="10A37F"/>
                </a:solidFill>
              </a:rPr>
              <a:t>Rehearsal checklist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77A224-2D5A-4C3D-8EB7-749A37E8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8350" y="5238750"/>
            <a:ext cx="8105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41"/>
                </a:solidFill>
              </a:defRPr>
            </a:pPr>
            <a:r>
              <a:rPr sz="1050" b="0">
                <a:solidFill>
                  <a:srgbClr val="243041"/>
                </a:solidFill>
              </a:rPr>
              <a:t>Network, display, mock mode, local data, backup videos, tabs, commands.</a:t>
            </a:r>
          </a:p>
        </p:txBody>
      </p:sp>
    </p:spTree>
    <p:extLst>
      <p:ext uri="{BB962C8B-B14F-4D97-AF65-F5344CB8AC3E}">
        <p14:creationId xmlns:p14="http://schemas.microsoft.com/office/powerpoint/2010/main" val="180052420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51EE07-7B9B-4ACC-B003-662C9BCAA0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16F716-1523-4B5E-92EF-1F2AD0EF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-1333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E169F-8024-4792-92E1-E5FEAF21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38250" y="4762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D061F-62E4-47E4-ADA4-8DB5389D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24BFD-A67B-4905-A723-90EDDEB7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2286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B57"/>
                </a:solidFill>
              </a:defRPr>
            </a:pPr>
            <a:r>
              <a:rPr sz="900" b="1">
                <a:solidFill>
                  <a:srgbClr val="0B6B57"/>
                </a:solidFill>
              </a:rPr>
              <a:t>ROADMAP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6FAA23-DC1F-4714-AF5C-A1AE67C9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0400" y="22860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23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B0F8BD-1325-402E-81A7-A82A4C4C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55245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3222D-7301-412B-A7BF-E8F75DB4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6334125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C90E7-8881-4A26-9F74-D7DB4F29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FOUNDATIONS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A798D2-5308-45FA-8832-C73FD262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1540C6-9B3E-4A22-BF7C-7AF8B495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9525">
            <a:solidFill>
              <a:srgbClr val="D69E2E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46A97-38BC-464A-AC40-120565C4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3050" y="6334125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3AB719-13B9-4992-9D1C-5CF9E89A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22C9D8-F093-4018-9DC3-A0672468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38200"/>
            <a:ext cx="9810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30-60-90 Roadmap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FAE3B1-29FE-431D-8B5A-1CB95D7F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28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Turn the workshop energy into pilots, integrations, governance, and measurable production value.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42F8A2-52EA-495B-B39E-460ED476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2686050"/>
            <a:ext cx="28765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F446C7-5909-4E70-BEF9-C262EE19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26860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194B29-F140-4645-9BDB-4D3362B2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2857500"/>
            <a:ext cx="2457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30 days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5AC8CC-2254-4085-8725-BCFB1CE7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3219450"/>
            <a:ext cx="2457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1"/>
                </a:solidFill>
              </a:defRPr>
            </a:pPr>
            <a:r>
              <a:rPr sz="1125" b="0">
                <a:solidFill>
                  <a:srgbClr val="243041"/>
                </a:solidFill>
              </a:rPr>
              <a:t>Select use cases, define success metrics, build bounded prototypes.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5BB239-DACB-45D3-B9D4-CC5058F3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7700" y="2686050"/>
            <a:ext cx="28765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DFA354-0EE0-4211-A83F-98C4931A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7700" y="26860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FC5F3A-C626-472E-8260-2D9F1B39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2857500"/>
            <a:ext cx="2457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A37F"/>
                </a:solidFill>
              </a:defRPr>
            </a:pPr>
            <a:r>
              <a:rPr sz="975" b="1">
                <a:solidFill>
                  <a:srgbClr val="10A37F"/>
                </a:solidFill>
              </a:rPr>
              <a:t>60 days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C983BC-BC40-4DF1-AFEB-B859A60E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3219450"/>
            <a:ext cx="2457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1"/>
                </a:solidFill>
              </a:defRPr>
            </a:pPr>
            <a:r>
              <a:rPr sz="1125" b="0">
                <a:solidFill>
                  <a:srgbClr val="243041"/>
                </a:solidFill>
              </a:rPr>
              <a:t>Pilot with users, connect APIs, create evaluation sets, review security.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91871B-C510-4CB0-B81D-5EED6120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1450" y="2686050"/>
            <a:ext cx="28765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2C765C-14C8-47E2-AC66-38EE1BAD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1450" y="26860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7BA6C4-EB70-4E3E-A481-1F9C9271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2857500"/>
            <a:ext cx="2457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9E2E"/>
                </a:solidFill>
              </a:defRPr>
            </a:pPr>
            <a:r>
              <a:rPr sz="975" b="1">
                <a:solidFill>
                  <a:srgbClr val="D69E2E"/>
                </a:solidFill>
              </a:rPr>
              <a:t>90 days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A6A120-E56E-43BE-8613-78A97581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3219450"/>
            <a:ext cx="2457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1"/>
                </a:solidFill>
              </a:defRPr>
            </a:pPr>
            <a:r>
              <a:rPr sz="1125" b="0">
                <a:solidFill>
                  <a:srgbClr val="243041"/>
                </a:solidFill>
              </a:rPr>
              <a:t>Productionize winners, monitor quality/cost, create reusable AI platform patterns.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71DC85-3ADC-4CDD-9ED7-05AD4305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1625" y="5191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55247728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51EE07-7B9B-4ACC-B003-662C9BCAA0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483C5-1062-4391-ACAA-242BFDCB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-1333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6E36C-9968-4DAD-B63C-450BD93F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38250" y="4762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19A03-C5FA-4517-8245-B49CC141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57F1D-DAD7-4FB4-B7DF-791C7248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2286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B57"/>
                </a:solidFill>
              </a:defRPr>
            </a:pPr>
            <a:r>
              <a:rPr sz="900" b="1">
                <a:solidFill>
                  <a:srgbClr val="0B6B57"/>
                </a:solidFill>
              </a:rPr>
              <a:t>Q&amp;A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10401-3881-46B3-B058-ECED2676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0400" y="22860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24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D0EDF-D5CC-439C-86F2-950FDAC7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552450"/>
            <a:ext cx="1123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EA2CC-5CFB-40C8-B5D8-71F34E83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6334125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F2D73F-8156-45A9-B442-C027C1D0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FOUNDATIONS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7B6EC4-12E4-4D83-9BD0-3CC75493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7A7211-3E4A-4193-934C-49FAEBA8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9525">
            <a:solidFill>
              <a:srgbClr val="D69E2E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C9159-7EB2-4843-A4D0-43085F93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3050" y="6334125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E8194-0991-44EE-963A-C10CC623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6334125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F627CE-FE37-4D42-A274-19F94E0A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38200"/>
            <a:ext cx="9906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Q&amp;A and Closing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43474C-CB9E-4C36-A898-43B5E7A4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28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The advantage is not access to models. The advantage is knowing how to turn models into reliable capability.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B577FB-A62E-40F7-A27D-B52B2FCF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75" y="257175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3041"/>
                </a:solidFill>
              </a:defRPr>
            </a:pPr>
            <a:r>
              <a:rPr sz="1500" b="1">
                <a:solidFill>
                  <a:srgbClr val="243041"/>
                </a:solidFill>
              </a:rPr>
              <a:t>How do we prevent hallucinations?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FA53B1-03AF-4B1F-A17B-437DC859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75" y="308610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3041"/>
                </a:solidFill>
              </a:defRPr>
            </a:pPr>
            <a:r>
              <a:rPr sz="1500" b="1">
                <a:solidFill>
                  <a:srgbClr val="243041"/>
                </a:solidFill>
              </a:rPr>
              <a:t>Which workflows should be productionized first?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861F3B-7CA7-4457-94A1-3FD49E38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75" y="360045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3041"/>
                </a:solidFill>
              </a:defRPr>
            </a:pPr>
            <a:r>
              <a:rPr sz="1500" b="1">
                <a:solidFill>
                  <a:srgbClr val="243041"/>
                </a:solidFill>
              </a:rPr>
              <a:t>How do we connect AI safely to APIs?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6DC272-6CA5-47AF-8A8D-263CC6F2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75" y="411480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3041"/>
                </a:solidFill>
              </a:defRPr>
            </a:pPr>
            <a:r>
              <a:rPr sz="1500" b="1">
                <a:solidFill>
                  <a:srgbClr val="243041"/>
                </a:solidFill>
              </a:rPr>
              <a:t>How do we measure quality and cost?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AE00CE-5D8A-4A08-94DF-D6C86889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75" y="462915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3041"/>
                </a:solidFill>
              </a:defRPr>
            </a:pPr>
            <a:r>
              <a:rPr sz="1500" b="1">
                <a:solidFill>
                  <a:srgbClr val="243041"/>
                </a:solidFill>
              </a:rPr>
              <a:t>What data and governance are required?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D86E65-5080-4D2A-8A2C-27AD6D40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0" y="5381625"/>
            <a:ext cx="8572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B09F02-7581-4AD7-ACF6-E6797B35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5534025"/>
            <a:ext cx="800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Models are powerful. Reliable AI capability comes from the system around them.</a:t>
            </a:r>
          </a:p>
        </p:txBody>
      </p:sp>
    </p:spTree>
    <p:extLst>
      <p:ext uri="{BB962C8B-B14F-4D97-AF65-F5344CB8AC3E}">
        <p14:creationId xmlns:p14="http://schemas.microsoft.com/office/powerpoint/2010/main" val="1116397841"/>
      </p:ext>
    </p:extLst>
  </p:cSld>
</p:sld>
</file>

<file path=ppt/theme/theme1.xml><?xml version="1.0" encoding="utf-8"?>
<a:theme xmlns:a="http://schemas.openxmlformats.org/drawingml/2006/main" name="AI Workshop">
  <a:themeElements>
    <a:clrScheme name="AI Workshop">
      <a:accent1>
        <a:srgbClr val="10A37F"/>
      </a:accent1>
      <a:accent2>
        <a:srgbClr val="2563EB"/>
      </a:accent2>
      <a:accent3>
        <a:srgbClr val="D69E2E"/>
      </a:accent3>
      <a:accent4>
        <a:srgbClr val="E76F51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I Workshop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2026-04-22T11:01:38.1990000Z</dcterms:created>
  <dcterms:modified xsi:type="dcterms:W3CDTF">2026-04-22T11:01:38.2000000Z</dcterms:modified>
</coreProperties>
</file>