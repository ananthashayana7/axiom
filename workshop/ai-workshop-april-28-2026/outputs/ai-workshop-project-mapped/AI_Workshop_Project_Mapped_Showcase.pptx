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a755ee81c24d47" /><Relationship Type="http://schemas.openxmlformats.org/officeDocument/2006/relationships/extended-properties" Target="/docProps/app.xml" Id="Ra2373ca915594cb5" /><Relationship Type="http://schemas.openxmlformats.org/officeDocument/2006/relationships/officeDocument" Target="/ppt/presentation.xml" Id="R84319fc26f2b4d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63000a2f494f17"/>
  </p:sldMasterIdLst>
  <p:notesMasterIdLst>
    <p:notesMasterId xmlns:r="http://schemas.openxmlformats.org/officeDocument/2006/relationships" r:id="R7ec26888c3454780"/>
  </p:notesMasterIdLst>
  <p:sldIdLst>
    <p:sldId xmlns:r="http://schemas.openxmlformats.org/officeDocument/2006/relationships" id="256" r:id="R881d979241c645f4"/>
    <p:sldId xmlns:r="http://schemas.openxmlformats.org/officeDocument/2006/relationships" id="257" r:id="R628dcb9f9dc94654"/>
    <p:sldId xmlns:r="http://schemas.openxmlformats.org/officeDocument/2006/relationships" id="258" r:id="R6ef0d7bf17e04e2f"/>
    <p:sldId xmlns:r="http://schemas.openxmlformats.org/officeDocument/2006/relationships" id="259" r:id="R2153321532604bb1"/>
    <p:sldId xmlns:r="http://schemas.openxmlformats.org/officeDocument/2006/relationships" id="260" r:id="Rd5e206f65f1647ce"/>
    <p:sldId xmlns:r="http://schemas.openxmlformats.org/officeDocument/2006/relationships" id="261" r:id="R489f95d229974bf6"/>
    <p:sldId xmlns:r="http://schemas.openxmlformats.org/officeDocument/2006/relationships" id="262" r:id="R074deb1c83844ef9"/>
    <p:sldId xmlns:r="http://schemas.openxmlformats.org/officeDocument/2006/relationships" id="263" r:id="Ra3c7a54be66d4fb2"/>
    <p:sldId xmlns:r="http://schemas.openxmlformats.org/officeDocument/2006/relationships" id="264" r:id="Ra2dd33254e8d4660"/>
    <p:sldId xmlns:r="http://schemas.openxmlformats.org/officeDocument/2006/relationships" id="265" r:id="R40f69ca1aac44a12"/>
    <p:sldId xmlns:r="http://schemas.openxmlformats.org/officeDocument/2006/relationships" id="266" r:id="R5e03709c74b44896"/>
    <p:sldId xmlns:r="http://schemas.openxmlformats.org/officeDocument/2006/relationships" id="267" r:id="Re700d13b07cc4620"/>
    <p:sldId xmlns:r="http://schemas.openxmlformats.org/officeDocument/2006/relationships" id="268" r:id="R0b6c08c872bb4785"/>
    <p:sldId xmlns:r="http://schemas.openxmlformats.org/officeDocument/2006/relationships" id="269" r:id="R3713d365a69d4abb"/>
    <p:sldId xmlns:r="http://schemas.openxmlformats.org/officeDocument/2006/relationships" id="270" r:id="Ra4c298db3778462b"/>
    <p:sldId xmlns:r="http://schemas.openxmlformats.org/officeDocument/2006/relationships" id="271" r:id="R17fe8ce5d1e443a9"/>
    <p:sldId xmlns:r="http://schemas.openxmlformats.org/officeDocument/2006/relationships" id="272" r:id="R0d04f22b2cc14fdc"/>
    <p:sldId xmlns:r="http://schemas.openxmlformats.org/officeDocument/2006/relationships" id="273" r:id="Rb801fa5640dd4b48"/>
    <p:sldId xmlns:r="http://schemas.openxmlformats.org/officeDocument/2006/relationships" id="274" r:id="R2cfe1f4718dd4924"/>
    <p:sldId xmlns:r="http://schemas.openxmlformats.org/officeDocument/2006/relationships" id="275" r:id="Ra18a1aa5c10b4988"/>
    <p:sldId xmlns:r="http://schemas.openxmlformats.org/officeDocument/2006/relationships" id="276" r:id="Re3b84d3215584090"/>
    <p:sldId xmlns:r="http://schemas.openxmlformats.org/officeDocument/2006/relationships" id="277" r:id="R5a56eb9617514aa8"/>
    <p:sldId xmlns:r="http://schemas.openxmlformats.org/officeDocument/2006/relationships" id="278" r:id="Ra94984eacbf440f8"/>
    <p:sldId xmlns:r="http://schemas.openxmlformats.org/officeDocument/2006/relationships" id="279" r:id="R8bced7a30f1148a6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3000a2f494f17" /><Relationship Type="http://schemas.openxmlformats.org/officeDocument/2006/relationships/theme" Target="/ppt/theme/theme1.xml" Id="Re32c05d642c84787" /><Relationship Type="http://schemas.openxmlformats.org/officeDocument/2006/relationships/notesMaster" Target="/ppt/notesMasters/notesMaster1.xml" Id="R7ec26888c3454780" /><Relationship Type="http://schemas.openxmlformats.org/officeDocument/2006/relationships/presProps" Target="/ppt/presProps.xml" Id="Rf4abc2fbb5ff43aa" /><Relationship Type="http://schemas.openxmlformats.org/officeDocument/2006/relationships/viewProps" Target="/ppt/viewProps.xml" Id="Rdb9a408ba3f94b8a" /><Relationship Type="http://schemas.openxmlformats.org/officeDocument/2006/relationships/tableStyles" Target="/ppt/tableStyles.xml" Id="Rd181b5404de34f17" /><Relationship Type="http://schemas.openxmlformats.org/officeDocument/2006/relationships/slide" Target="/ppt/slides/slide1.xml" Id="R881d979241c645f4" /><Relationship Type="http://schemas.openxmlformats.org/officeDocument/2006/relationships/slide" Target="/ppt/slides/slide2.xml" Id="R628dcb9f9dc94654" /><Relationship Type="http://schemas.openxmlformats.org/officeDocument/2006/relationships/slide" Target="/ppt/slides/slide3.xml" Id="R6ef0d7bf17e04e2f" /><Relationship Type="http://schemas.openxmlformats.org/officeDocument/2006/relationships/slide" Target="/ppt/slides/slide4.xml" Id="R2153321532604bb1" /><Relationship Type="http://schemas.openxmlformats.org/officeDocument/2006/relationships/slide" Target="/ppt/slides/slide5.xml" Id="Rd5e206f65f1647ce" /><Relationship Type="http://schemas.openxmlformats.org/officeDocument/2006/relationships/slide" Target="/ppt/slides/slide6.xml" Id="R489f95d229974bf6" /><Relationship Type="http://schemas.openxmlformats.org/officeDocument/2006/relationships/slide" Target="/ppt/slides/slide7.xml" Id="R074deb1c83844ef9" /><Relationship Type="http://schemas.openxmlformats.org/officeDocument/2006/relationships/slide" Target="/ppt/slides/slide8.xml" Id="Ra3c7a54be66d4fb2" /><Relationship Type="http://schemas.openxmlformats.org/officeDocument/2006/relationships/slide" Target="/ppt/slides/slide9.xml" Id="Ra2dd33254e8d4660" /><Relationship Type="http://schemas.openxmlformats.org/officeDocument/2006/relationships/slide" Target="/ppt/slides/slide10.xml" Id="R40f69ca1aac44a12" /><Relationship Type="http://schemas.openxmlformats.org/officeDocument/2006/relationships/slide" Target="/ppt/slides/slide11.xml" Id="R5e03709c74b44896" /><Relationship Type="http://schemas.openxmlformats.org/officeDocument/2006/relationships/slide" Target="/ppt/slides/slide12.xml" Id="Re700d13b07cc4620" /><Relationship Type="http://schemas.openxmlformats.org/officeDocument/2006/relationships/slide" Target="/ppt/slides/slide13.xml" Id="R0b6c08c872bb4785" /><Relationship Type="http://schemas.openxmlformats.org/officeDocument/2006/relationships/slide" Target="/ppt/slides/slide14.xml" Id="R3713d365a69d4abb" /><Relationship Type="http://schemas.openxmlformats.org/officeDocument/2006/relationships/slide" Target="/ppt/slides/slide15.xml" Id="Ra4c298db3778462b" /><Relationship Type="http://schemas.openxmlformats.org/officeDocument/2006/relationships/slide" Target="/ppt/slides/slide16.xml" Id="R17fe8ce5d1e443a9" /><Relationship Type="http://schemas.openxmlformats.org/officeDocument/2006/relationships/slide" Target="/ppt/slides/slide17.xml" Id="R0d04f22b2cc14fdc" /><Relationship Type="http://schemas.openxmlformats.org/officeDocument/2006/relationships/slide" Target="/ppt/slides/slide18.xml" Id="Rb801fa5640dd4b48" /><Relationship Type="http://schemas.openxmlformats.org/officeDocument/2006/relationships/slide" Target="/ppt/slides/slide19.xml" Id="R2cfe1f4718dd4924" /><Relationship Type="http://schemas.openxmlformats.org/officeDocument/2006/relationships/slide" Target="/ppt/slides/slide20.xml" Id="Ra18a1aa5c10b4988" /><Relationship Type="http://schemas.openxmlformats.org/officeDocument/2006/relationships/slide" Target="/ppt/slides/slide21.xml" Id="Re3b84d3215584090" /><Relationship Type="http://schemas.openxmlformats.org/officeDocument/2006/relationships/slide" Target="/ppt/slides/slide22.xml" Id="R5a56eb9617514aa8" /><Relationship Type="http://schemas.openxmlformats.org/officeDocument/2006/relationships/slide" Target="/ppt/slides/slide23.xml" Id="Ra94984eacbf440f8" /><Relationship Type="http://schemas.openxmlformats.org/officeDocument/2006/relationships/slide" Target="/ppt/slides/slide24.xml" Id="R8bced7a30f1148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fdf596a9bdc47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ccd0d09ba241a8" /><Relationship Type="http://schemas.openxmlformats.org/officeDocument/2006/relationships/notesMaster" Target="/ppt/notesMasters/notesMaster1.xml" Id="R81a20cbaa11340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50150b422d419e" /><Relationship Type="http://schemas.openxmlformats.org/officeDocument/2006/relationships/notesMaster" Target="/ppt/notesMasters/notesMaster1.xml" Id="R52995fc97c2541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8d2da4ea0d4da7" /><Relationship Type="http://schemas.openxmlformats.org/officeDocument/2006/relationships/notesMaster" Target="/ppt/notesMasters/notesMaster1.xml" Id="R8d7bd5c1c0254a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b8ee06537740df" /><Relationship Type="http://schemas.openxmlformats.org/officeDocument/2006/relationships/notesMaster" Target="/ppt/notesMasters/notesMaster1.xml" Id="R2536eb5828674c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8bcc5c38d94a4f" /><Relationship Type="http://schemas.openxmlformats.org/officeDocument/2006/relationships/notesMaster" Target="/ppt/notesMasters/notesMaster1.xml" Id="R1c32bc08ffbe4b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4f4cb6825343b1" /><Relationship Type="http://schemas.openxmlformats.org/officeDocument/2006/relationships/notesMaster" Target="/ppt/notesMasters/notesMaster1.xml" Id="Rf99f59b7139c40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43716663554051" /><Relationship Type="http://schemas.openxmlformats.org/officeDocument/2006/relationships/notesMaster" Target="/ppt/notesMasters/notesMaster1.xml" Id="Rcb44acd5d6994f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8ac7e271824f8b" /><Relationship Type="http://schemas.openxmlformats.org/officeDocument/2006/relationships/notesMaster" Target="/ppt/notesMasters/notesMaster1.xml" Id="Raa314161887e4a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c34fd40c95499b" /><Relationship Type="http://schemas.openxmlformats.org/officeDocument/2006/relationships/notesMaster" Target="/ppt/notesMasters/notesMaster1.xml" Id="R18400750ca4043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4e43693c394a36" /><Relationship Type="http://schemas.openxmlformats.org/officeDocument/2006/relationships/notesMaster" Target="/ppt/notesMasters/notesMaster1.xml" Id="Rfba4f53d38b743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df461dbc70416f" /><Relationship Type="http://schemas.openxmlformats.org/officeDocument/2006/relationships/notesMaster" Target="/ppt/notesMasters/notesMaster1.xml" Id="R5daa5431475045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9715446ec04b84" /><Relationship Type="http://schemas.openxmlformats.org/officeDocument/2006/relationships/notesMaster" Target="/ppt/notesMasters/notesMaster1.xml" Id="Refdc7f4c2dc543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2ccff0e14242aa" /><Relationship Type="http://schemas.openxmlformats.org/officeDocument/2006/relationships/notesMaster" Target="/ppt/notesMasters/notesMaster1.xml" Id="R29ea7bda4d604b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ff27f89f2b4900" /><Relationship Type="http://schemas.openxmlformats.org/officeDocument/2006/relationships/notesMaster" Target="/ppt/notesMasters/notesMaster1.xml" Id="R740ab3b358ce41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233bf8094a34dc7" /><Relationship Type="http://schemas.openxmlformats.org/officeDocument/2006/relationships/notesMaster" Target="/ppt/notesMasters/notesMaster1.xml" Id="R6d2660f8afbd4b3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1ed40220ec94db4" /><Relationship Type="http://schemas.openxmlformats.org/officeDocument/2006/relationships/notesMaster" Target="/ppt/notesMasters/notesMaster1.xml" Id="R262baf02da1f4c7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c0338637b804b01" /><Relationship Type="http://schemas.openxmlformats.org/officeDocument/2006/relationships/notesMaster" Target="/ppt/notesMasters/notesMaster1.xml" Id="R37279a1dc7214a4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8b4f3fa615d4619" /><Relationship Type="http://schemas.openxmlformats.org/officeDocument/2006/relationships/notesMaster" Target="/ppt/notesMasters/notesMaster1.xml" Id="Rb313f6168d80437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94764f53db6412d" /><Relationship Type="http://schemas.openxmlformats.org/officeDocument/2006/relationships/notesMaster" Target="/ppt/notesMasters/notesMaster1.xml" Id="R56d87c753f954de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0eeba1be26a4a23" /><Relationship Type="http://schemas.openxmlformats.org/officeDocument/2006/relationships/notesMaster" Target="/ppt/notesMasters/notesMaster1.xml" Id="Rf0aa69f67aa1494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7b7148e28b74250" /><Relationship Type="http://schemas.openxmlformats.org/officeDocument/2006/relationships/notesMaster" Target="/ppt/notesMasters/notesMaster1.xml" Id="R5765312c11094d8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7f4d643a08e4dca" /><Relationship Type="http://schemas.openxmlformats.org/officeDocument/2006/relationships/notesMaster" Target="/ppt/notesMasters/notesMaster1.xml" Id="R6b12cf214a244d4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2baa9a051bf47fc" /><Relationship Type="http://schemas.openxmlformats.org/officeDocument/2006/relationships/notesMaster" Target="/ppt/notesMasters/notesMaster1.xml" Id="Rcae0e14f4e7845c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a805ff8d24047d8" /><Relationship Type="http://schemas.openxmlformats.org/officeDocument/2006/relationships/notesMaster" Target="/ppt/notesMasters/notesMaster1.xml" Id="R69dde6406ca64e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mapping section by saying: here is where the abstract workshop becomes concrete.</a:t>
            </a:r>
          </a:p>
          <a:p xmlns:a="http://schemas.openxmlformats.org/drawingml/2006/main">
            <a:r>
              <a:t>Keep the personal project out of this discussion and use Axiom, Mastiff, and OEE Box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Axiom is the strongest proof of full-stack business AI.</a:t>
            </a:r>
          </a:p>
          <a:p xmlns:a="http://schemas.openxmlformats.org/drawingml/2006/main">
            <a:r>
              <a:t>Use it when discussing procurement intelligence, agentic workflow, document extraction, SAP/API integration, queues, audit, cloud deployment, and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Mastiff is the strongest proof for data analyst workflows.</a:t>
            </a:r>
          </a:p>
          <a:p xmlns:a="http://schemas.openxmlformats.org/drawingml/2006/main">
            <a:r>
              <a:t>Call out code generation carefully: the intelligence is not just generating code, it is executing it in a controlled sandbox with limits and auditability.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OEE Box is the strongest proof for edge AI, real-time data, industrial reliability, and safety guardrails.</a:t>
            </a:r>
          </a:p>
          <a:p xmlns:a="http://schemas.openxmlformats.org/drawingml/2006/main">
            <a:r>
              <a:t>Emphasize shadow mode and command gatekeeping as the responsible AI 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for rehearsal and live Q&amp;A recovery.</a:t>
            </a:r>
          </a:p>
          <a:p xmlns:a="http://schemas.openxmlformats.org/drawingml/2006/main">
            <a:r>
              <a:t>If someone asks whether the workshop is theoretical, jump here and anchor the answer in project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final rehearsal sheet before the workshop.</a:t>
            </a:r>
          </a:p>
          <a:p xmlns:a="http://schemas.openxmlformats.org/drawingml/2006/main">
            <a:r>
              <a:t>Keep each demo bounded. If a live system is not available, use screenshots or a short recorded fallback, but keep the talking points the same.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c6a5fc998d472b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ebf6a385e4084" /><Relationship Type="http://schemas.openxmlformats.org/officeDocument/2006/relationships/theme" Target="/ppt/theme/theme1.xml" Id="Rf2aa7d806bd54d39" /><Relationship Type="http://schemas.openxmlformats.org/officeDocument/2006/relationships/slideLayout" Target="/ppt/slideLayouts/slideLayout2.xml" Id="R651d82ad6dde430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eceebf6a385e4084"/>
    <p:sldLayoutId xmlns:r="http://schemas.openxmlformats.org/officeDocument/2006/relationships" id="2147483649" r:id="R651d82ad6dde430b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958619ebb84bf8" /><Relationship Type="http://schemas.openxmlformats.org/officeDocument/2006/relationships/image" Target="/ppt/media/image.png" Id="Rde24de7d338b422f" /><Relationship Type="http://schemas.openxmlformats.org/officeDocument/2006/relationships/image" Target="/ppt/media/image2.png" Id="R799b8dc43eef4849" /><Relationship Type="http://schemas.openxmlformats.org/officeDocument/2006/relationships/image" Target="/ppt/media/image3.png" Id="R95364cb03fe643ea" /><Relationship Type="http://schemas.openxmlformats.org/officeDocument/2006/relationships/image" Target="/ppt/media/image4.png" Id="Rba057f56c9434754" /><Relationship Type="http://schemas.openxmlformats.org/officeDocument/2006/relationships/image" Target="/ppt/media/image5.png" Id="Rb4553b4ab88b46c5" /><Relationship Type="http://schemas.openxmlformats.org/officeDocument/2006/relationships/image" Target="/ppt/media/image6.png" Id="R66aa32a3659348ff" /><Relationship Type="http://schemas.openxmlformats.org/officeDocument/2006/relationships/notesSlide" Target="/ppt/notesSlides/notesSlide1.xml" Id="Rc644246bb3f54a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76dafbb6484e43" /><Relationship Type="http://schemas.openxmlformats.org/officeDocument/2006/relationships/image" Target="/ppt/media/image7.png" Id="R0cf59903758e48d3" /><Relationship Type="http://schemas.openxmlformats.org/officeDocument/2006/relationships/image" Target="/ppt/media/image8.png" Id="Rd7bdd9d5e78f4005" /><Relationship Type="http://schemas.openxmlformats.org/officeDocument/2006/relationships/image" Target="/ppt/media/image9.png" Id="R1ac2b77bd7874c39" /><Relationship Type="http://schemas.openxmlformats.org/officeDocument/2006/relationships/image" Target="/ppt/media/image10.png" Id="R09f749b14014450b" /><Relationship Type="http://schemas.openxmlformats.org/officeDocument/2006/relationships/image" Target="/ppt/media/image11.png" Id="R744c2e8d746b4cf7" /><Relationship Type="http://schemas.openxmlformats.org/officeDocument/2006/relationships/image" Target="/ppt/media/image12.png" Id="Rdb498431162a4301" /><Relationship Type="http://schemas.openxmlformats.org/officeDocument/2006/relationships/notesSlide" Target="/ppt/notesSlides/notesSlide2.xml" Id="R3cfc0dea11c146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1dd4d4dc484c57" /><Relationship Type="http://schemas.openxmlformats.org/officeDocument/2006/relationships/image" Target="/ppt/media/image.png" Id="R5776aee00e0d4a3a" /><Relationship Type="http://schemas.openxmlformats.org/officeDocument/2006/relationships/image" Target="/ppt/media/image13.png" Id="R7be662cc90a04cae" /><Relationship Type="http://schemas.openxmlformats.org/officeDocument/2006/relationships/image" Target="/ppt/media/image14.png" Id="R24ac15929b6348d1" /><Relationship Type="http://schemas.openxmlformats.org/officeDocument/2006/relationships/notesSlide" Target="/ppt/notesSlides/notesSlide3.xml" Id="Recd23b5498bb44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b0f7c7f0874fe5" /><Relationship Type="http://schemas.openxmlformats.org/officeDocument/2006/relationships/image" Target="/ppt/media/image15.png" Id="R6e3ddc91fcfd45db" /><Relationship Type="http://schemas.openxmlformats.org/officeDocument/2006/relationships/image" Target="/ppt/media/image16.png" Id="R04ac085817934850" /><Relationship Type="http://schemas.openxmlformats.org/officeDocument/2006/relationships/image" Target="/ppt/media/image17.png" Id="Rcf1407f9381c4bbb" /><Relationship Type="http://schemas.openxmlformats.org/officeDocument/2006/relationships/image" Target="/ppt/media/image18.png" Id="R6fe10f7f4c074dbb" /><Relationship Type="http://schemas.openxmlformats.org/officeDocument/2006/relationships/image" Target="/ppt/media/image19.png" Id="R9609946712954e4b" /><Relationship Type="http://schemas.openxmlformats.org/officeDocument/2006/relationships/image" Target="/ppt/media/image20.png" Id="R56808f98f7ff42d2" /><Relationship Type="http://schemas.openxmlformats.org/officeDocument/2006/relationships/notesSlide" Target="/ppt/notesSlides/notesSlide4.xml" Id="R7c10694469bf40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eb3476904143e3" /><Relationship Type="http://schemas.openxmlformats.org/officeDocument/2006/relationships/notesSlide" Target="/ppt/notesSlides/notesSlide5.xml" Id="R0c6478c9686c4f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8a6afa742242cb" /><Relationship Type="http://schemas.openxmlformats.org/officeDocument/2006/relationships/image" Target="/ppt/media/image21.png" Id="R1b95500ce1bb453e" /><Relationship Type="http://schemas.openxmlformats.org/officeDocument/2006/relationships/image" Target="/ppt/media/image22.png" Id="R8b957e81cbd24953" /><Relationship Type="http://schemas.openxmlformats.org/officeDocument/2006/relationships/image" Target="/ppt/media/image23.png" Id="Rfe3e97a891d84e9c" /><Relationship Type="http://schemas.openxmlformats.org/officeDocument/2006/relationships/image" Target="/ppt/media/image24.png" Id="R19754ebeace74b82" /><Relationship Type="http://schemas.openxmlformats.org/officeDocument/2006/relationships/image" Target="/ppt/media/image25.png" Id="R72157c036e644976" /><Relationship Type="http://schemas.openxmlformats.org/officeDocument/2006/relationships/image" Target="/ppt/media/image26.png" Id="Rfea0e6bda6e346db" /><Relationship Type="http://schemas.openxmlformats.org/officeDocument/2006/relationships/notesSlide" Target="/ppt/notesSlides/notesSlide6.xml" Id="Rb136352c7f9e4b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bdce911b3b4597" /><Relationship Type="http://schemas.openxmlformats.org/officeDocument/2006/relationships/notesSlide" Target="/ppt/notesSlides/notesSlide7.xml" Id="Re9b0debc6a3a4c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41f5a482564299" /><Relationship Type="http://schemas.openxmlformats.org/officeDocument/2006/relationships/image" Target="/ppt/media/image27.png" Id="R691cefbcfb6643bd" /><Relationship Type="http://schemas.openxmlformats.org/officeDocument/2006/relationships/image" Target="/ppt/media/image28.png" Id="Rd3c82efc56784c34" /><Relationship Type="http://schemas.openxmlformats.org/officeDocument/2006/relationships/image" Target="/ppt/media/image29.png" Id="R0889155310ea4049" /><Relationship Type="http://schemas.openxmlformats.org/officeDocument/2006/relationships/notesSlide" Target="/ppt/notesSlides/notesSlide8.xml" Id="R38beb30997cc48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d78935f86447dd" /><Relationship Type="http://schemas.openxmlformats.org/officeDocument/2006/relationships/notesSlide" Target="/ppt/notesSlides/notesSlide9.xml" Id="Re67a83e4e23749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3becf25bde462b" /><Relationship Type="http://schemas.openxmlformats.org/officeDocument/2006/relationships/image" Target="/ppt/media/image11.png" Id="R30d65e0cd64e4afd" /><Relationship Type="http://schemas.openxmlformats.org/officeDocument/2006/relationships/image" Target="/ppt/media/image30.png" Id="R93ce681116154a79" /><Relationship Type="http://schemas.openxmlformats.org/officeDocument/2006/relationships/image" Target="/ppt/media/image31.png" Id="Rf0033f098365466c" /><Relationship Type="http://schemas.openxmlformats.org/officeDocument/2006/relationships/notesSlide" Target="/ppt/notesSlides/notesSlide10.xml" Id="R41ce18bb70744c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0e513812b04215" /><Relationship Type="http://schemas.openxmlformats.org/officeDocument/2006/relationships/image" Target="/ppt/media/image28.png" Id="R0cd2329fa7884a72" /><Relationship Type="http://schemas.openxmlformats.org/officeDocument/2006/relationships/image" Target="/ppt/media/image32.png" Id="Rd35267483059422d" /><Relationship Type="http://schemas.openxmlformats.org/officeDocument/2006/relationships/image" Target="/ppt/media/image33.png" Id="Rf6beb019a9ea47d1" /><Relationship Type="http://schemas.openxmlformats.org/officeDocument/2006/relationships/image" Target="/ppt/media/image.png" Id="R5f79634bbd634498" /><Relationship Type="http://schemas.openxmlformats.org/officeDocument/2006/relationships/image" Target="/ppt/media/image34.png" Id="R8bb2a3c837fe4bdb" /><Relationship Type="http://schemas.openxmlformats.org/officeDocument/2006/relationships/image" Target="/ppt/media/image17.png" Id="R99d6ead2d47c4827" /><Relationship Type="http://schemas.openxmlformats.org/officeDocument/2006/relationships/notesSlide" Target="/ppt/notesSlides/notesSlide11.xml" Id="Racfff11d08b041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9d3ebd533242bc" /><Relationship Type="http://schemas.openxmlformats.org/officeDocument/2006/relationships/image" Target="/ppt/media/image35.png" Id="Rf9a7dd55405e4bfa" /><Relationship Type="http://schemas.openxmlformats.org/officeDocument/2006/relationships/image" Target="/ppt/media/image36.png" Id="Rbf6bafa7453747c3" /><Relationship Type="http://schemas.openxmlformats.org/officeDocument/2006/relationships/image" Target="/ppt/media/image37.png" Id="Rca02fb6bce5b426e" /><Relationship Type="http://schemas.openxmlformats.org/officeDocument/2006/relationships/image" Target="/ppt/media/image38.png" Id="R51eebf3e332c4058" /><Relationship Type="http://schemas.openxmlformats.org/officeDocument/2006/relationships/notesSlide" Target="/ppt/notesSlides/notesSlide12.xml" Id="R6f7f618172a149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6b3317c8e24081" /><Relationship Type="http://schemas.openxmlformats.org/officeDocument/2006/relationships/image" Target="/ppt/media/image15.png" Id="R011312fd430a42cb" /><Relationship Type="http://schemas.openxmlformats.org/officeDocument/2006/relationships/image" Target="/ppt/media/image34.png" Id="R44f83e2f54274a2f" /><Relationship Type="http://schemas.openxmlformats.org/officeDocument/2006/relationships/image" Target="/ppt/media/image31.png" Id="R491a6ee65af34ef8" /><Relationship Type="http://schemas.openxmlformats.org/officeDocument/2006/relationships/image" Target="/ppt/media/image39.png" Id="R3d8fdc5fb98b48f5" /><Relationship Type="http://schemas.openxmlformats.org/officeDocument/2006/relationships/notesSlide" Target="/ppt/notesSlides/notesSlide13.xml" Id="R3cf5eca560d142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50ad472e0e49c2" /><Relationship Type="http://schemas.openxmlformats.org/officeDocument/2006/relationships/image" Target="/ppt/media/image40.png" Id="R7e0988e6155b4675" /><Relationship Type="http://schemas.openxmlformats.org/officeDocument/2006/relationships/image" Target="/ppt/media/image41.png" Id="Rafcaf96047524945" /><Relationship Type="http://schemas.openxmlformats.org/officeDocument/2006/relationships/image" Target="/ppt/media/image32.png" Id="R8713ac5c4bef44a0" /><Relationship Type="http://schemas.openxmlformats.org/officeDocument/2006/relationships/image" Target="/ppt/media/image42.png" Id="R05074743924943b4" /><Relationship Type="http://schemas.openxmlformats.org/officeDocument/2006/relationships/image" Target="/ppt/media/image5.png" Id="Rd5a9c953be8d4689" /><Relationship Type="http://schemas.openxmlformats.org/officeDocument/2006/relationships/image" Target="/ppt/media/image6.png" Id="R63077317363648b8" /><Relationship Type="http://schemas.openxmlformats.org/officeDocument/2006/relationships/notesSlide" Target="/ppt/notesSlides/notesSlide14.xml" Id="Raa2cea1bbbc347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0b50d688584f57" /><Relationship Type="http://schemas.openxmlformats.org/officeDocument/2006/relationships/notesSlide" Target="/ppt/notesSlides/notesSlide15.xml" Id="R6ed8f141e5144e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6f7b2bcb6247c8" /><Relationship Type="http://schemas.openxmlformats.org/officeDocument/2006/relationships/notesSlide" Target="/ppt/notesSlides/notesSlide16.xml" Id="Ra2ab70787f9048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14098467ff4377" /><Relationship Type="http://schemas.openxmlformats.org/officeDocument/2006/relationships/image" Target="/ppt/media/image43.png" Id="R4afea078b4a64917" /><Relationship Type="http://schemas.openxmlformats.org/officeDocument/2006/relationships/image" Target="/ppt/media/image44.png" Id="Rbe5b3d472790472d" /><Relationship Type="http://schemas.openxmlformats.org/officeDocument/2006/relationships/image" Target="/ppt/media/image45.png" Id="R5eab7e0850cd4e18" /><Relationship Type="http://schemas.openxmlformats.org/officeDocument/2006/relationships/notesSlide" Target="/ppt/notesSlides/notesSlide17.xml" Id="Rbdf3f7e17c67452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0eeee2a014411d" /><Relationship Type="http://schemas.openxmlformats.org/officeDocument/2006/relationships/image" Target="/ppt/media/image.png" Id="R9166cce1a1e94d72" /><Relationship Type="http://schemas.openxmlformats.org/officeDocument/2006/relationships/image" Target="/ppt/media/image44.png" Id="Rb631409845ed4b9b" /><Relationship Type="http://schemas.openxmlformats.org/officeDocument/2006/relationships/image" Target="/ppt/media/image46.png" Id="R5bdcfdff64304ce8" /><Relationship Type="http://schemas.openxmlformats.org/officeDocument/2006/relationships/image" Target="/ppt/media/image47.png" Id="R3e19a4e852b04771" /><Relationship Type="http://schemas.openxmlformats.org/officeDocument/2006/relationships/image" Target="/ppt/media/image11.png" Id="Rd279ac6484534b33" /><Relationship Type="http://schemas.openxmlformats.org/officeDocument/2006/relationships/notesSlide" Target="/ppt/notesSlides/notesSlide18.xml" Id="R633e6a33e2da406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072365b804e56" /><Relationship Type="http://schemas.openxmlformats.org/officeDocument/2006/relationships/notesSlide" Target="/ppt/notesSlides/notesSlide19.xml" Id="Ra081513a9e9a451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ebb326f0a4dfd" /><Relationship Type="http://schemas.openxmlformats.org/officeDocument/2006/relationships/notesSlide" Target="/ppt/notesSlides/notesSlide20.xml" Id="R153fd7d4a292433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7261616004723" /><Relationship Type="http://schemas.openxmlformats.org/officeDocument/2006/relationships/notesSlide" Target="/ppt/notesSlides/notesSlide21.xml" Id="R0d648b5ad4f947e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26c8e1f564092" /><Relationship Type="http://schemas.openxmlformats.org/officeDocument/2006/relationships/notesSlide" Target="/ppt/notesSlides/notesSlide22.xml" Id="R2e825b321f384e3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fb93d0bb44035" /><Relationship Type="http://schemas.openxmlformats.org/officeDocument/2006/relationships/notesSlide" Target="/ppt/notesSlides/notesSlide23.xml" Id="Rb623e2698d2e444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35acbe8f348df" /><Relationship Type="http://schemas.openxmlformats.org/officeDocument/2006/relationships/notesSlide" Target="/ppt/notesSlides/notesSlide24.xml" Id="R4624be357c364e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D36916-3DCC-4C18-AAB1-E0751F5E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926080"/>
            <a:ext cx="3474720" cy="3474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>
              <a:alpha val="6000"/>
            </a:srgbClr>
          </a:solidFill>
          <a:ln xmlns:a="http://schemas.openxmlformats.org/drawingml/2006/main" w="12700">
            <a:solidFill>
              <a:srgbClr val="38BDF8">
                <a:alpha val="1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8C5129C-BFDF-467F-811E-908DF01E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97280" y="-731520"/>
            <a:ext cx="3200400" cy="3200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8CF8">
              <a:alpha val="8000"/>
            </a:srgbClr>
          </a:solidFill>
          <a:ln xmlns:a="http://schemas.openxmlformats.org/drawingml/2006/main" w="12700">
            <a:solidFill>
              <a:srgbClr val="818CF8">
                <a:alpha val="1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B3BC208-C780-43BE-BDE9-1D66BED0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-457200"/>
            <a:ext cx="1828800" cy="182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>
              <a:alpha val="6000"/>
            </a:srgbClr>
          </a:solidFill>
          <a:ln xmlns:a="http://schemas.openxmlformats.org/drawingml/2006/main" w="12700">
            <a:solidFill>
              <a:srgbClr val="34D399">
                <a:alpha val="1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DBC13FE-A936-4C88-8279-5932C081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25880"/>
            <a:ext cx="91440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12700">
            <a:solidFill>
              <a:srgbClr val="FFFFFF">
                <a:alpha val="4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383C91A-8C43-4D50-A3D4-3EBC9226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29184"/>
            <a:ext cx="731520" cy="32004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8BDF8">
              <a:alpha val="18000"/>
            </a:srgbClr>
          </a:solidFill>
          <a:ln xmlns:a="http://schemas.openxmlformats.org/drawingml/2006/main" w="12700">
            <a:solidFill>
              <a:srgbClr val="38BDF8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153078E-A640-4DF6-8B11-9FC79203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65760"/>
            <a:ext cx="640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AI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8362C7A-9DB8-444E-B94F-28F71302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9184"/>
            <a:ext cx="731520" cy="32004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4D399">
              <a:alpha val="18000"/>
            </a:srgbClr>
          </a:solidFill>
          <a:ln xmlns:a="http://schemas.openxmlformats.org/drawingml/2006/main" w="12700">
            <a:solidFill>
              <a:srgbClr val="34D399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D3A907F-322A-4C47-B4CE-6BFD6452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"/>
            <a:ext cx="640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DATA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6C639AF-9A59-410D-9596-750395A9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112" y="329184"/>
            <a:ext cx="731520" cy="32004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818CF8">
              <a:alpha val="18000"/>
            </a:srgbClr>
          </a:solidFill>
          <a:ln xmlns:a="http://schemas.openxmlformats.org/drawingml/2006/main" w="12700">
            <a:solidFill>
              <a:srgbClr val="818CF8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8B3B017-EE12-4D7C-A3ED-DE2D608F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365760"/>
            <a:ext cx="640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818CF8"/>
                </a:solidFill>
                <a:latin typeface="Calibri"/>
                <a:ea typeface="Calibri"/>
                <a:cs typeface="Calibri"/>
              </a:rPr>
              <a:t>APIs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FD6AE80-7416-4D7E-B47D-46C347C7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329184"/>
            <a:ext cx="731520" cy="32004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BF24">
              <a:alpha val="18000"/>
            </a:srgbClr>
          </a:solidFill>
          <a:ln xmlns:a="http://schemas.openxmlformats.org/drawingml/2006/main" w="12700">
            <a:solidFill>
              <a:srgbClr val="FBBF24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B06900-8909-495B-A06E-7F2FF3D1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365760"/>
            <a:ext cx="640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UX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1813520-EA6E-4F4E-B292-497E8BD6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29184"/>
            <a:ext cx="731520" cy="32004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72B6">
              <a:alpha val="18000"/>
            </a:srgbClr>
          </a:solidFill>
          <a:ln xmlns:a="http://schemas.openxmlformats.org/drawingml/2006/main" w="12700">
            <a:solidFill>
              <a:srgbClr val="F472B6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338499D-24ED-491A-9778-380F9600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168" y="365760"/>
            <a:ext cx="640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EVALS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24FE128-4FB6-4537-8F7E-68276F58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29184"/>
            <a:ext cx="731520" cy="32004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8BDF8">
              <a:alpha val="18000"/>
            </a:srgbClr>
          </a:solidFill>
          <a:ln xmlns:a="http://schemas.openxmlformats.org/drawingml/2006/main" w="12700">
            <a:solidFill>
              <a:srgbClr val="38BDF8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5837794-F5B9-4522-B0E2-0875919D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65760"/>
            <a:ext cx="640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CODE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3839BF8-CE59-4DF5-AF57-29CBEA54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926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FDE42BC-4FDA-4145-AE0F-642D3BC3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5880"/>
            <a:ext cx="8229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Workshop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998BA66-49CB-40F9-9C2E-2BBE50A2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4288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From ideas to reliable intelligent software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30BA08A-5786-43CD-9476-428E29A6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6352"/>
            <a:ext cx="8229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Models + data + APIs + product engineering + governance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881A6D5-8D92-4044-B092-0EE744E7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0520"/>
            <a:ext cx="201168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  <a:effectLst xmlns:a="http://schemas.openxmlformats.org/drawingml/2006/main"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96BC2C5-231D-4916-AC7D-C73E6083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87952"/>
            <a:ext cx="2011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▶  START WITH AGENDA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64B196A-BE89-4D26-B897-511FD701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4160520"/>
            <a:ext cx="201168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0711745-BC86-4622-8B27-978E783B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4187952"/>
            <a:ext cx="2011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⊞  OPEN DEMO PORTFOLIO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8ED87CB6-2D39-42FB-A16E-3134B342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005840"/>
            <a:ext cx="3200400" cy="3200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F4A">
              <a:alpha val="65000"/>
            </a:srgbClr>
          </a:solidFill>
          <a:ln xmlns:a="http://schemas.openxmlformats.org/drawingml/2006/main" w="6350">
            <a:solidFill>
              <a:srgbClr val="38BDF8">
                <a:alpha val="2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8397041-E854-46A1-AC38-45CF16D0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64008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>
              <a:alpha val="18000"/>
            </a:srgbClr>
          </a:solidFill>
          <a:ln xmlns:a="http://schemas.openxmlformats.org/drawingml/2006/main"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4de7d338b42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0" y="731520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7A2D50-36C2-44E8-9525-4A1F0BBA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73736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8CF8">
              <a:alpha val="18000"/>
            </a:srgbClr>
          </a:solidFill>
          <a:ln xmlns:a="http://schemas.openxmlformats.org/drawingml/2006/main" w="12700">
            <a:solidFill>
              <a:srgbClr val="818CF8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b8dc43eef48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1828800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8C13E677-FD67-43C4-8C9E-B893438C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92608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>
              <a:alpha val="18000"/>
            </a:srgbClr>
          </a:solidFill>
          <a:ln xmlns:a="http://schemas.openxmlformats.org/drawingml/2006/main" w="12700">
            <a:solidFill>
              <a:srgbClr val="34D399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64cb03fe643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0" y="3017520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16BEDE40-902B-42EC-9856-DA62C91A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576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>
              <a:alpha val="18000"/>
            </a:srgbClr>
          </a:solidFill>
          <a:ln xmlns:a="http://schemas.openxmlformats.org/drawingml/2006/main" w="12700">
            <a:solidFill>
              <a:srgbClr val="FBBF24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57f56c94347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3749040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35" name="Shape 29">
            <a:extLst xmlns:a="http://schemas.openxmlformats.org/drawingml/2006/main">
              <a:ext uri="{FF2B5EF4-FFF2-40B4-BE49-F238E27FC236}">
                <a16:creationId xmlns:a16="http://schemas.microsoft.com/office/drawing/2014/main" id="{7885031F-B3F0-4C02-A80C-EE1B5F5E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83464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2B6">
              <a:alpha val="18000"/>
            </a:srgbClr>
          </a:solidFill>
          <a:ln xmlns:a="http://schemas.openxmlformats.org/drawingml/2006/main" w="12700">
            <a:solidFill>
              <a:srgbClr val="F472B6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53b4ab88b46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2160" y="2926080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37" name="Shape 30">
            <a:extLst xmlns:a="http://schemas.openxmlformats.org/drawingml/2006/main">
              <a:ext uri="{FF2B5EF4-FFF2-40B4-BE49-F238E27FC236}">
                <a16:creationId xmlns:a16="http://schemas.microsoft.com/office/drawing/2014/main" id="{3010DBAA-25FE-486A-888A-2BA80D12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55448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>
              <a:alpha val="18000"/>
            </a:srgbClr>
          </a:solidFill>
          <a:ln xmlns:a="http://schemas.openxmlformats.org/drawingml/2006/main"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a32a3659348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0" y="1645920"/>
            <a:ext cx="384048" cy="3840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880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6C2237-0D17-4373-8F18-91288319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2700">
            <a:solidFill>
              <a:srgbClr val="0A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9177B3E-EA07-48EE-ACA4-E0C97670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HOME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969AB91-AEC0-4C74-A874-74FE3D62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FOUNDATIONS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A48295C-B759-4E14-8652-BAC4BBE2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DEMOS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2F0189D-C560-42D0-8782-1D6941BA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STACK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738E01-E486-4665-88A8-1B1AE31C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GOVERNANCE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B8ADF10-4CCC-4D48-BDFC-6F1005A7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ROADMAP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16F2658-07F3-4D2A-8188-0F679267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576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HOME  •  02 / 24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1BDC044-E812-4446-9A7F-C240BE1E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Workshop Control Room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D4D5D98-AD40-403B-93DB-D9A2C937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Jump into any section, return home anytime, and keep the day moving.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96CE253-CDC3-4499-9041-36BF5F95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12648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3968C29-AF4D-4F26-A12B-6C6DEE56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91640"/>
            <a:ext cx="265176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7EA2358-D9FA-4131-84C6-C03D8B3E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91640"/>
            <a:ext cx="50292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59903758e48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892808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88A64A6-89B2-49EB-8E39-DDF5985C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37944"/>
            <a:ext cx="1874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AGENDA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3E26191-0088-44BD-A774-2BBCDD08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67128"/>
            <a:ext cx="1874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Seven-hour flow and pacing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EF1E157-AB44-4F0B-89E3-144304B3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691640"/>
            <a:ext cx="265176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C32FC4A-F9AE-4430-BCA8-72DAC003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691640"/>
            <a:ext cx="50292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dd9d5e78f40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7288" y="1892808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8E2EC5D4-337B-4C27-8E2B-57DEF72D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837944"/>
            <a:ext cx="1874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FOUNDATIONS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067A4793-129B-44FF-B7C9-40411502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167128"/>
            <a:ext cx="1874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AI/ML basics, RAG, architecture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BCFFDD60-AFC2-4791-B5B5-592359A3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691640"/>
            <a:ext cx="265176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4EEA3916-5448-41B2-A0E7-105904FE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691640"/>
            <a:ext cx="50292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2b77bd7874c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7648" y="1892808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DAE66D03-D5F3-478E-BF8D-25E781F7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837944"/>
            <a:ext cx="1874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DEMOS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461FA835-3F77-4A90-A7D4-1AB8B960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167128"/>
            <a:ext cx="1874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Six showcase demos and runbook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D1CE03F1-9952-4F7B-A440-C4534AB2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154680"/>
            <a:ext cx="265176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F3CDFA71-6C32-4684-B27B-793F6B6C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154680"/>
            <a:ext cx="50292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2700">
            <a:solidFill>
              <a:srgbClr val="FBBF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749b1401445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355848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18F1CB30-A0A3-4843-BA0E-3FDD7C0F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300984"/>
            <a:ext cx="1874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STACK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0DFA58F5-F39D-41EE-ACA7-D282A6E5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630168"/>
            <a:ext cx="1874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Software stack and API connects</a:t>
            </a:r>
          </a:p>
        </p:txBody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A8C784AC-787F-46A0-B455-889115CD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154680"/>
            <a:ext cx="265176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28">
            <a:extLst xmlns:a="http://schemas.openxmlformats.org/drawingml/2006/main">
              <a:ext uri="{FF2B5EF4-FFF2-40B4-BE49-F238E27FC236}">
                <a16:creationId xmlns:a16="http://schemas.microsoft.com/office/drawing/2014/main" id="{268171EA-334A-4C8F-ADAF-470552ED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154680"/>
            <a:ext cx="50292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12700">
            <a:solidFill>
              <a:srgbClr val="F472B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c2e8d746b4c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7288" y="3355848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A99680B3-66FE-4A03-9B5D-E3575558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300984"/>
            <a:ext cx="1874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GOVERNANCE</a:t>
            </a:r>
          </a:p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3ED3E597-6328-4E33-AEA3-AE4D1DD4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630168"/>
            <a:ext cx="1874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Security, evals, responsible AI</a:t>
            </a:r>
          </a:p>
        </p:txBody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A88BCBC9-E1E0-4311-BD6B-AF9D07B3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154680"/>
            <a:ext cx="265176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2">
            <a:extLst xmlns:a="http://schemas.openxmlformats.org/drawingml/2006/main">
              <a:ext uri="{FF2B5EF4-FFF2-40B4-BE49-F238E27FC236}">
                <a16:creationId xmlns:a16="http://schemas.microsoft.com/office/drawing/2014/main" id="{F0AEF75E-9D4F-43B6-8BAE-CFD9A4EA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154680"/>
            <a:ext cx="50292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98431162a43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7648" y="3355848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41" name="Text 33">
            <a:extLst xmlns:a="http://schemas.openxmlformats.org/drawingml/2006/main">
              <a:ext uri="{FF2B5EF4-FFF2-40B4-BE49-F238E27FC236}">
                <a16:creationId xmlns:a16="http://schemas.microsoft.com/office/drawing/2014/main" id="{A917A4A0-CB6D-49F2-A5E1-05885787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300984"/>
            <a:ext cx="1874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ROADMAP</a:t>
            </a:r>
          </a:p>
        </p:txBody>
      </p:sp>
      <p:sp>
        <p:nvSpPr>
          <p:cNvPr id="42" name="Text 34">
            <a:extLst xmlns:a="http://schemas.openxmlformats.org/drawingml/2006/main">
              <a:ext uri="{FF2B5EF4-FFF2-40B4-BE49-F238E27FC236}">
                <a16:creationId xmlns:a16="http://schemas.microsoft.com/office/drawing/2014/main" id="{8678D564-7EB7-4030-B2B2-0A2DC4D6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630168"/>
            <a:ext cx="1874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Prep plan and 30-60-90 path</a:t>
            </a:r>
          </a:p>
        </p:txBody>
      </p:sp>
      <p:sp>
        <p:nvSpPr>
          <p:cNvPr id="43" name="Text 35">
            <a:extLst xmlns:a="http://schemas.openxmlformats.org/drawingml/2006/main">
              <a:ext uri="{FF2B5EF4-FFF2-40B4-BE49-F238E27FC236}">
                <a16:creationId xmlns:a16="http://schemas.microsoft.com/office/drawing/2014/main" id="{0F5C5831-EAC4-48F5-AAE4-294E31B1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590288"/>
            <a:ext cx="8412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Tip: use slideshow mode — every top-level card, footer pill, and HOME button is clickable.</a:t>
            </a:r>
          </a:p>
        </p:txBody>
      </p:sp>
    </p:spTree>
    <p:extLst>
      <p:ext uri="{BB962C8B-B14F-4D97-AF65-F5344CB8AC3E}">
        <p14:creationId xmlns:p14="http://schemas.microsoft.com/office/powerpoint/2010/main" val="14047291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5099BB9-2424-4D57-B6B1-B27BFC4B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2700">
            <a:solidFill>
              <a:srgbClr val="0A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ADE18A-5EA7-4EE6-BE47-1B2E44C7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HOME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189F00-64AB-4EBC-8EFB-86F887D6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FOUNDATIONS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600131F-0B66-438B-B7AC-345EB5DF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DEMOS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E56805C-5656-4CF0-969F-9A6CC815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STACK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86D712-7D2E-40F2-B74B-54F60A67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GOVERNANCE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D07AED5-A70B-4C34-A757-0154F0C8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ROADMAP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43D99CD-C0BD-4EA6-AD19-E6006304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576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FOUNDATIONS  •  04 / 24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118D712-87A0-4F67-8218-CD1491C4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North Star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9746E69-2B82-445B-9AE0-BDF7FBC3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12648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C94802A-2565-4A04-ADB5-4100EABB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234440"/>
            <a:ext cx="8321040" cy="1115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  <a:effectLst xmlns:a="http://schemas.openxmlformats.org/drawingml/2006/main">
            <a:outerShdw blurRad="203200" dist="38100" dir="8100000" algn="bl" rotWithShape="0">
              <a:srgbClr val="000000">
                <a:alpha val="3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B2337DE-9EDB-486E-BE0D-C1965DAE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234440"/>
            <a:ext cx="73152" cy="1115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644142F-EB08-4584-B323-DC75E0D9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98448"/>
            <a:ext cx="7955280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i="1">
                <a:solidFill>
                  <a:srgbClr val="E2E8F0"/>
                </a:solidFill>
                <a:latin typeface="Georgia"/>
                <a:ea typeface="Georgia"/>
                <a:cs typeface="Georgia"/>
              </a:rPr>
              <a:t>"AI is a capability layer: data, models, APIs, UX, evaluation, security, and operations working together."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0154B63-AAC0-40BA-98BA-DC237404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33472"/>
            <a:ext cx="265176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55574D1-CF13-432D-BAAE-06C9786A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33472"/>
            <a:ext cx="26517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6aee00e0d4a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2816352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60F6571-9604-4EE5-B9DB-1008DE06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16" y="2798064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FF481AE-DE3B-4BED-9D21-C1BA77B8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401568"/>
            <a:ext cx="23317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Reasoning, generation, classification, embeddings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789929D-8BD7-4645-823A-F05D165C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633472"/>
            <a:ext cx="265176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D6ADDD9A-D8D1-4141-AFF7-91482B3E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633472"/>
            <a:ext cx="26517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662cc90a04c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7288" y="2816352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3E5B02D-8C9E-4A09-B051-55F2BF58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2798064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5DFBD115-647B-4AAE-A164-A4D3306F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401568"/>
            <a:ext cx="23317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Retrieval, tools, jobs, data, APIs, state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F600909A-BC7D-4DF1-BBDF-94078416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2633472"/>
            <a:ext cx="265176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49113CAD-4F28-47D9-A124-79E71FF4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2633472"/>
            <a:ext cx="26517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c15929b6348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54496" y="2816352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007FCDBD-D9DC-40DC-9CB1-E06ED39A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2798064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Trust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0965BFD0-8870-45F5-9E75-FE49F586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401568"/>
            <a:ext cx="23317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Permissions, evals, audit logs, human approval</a:t>
            </a:r>
          </a:p>
        </p:txBody>
      </p:sp>
    </p:spTree>
    <p:extLst>
      <p:ext uri="{BB962C8B-B14F-4D97-AF65-F5344CB8AC3E}">
        <p14:creationId xmlns:p14="http://schemas.microsoft.com/office/powerpoint/2010/main" val="7339538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B176FEA-BF29-4257-8BFD-D93163D6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2700">
            <a:solidFill>
              <a:srgbClr val="0A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F179490-5DD0-42CF-9CEE-7D4AC827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HOME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497A4FB-A7BC-4574-A336-882313D8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FOUNDATIONS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F5820EA-1FA6-4668-9E5B-855A5C74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DEMOS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02EB1A-31BE-4009-A8EE-69236A37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STACK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CC9EE7E-3CCA-4691-B215-8051BE80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GOVERNANCE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203F7EA-E941-43E4-8774-501A4619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ROADMAP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7CE3936-5748-4655-8ED0-B9BB5CD4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576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FOUNDATIONS  •  05 / 24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556979D-5613-4FE8-9759-A8781F5C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Capability Map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129D72B-3A0F-4A9C-8991-0BE069EE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594360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7DD6808-46F0-4A4D-A2EE-7650C0BB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Six pillars show breadth without turning the workshop into a random collection of experiments.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9AEE787-EF93-4A2B-8930-1B6A2738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508760"/>
            <a:ext cx="26517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2528EF3-18BE-4B47-8ADA-042AFB25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508760"/>
            <a:ext cx="50292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ddc91fcfd45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91640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E667A13-10B5-4D61-8912-126B3762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636776"/>
            <a:ext cx="1874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Knowledge AI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7351045-D616-47AB-86E2-103F2A0E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002536"/>
            <a:ext cx="1874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RAG, semantic search, citations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E1112E3-652C-4655-A64A-1F7D2AF2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508760"/>
            <a:ext cx="26517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A30AA0ED-128D-4B03-889E-FFB8C4FE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508760"/>
            <a:ext cx="50292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c0858179348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10712" y="1691640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FCC6CEF-CB17-47ED-8A4E-A65CAF5B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32" y="1636776"/>
            <a:ext cx="1874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Document Intelligence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84AAE1C7-756A-4DAE-8CFE-FD593674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32" y="2002536"/>
            <a:ext cx="1874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OCR, extraction, validation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FB25AB53-C226-4751-A29F-74D1D330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508760"/>
            <a:ext cx="26517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E962A3FF-9510-4FD9-9A78-ABDC3C86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508760"/>
            <a:ext cx="50292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407f9381c4b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91072" y="1691640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D9D64C4F-15C7-4E51-BFCB-D5A26106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1636776"/>
            <a:ext cx="1874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Predictive ML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EF05F69D-D623-468C-89D6-EDC8F9A1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02536"/>
            <a:ext cx="1874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Forecasting, anomalies, risk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ECA3555B-1CFC-4751-8CD9-F670660F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063240"/>
            <a:ext cx="26517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D5901813-72FC-4DD6-BBC2-11B8C7AE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063240"/>
            <a:ext cx="50292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2700">
            <a:solidFill>
              <a:srgbClr val="FBBF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10f7f4c07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3246120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8C43CB6E-D081-4194-BC28-CE0C181A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191256"/>
            <a:ext cx="1874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Workflow Agents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E4223A74-ECB9-47C0-8CF9-646048C0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557016"/>
            <a:ext cx="1874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Tool calling, approvals, logs</a:t>
            </a:r>
          </a:p>
        </p:txBody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7326EAD8-4B93-4225-B8D1-4E05D81B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063240"/>
            <a:ext cx="26517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28">
            <a:extLst xmlns:a="http://schemas.openxmlformats.org/drawingml/2006/main">
              <a:ext uri="{FF2B5EF4-FFF2-40B4-BE49-F238E27FC236}">
                <a16:creationId xmlns:a16="http://schemas.microsoft.com/office/drawing/2014/main" id="{078DF773-9FAA-4864-A5C0-ECF67D28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063240"/>
            <a:ext cx="50292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12700">
            <a:solidFill>
              <a:srgbClr val="F472B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9946712954e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10712" y="3246120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CCAE04AD-56F6-4687-BA99-F1F2B4AB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32" y="3191256"/>
            <a:ext cx="1874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Visual AI</a:t>
            </a:r>
          </a:p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BD7D012C-F753-41AD-AC68-2048BEFC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32" y="3557016"/>
            <a:ext cx="1874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Images, charts, screenshots</a:t>
            </a:r>
          </a:p>
        </p:txBody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84CE4EA9-2A06-4AB3-A6C8-D207ACDB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063240"/>
            <a:ext cx="26517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2">
            <a:extLst xmlns:a="http://schemas.openxmlformats.org/drawingml/2006/main">
              <a:ext uri="{FF2B5EF4-FFF2-40B4-BE49-F238E27FC236}">
                <a16:creationId xmlns:a16="http://schemas.microsoft.com/office/drawing/2014/main" id="{EECE007B-93FB-46F9-9EF6-AE189A34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063240"/>
            <a:ext cx="50292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08f98f7ff42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91072" y="3246120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41" name="Text 33">
            <a:extLst xmlns:a="http://schemas.openxmlformats.org/drawingml/2006/main">
              <a:ext uri="{FF2B5EF4-FFF2-40B4-BE49-F238E27FC236}">
                <a16:creationId xmlns:a16="http://schemas.microsoft.com/office/drawing/2014/main" id="{D51B95A0-0EDE-4F4B-B516-51FB5E2B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191256"/>
            <a:ext cx="1874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Developer Intelligence</a:t>
            </a:r>
          </a:p>
        </p:txBody>
      </p:sp>
      <p:sp>
        <p:nvSpPr>
          <p:cNvPr id="42" name="Text 34">
            <a:extLst xmlns:a="http://schemas.openxmlformats.org/drawingml/2006/main">
              <a:ext uri="{FF2B5EF4-FFF2-40B4-BE49-F238E27FC236}">
                <a16:creationId xmlns:a16="http://schemas.microsoft.com/office/drawing/2014/main" id="{E0DEBB0F-72F1-432D-BD08-91584126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57016"/>
            <a:ext cx="1874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Code, tests, review, docs</a:t>
            </a:r>
          </a:p>
        </p:txBody>
      </p:sp>
    </p:spTree>
    <p:extLst>
      <p:ext uri="{BB962C8B-B14F-4D97-AF65-F5344CB8AC3E}">
        <p14:creationId xmlns:p14="http://schemas.microsoft.com/office/powerpoint/2010/main" val="14565210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7721D1A-A09F-4194-8EEC-DA24D703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2700">
            <a:solidFill>
              <a:srgbClr val="0A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D92E25-B963-4FE8-90BD-2A0049C9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HOME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963BF9F-730E-4519-A675-A90AD21E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FOUNDATIONS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C990E23-5101-4BB5-8737-EB2E694B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DEMOS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840214-6A9F-4456-8228-5308C1D9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STACK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8C56523-9FF0-411E-99BF-D0439C4A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GOVERNANCE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A9B3AC9-EFD6-493F-895C-8D475ED8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ROADMAP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1E3E92D-8006-4DE9-A9A4-EFC66409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576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FOUNDATIONS  •  06 / 24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5F2E15-B2A4-468B-907C-C267A221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Reference Architecture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7C3BEDB-AE8D-42D5-BDAE-692AC9F2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 production-minded AI system coordinates UX, APIs, orchestration, models, retrieval, data, and operations.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049E2D6-0006-4FEF-B417-C214AFDB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12648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924978B-6F57-4A45-8AAE-67234062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572768"/>
            <a:ext cx="841248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6350">
            <a:solidFill>
              <a:srgbClr val="38BDF8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D795638-8EE9-4ED2-9EB4-D27C8AB1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572768"/>
            <a:ext cx="5029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267BE0E-90B2-427B-98C8-4627EB67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9344"/>
            <a:ext cx="21945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Experience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0E1BE05-9F00-4DF8-B9CF-644F0CA9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627632"/>
            <a:ext cx="5760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Web app, dashboards, chat, admin console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38B3843-0A7F-4843-95FF-F7AED998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45920"/>
            <a:ext cx="621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705A737-520D-47C4-BAEC-3788D25B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093976"/>
            <a:ext cx="841248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6350">
            <a:solidFill>
              <a:srgbClr val="818CF8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0F1C79E-490F-4566-AE5F-9534EAD5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093976"/>
            <a:ext cx="5029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ABCC347-4909-4199-B473-DB632877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30552"/>
            <a:ext cx="21945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Application API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30ADA38-09C0-4A4E-8C19-27BFAB6A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148840"/>
            <a:ext cx="5760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REST/GraphQL, auth, validation, rate limits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7903320-7149-4ED4-A8AD-508D55BC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167128"/>
            <a:ext cx="621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818CF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7434DED-503A-4BAC-9E26-AF234D99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615184"/>
            <a:ext cx="841248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6350">
            <a:solidFill>
              <a:srgbClr val="34D399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6FA25AF-0BAA-4ADE-91A1-5BBD6F17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615184"/>
            <a:ext cx="5029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A5B9F53-DCC4-4A0F-9C51-F23F6B05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51760"/>
            <a:ext cx="21945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Orchestration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009BEF0-3189-4815-83AC-2E4E2E3B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670048"/>
            <a:ext cx="5760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Workflow engine, agent planner, queues, approvals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4433A71-5E48-47B7-8F99-E6F17A6F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688336"/>
            <a:ext cx="621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754A3A6A-4B76-49D8-94E6-4C930528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136392"/>
            <a:ext cx="841248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6350">
            <a:solidFill>
              <a:srgbClr val="FBBF24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9851413F-07A1-45AF-80E1-F54AA2C6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136392"/>
            <a:ext cx="5029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2700">
            <a:solidFill>
              <a:srgbClr val="FBBF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4BD5CD6-739F-4FD0-89C5-1E52A138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72968"/>
            <a:ext cx="21945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+ Retrieval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19B117D-B2F3-43E9-9A60-AE1A0580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191256"/>
            <a:ext cx="5760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LLMs, embeddings, vector search, reranking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0AAA085-5972-4FF6-A1D6-9BA06320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209544"/>
            <a:ext cx="621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90C0ED45-428B-41B0-BD73-4CE6F43A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57600"/>
            <a:ext cx="841248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6350">
            <a:solidFill>
              <a:srgbClr val="F472B6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F5EF3638-4381-4B8A-AB19-113BD2FA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57600"/>
            <a:ext cx="5029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12700">
            <a:solidFill>
              <a:srgbClr val="F472B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E59D4134-46F6-43DA-B9FE-53AECEBC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94176"/>
            <a:ext cx="21945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+ Integrations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05267E4F-D6F4-4C15-9F7C-EE31676B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712464"/>
            <a:ext cx="5760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SQL, files, CRM, ERP, email, calendar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7E789F1-CF5D-4E0A-92F0-B048370E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730752"/>
            <a:ext cx="621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81172E3-AF23-46A6-B7C5-C35DA1B4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178808"/>
            <a:ext cx="841248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6350">
            <a:solidFill>
              <a:srgbClr val="38BDF8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D548951E-E9B4-4C7D-A15B-54627944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178808"/>
            <a:ext cx="5029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42BEAD34-8279-4C2F-84B1-AE85BB51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15384"/>
            <a:ext cx="21945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Governance + Ops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231FB74D-1533-41E8-9456-A2EC4267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233672"/>
            <a:ext cx="5760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RBAC, audit logs, evals, monitoring, CI/CD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F0F595ED-EBC8-4F0A-A4DD-674F8411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251960"/>
            <a:ext cx="621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294322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76848FC-C3D5-4FEE-AEB2-11288CDA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2700">
            <a:solidFill>
              <a:srgbClr val="0A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A033534-CDF8-49DD-BD3E-D3F3BB44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HOME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B9B1C89-6ABD-4CAA-965C-4EE186E5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FOUNDATIONS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1F1E80C-0787-4DEF-A40C-B368629D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DEMOS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102A388-B292-4EDB-BFD5-4FEDE6EB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STACK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FBBDB40-810F-4104-BBDF-165C599B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GOVERNANCE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49C0792-750B-4507-9412-893DD59A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ROADMAP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EE3A3F9-3E2A-467A-A95E-C0E78854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576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FOUNDATIONS  •  07 / 24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9653888-3C9C-494A-8F14-C244281E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RAG Pipeline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585C186-F829-4353-BA12-E5B7D4D9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594360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2700">
            <a:solidFill>
              <a:srgbClr val="FBBF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5816D05-7378-41D3-9935-147C5458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Retrieval augmented generation grounds answers in trusted sources instead of asking the model to guess.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048BF6C-B38A-47F9-8573-2E7C57CB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1536192"/>
            <a:ext cx="1389888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BF664FD-D4D5-49E1-86E7-814B9573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1536192"/>
            <a:ext cx="138988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FF8C461-F4ED-4A31-B942-3D4F056F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6420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1C7415C-BA1D-4CAA-B0FD-3ACD7BC6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64208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5500ce1bb45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231136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94B295A-FFDE-4888-A072-26D008EA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2679192"/>
            <a:ext cx="12435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Sources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DF3229F-09D2-45F1-8EAD-675B24C3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" y="3017520"/>
            <a:ext cx="12801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Docs, tickets, reports, wikis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797636F-F4DA-4ADB-8333-226A0E0B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2633472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40361C3-D153-4166-A7F0-990F86AD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1536192"/>
            <a:ext cx="1389888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B821F76-53E0-44CD-9784-BDD69B14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1536192"/>
            <a:ext cx="138988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91495A1A-8F8E-410A-99D1-D6202ACE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976" y="166420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BFBD20DF-99F5-44DE-BC96-4D5CD173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976" y="1664208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57e81cbd249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21408" y="2231136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D18CFE2-31CA-4BC9-8337-98430FE8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679192"/>
            <a:ext cx="12435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Ingest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31FE5FC-6ACC-4533-9346-1742AA84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2" y="3017520"/>
            <a:ext cx="12801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Extract, clean, chunk, enrich</a:t>
            </a:r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1FD5F9DE-9C78-4C4D-A0AD-3FCFE025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376" y="2633472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D1EB125B-F6B8-41D5-BCF1-BB592B3E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096" y="1536192"/>
            <a:ext cx="1389888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74E20013-48ED-48C4-B171-A08879C3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096" y="1536192"/>
            <a:ext cx="138988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6BE2A50E-6284-416E-B1D8-FEB20179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166420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447773FB-C962-4157-A029-DD9BF3AD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1664208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pic>
        <p:nvPicPr>
          <p:cNvPr id="3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e97a891d84e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7016" y="2231136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C8ED7AC2-E3B1-4DD6-8F01-FC099D02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2679192"/>
            <a:ext cx="12435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Embed</a:t>
            </a:r>
          </a:p>
        </p:txBody>
      </p:sp>
      <p:sp>
        <p:nvSpPr>
          <p:cNvPr id="35" name="Text 30">
            <a:extLst xmlns:a="http://schemas.openxmlformats.org/drawingml/2006/main">
              <a:ext uri="{FF2B5EF4-FFF2-40B4-BE49-F238E27FC236}">
                <a16:creationId xmlns:a16="http://schemas.microsoft.com/office/drawing/2014/main" id="{9538AD67-AF91-40BE-BE21-083912A7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017520"/>
            <a:ext cx="12801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Create searchable vector signals</a:t>
            </a:r>
          </a:p>
        </p:txBody>
      </p:sp>
      <p:sp>
        <p:nvSpPr>
          <p:cNvPr id="36" name="Shape 31">
            <a:extLst xmlns:a="http://schemas.openxmlformats.org/drawingml/2006/main">
              <a:ext uri="{FF2B5EF4-FFF2-40B4-BE49-F238E27FC236}">
                <a16:creationId xmlns:a16="http://schemas.microsoft.com/office/drawing/2014/main" id="{B7081A3C-5FAF-471A-B308-A8FB0501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2633472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2">
            <a:extLst xmlns:a="http://schemas.openxmlformats.org/drawingml/2006/main">
              <a:ext uri="{FF2B5EF4-FFF2-40B4-BE49-F238E27FC236}">
                <a16:creationId xmlns:a16="http://schemas.microsoft.com/office/drawing/2014/main" id="{E11AD044-5E45-4005-8E6D-2A0B1FA4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536192"/>
            <a:ext cx="1389888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3">
            <a:extLst xmlns:a="http://schemas.openxmlformats.org/drawingml/2006/main">
              <a:ext uri="{FF2B5EF4-FFF2-40B4-BE49-F238E27FC236}">
                <a16:creationId xmlns:a16="http://schemas.microsoft.com/office/drawing/2014/main" id="{EC1C6860-C080-4503-83C1-36BAEE44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536192"/>
            <a:ext cx="138988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2700">
            <a:solidFill>
              <a:srgbClr val="FBBF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4">
            <a:extLst xmlns:a="http://schemas.openxmlformats.org/drawingml/2006/main">
              <a:ext uri="{FF2B5EF4-FFF2-40B4-BE49-F238E27FC236}">
                <a16:creationId xmlns:a16="http://schemas.microsoft.com/office/drawing/2014/main" id="{A541DF6F-0E25-44C1-B1E8-205AD4DA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192" y="166420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2700">
            <a:solidFill>
              <a:srgbClr val="FBBF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5">
            <a:extLst xmlns:a="http://schemas.openxmlformats.org/drawingml/2006/main">
              <a:ext uri="{FF2B5EF4-FFF2-40B4-BE49-F238E27FC236}">
                <a16:creationId xmlns:a16="http://schemas.microsoft.com/office/drawing/2014/main" id="{522CFEFC-901F-4DB6-BB0E-07FAFBCE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192" y="1664208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pic>
        <p:nvPicPr>
          <p:cNvPr id="4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54ebeace74b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2624" y="2231136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2" name="Text 36">
            <a:extLst xmlns:a="http://schemas.openxmlformats.org/drawingml/2006/main">
              <a:ext uri="{FF2B5EF4-FFF2-40B4-BE49-F238E27FC236}">
                <a16:creationId xmlns:a16="http://schemas.microsoft.com/office/drawing/2014/main" id="{1C1ADF54-F900-437C-A7E7-534C5F68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2679192"/>
            <a:ext cx="12435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Retrieve</a:t>
            </a:r>
          </a:p>
        </p:txBody>
      </p:sp>
      <p:sp>
        <p:nvSpPr>
          <p:cNvPr id="43" name="Text 37">
            <a:extLst xmlns:a="http://schemas.openxmlformats.org/drawingml/2006/main">
              <a:ext uri="{FF2B5EF4-FFF2-40B4-BE49-F238E27FC236}">
                <a16:creationId xmlns:a16="http://schemas.microsoft.com/office/drawing/2014/main" id="{4D5A6A4A-5C23-446C-8BA7-2F27B647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3017520"/>
            <a:ext cx="12801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Hybrid search and reranking</a:t>
            </a:r>
          </a:p>
        </p:txBody>
      </p:sp>
      <p:sp>
        <p:nvSpPr>
          <p:cNvPr id="44" name="Shape 38">
            <a:extLst xmlns:a="http://schemas.openxmlformats.org/drawingml/2006/main">
              <a:ext uri="{FF2B5EF4-FFF2-40B4-BE49-F238E27FC236}">
                <a16:creationId xmlns:a16="http://schemas.microsoft.com/office/drawing/2014/main" id="{4911018B-F18B-40B1-84D0-02C0DF29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633472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39">
            <a:extLst xmlns:a="http://schemas.openxmlformats.org/drawingml/2006/main">
              <a:ext uri="{FF2B5EF4-FFF2-40B4-BE49-F238E27FC236}">
                <a16:creationId xmlns:a16="http://schemas.microsoft.com/office/drawing/2014/main" id="{573F85AA-95DE-440E-B641-AD952034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1536192"/>
            <a:ext cx="1389888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0">
            <a:extLst xmlns:a="http://schemas.openxmlformats.org/drawingml/2006/main">
              <a:ext uri="{FF2B5EF4-FFF2-40B4-BE49-F238E27FC236}">
                <a16:creationId xmlns:a16="http://schemas.microsoft.com/office/drawing/2014/main" id="{F3FF865D-1A0F-4E4A-B3B0-C5A98E00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1536192"/>
            <a:ext cx="138988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12700">
            <a:solidFill>
              <a:srgbClr val="F472B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1">
            <a:extLst xmlns:a="http://schemas.openxmlformats.org/drawingml/2006/main">
              <a:ext uri="{FF2B5EF4-FFF2-40B4-BE49-F238E27FC236}">
                <a16:creationId xmlns:a16="http://schemas.microsoft.com/office/drawing/2014/main" id="{7D70BDE9-1F87-47D9-8211-BB3A4EC8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6420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12700">
            <a:solidFill>
              <a:srgbClr val="F472B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2">
            <a:extLst xmlns:a="http://schemas.openxmlformats.org/drawingml/2006/main">
              <a:ext uri="{FF2B5EF4-FFF2-40B4-BE49-F238E27FC236}">
                <a16:creationId xmlns:a16="http://schemas.microsoft.com/office/drawing/2014/main" id="{36AC76A8-43C2-4465-8A64-2E8B27FC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64208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pic>
        <p:nvPicPr>
          <p:cNvPr id="4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57c036e6449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8232" y="2231136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50" name="Text 43">
            <a:extLst xmlns:a="http://schemas.openxmlformats.org/drawingml/2006/main">
              <a:ext uri="{FF2B5EF4-FFF2-40B4-BE49-F238E27FC236}">
                <a16:creationId xmlns:a16="http://schemas.microsoft.com/office/drawing/2014/main" id="{6D768C15-CC8D-4B21-9633-8A44A2CF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464" y="2679192"/>
            <a:ext cx="12435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Answer</a:t>
            </a:r>
          </a:p>
        </p:txBody>
      </p:sp>
      <p:sp>
        <p:nvSpPr>
          <p:cNvPr id="51" name="Text 44">
            <a:extLst xmlns:a="http://schemas.openxmlformats.org/drawingml/2006/main">
              <a:ext uri="{FF2B5EF4-FFF2-40B4-BE49-F238E27FC236}">
                <a16:creationId xmlns:a16="http://schemas.microsoft.com/office/drawing/2014/main" id="{1FF2FD79-7B29-4962-9CFB-555AB187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176" y="3017520"/>
            <a:ext cx="12801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Grounded response with citations</a:t>
            </a:r>
          </a:p>
        </p:txBody>
      </p:sp>
      <p:sp>
        <p:nvSpPr>
          <p:cNvPr id="52" name="Shape 45">
            <a:extLst xmlns:a="http://schemas.openxmlformats.org/drawingml/2006/main">
              <a:ext uri="{FF2B5EF4-FFF2-40B4-BE49-F238E27FC236}">
                <a16:creationId xmlns:a16="http://schemas.microsoft.com/office/drawing/2014/main" id="{709A43BB-E3D9-42FE-8869-2F9629D7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33472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Shape 46">
            <a:extLst xmlns:a="http://schemas.openxmlformats.org/drawingml/2006/main">
              <a:ext uri="{FF2B5EF4-FFF2-40B4-BE49-F238E27FC236}">
                <a16:creationId xmlns:a16="http://schemas.microsoft.com/office/drawing/2014/main" id="{4AD4C965-B428-4B1A-9147-CC2C9CAC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536192"/>
            <a:ext cx="1389888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Shape 47">
            <a:extLst xmlns:a="http://schemas.openxmlformats.org/drawingml/2006/main">
              <a:ext uri="{FF2B5EF4-FFF2-40B4-BE49-F238E27FC236}">
                <a16:creationId xmlns:a16="http://schemas.microsoft.com/office/drawing/2014/main" id="{D6F8D46D-5825-41E9-88C2-D208C44E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536192"/>
            <a:ext cx="138988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Shape 48">
            <a:extLst xmlns:a="http://schemas.openxmlformats.org/drawingml/2006/main">
              <a:ext uri="{FF2B5EF4-FFF2-40B4-BE49-F238E27FC236}">
                <a16:creationId xmlns:a16="http://schemas.microsoft.com/office/drawing/2014/main" id="{A38BE35F-D42A-4981-B390-9E8D4E17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166420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49">
            <a:extLst xmlns:a="http://schemas.openxmlformats.org/drawingml/2006/main">
              <a:ext uri="{FF2B5EF4-FFF2-40B4-BE49-F238E27FC236}">
                <a16:creationId xmlns:a16="http://schemas.microsoft.com/office/drawing/2014/main" id="{F77B254B-D2F1-4EEF-9FFE-1B3B9E92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1664208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0e6bda6e346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63840" y="2231136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58" name="Text 50">
            <a:extLst xmlns:a="http://schemas.openxmlformats.org/drawingml/2006/main">
              <a:ext uri="{FF2B5EF4-FFF2-40B4-BE49-F238E27FC236}">
                <a16:creationId xmlns:a16="http://schemas.microsoft.com/office/drawing/2014/main" id="{1CD4ED51-05F9-4EC0-909B-3FF8E0BE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2679192"/>
            <a:ext cx="12435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Evaluate</a:t>
            </a:r>
          </a:p>
        </p:txBody>
      </p:sp>
      <p:sp>
        <p:nvSpPr>
          <p:cNvPr id="59" name="Text 51">
            <a:extLst xmlns:a="http://schemas.openxmlformats.org/drawingml/2006/main">
              <a:ext uri="{FF2B5EF4-FFF2-40B4-BE49-F238E27FC236}">
                <a16:creationId xmlns:a16="http://schemas.microsoft.com/office/drawing/2014/main" id="{F70B0BA6-1689-4D3B-9D8E-5450EB41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3017520"/>
            <a:ext cx="12801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Feedback, golden tests, refusal checks</a:t>
            </a:r>
          </a:p>
        </p:txBody>
      </p:sp>
      <p:sp>
        <p:nvSpPr>
          <p:cNvPr id="60" name="Shape 52">
            <a:extLst xmlns:a="http://schemas.openxmlformats.org/drawingml/2006/main">
              <a:ext uri="{FF2B5EF4-FFF2-40B4-BE49-F238E27FC236}">
                <a16:creationId xmlns:a16="http://schemas.microsoft.com/office/drawing/2014/main" id="{2CCD9E98-DC17-4689-B0B1-76637BB5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3913632"/>
            <a:ext cx="87782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Shape 53">
            <a:extLst xmlns:a="http://schemas.openxmlformats.org/drawingml/2006/main">
              <a:ext uri="{FF2B5EF4-FFF2-40B4-BE49-F238E27FC236}">
                <a16:creationId xmlns:a16="http://schemas.microsoft.com/office/drawing/2014/main" id="{2714D1F4-E353-4613-8CBD-590254FA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3913632"/>
            <a:ext cx="6400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2700">
            <a:solidFill>
              <a:srgbClr val="FBBF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54">
            <a:extLst xmlns:a="http://schemas.openxmlformats.org/drawingml/2006/main">
              <a:ext uri="{FF2B5EF4-FFF2-40B4-BE49-F238E27FC236}">
                <a16:creationId xmlns:a16="http://schemas.microsoft.com/office/drawing/2014/main" id="{288C49FA-B856-4F48-A289-71069DFA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931920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Quality Contract</a:t>
            </a:r>
          </a:p>
        </p:txBody>
      </p:sp>
      <p:sp>
        <p:nvSpPr>
          <p:cNvPr id="63" name="Text 55">
            <a:extLst xmlns:a="http://schemas.openxmlformats.org/drawingml/2006/main">
              <a:ext uri="{FF2B5EF4-FFF2-40B4-BE49-F238E27FC236}">
                <a16:creationId xmlns:a16="http://schemas.microsoft.com/office/drawing/2014/main" id="{4D347253-F14B-410B-AAEE-2C1CC491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4242816"/>
            <a:ext cx="8321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Answer directly, cite sources, separate fact from interpretation, show uncertainty, and refuse unsupported questions.</a:t>
            </a:r>
          </a:p>
        </p:txBody>
      </p:sp>
    </p:spTree>
    <p:extLst>
      <p:ext uri="{BB962C8B-B14F-4D97-AF65-F5344CB8AC3E}">
        <p14:creationId xmlns:p14="http://schemas.microsoft.com/office/powerpoint/2010/main" val="2156578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5BE975A-68D1-4D42-8388-31B24D02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2700">
            <a:solidFill>
              <a:srgbClr val="0A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184C647-BAB7-4331-8724-916DCC90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HOME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0806725-63E0-4930-9B8F-BB30D707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FOUNDATIONS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BE709AB-CB6C-4A9B-845C-5D6F7B11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DEMOS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ADFD8C0-8BD3-4E06-8C98-1472275D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STACK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EB83A07-E7FD-4CDF-96B0-3968E5BA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GOVERNANCE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0151252-779F-4C8F-BC27-B3914E1D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ROADMAP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B33424A-25FF-420C-8E22-F75215B0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576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DEMOS  •  08 / 24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CAA4695-F74D-4423-861B-DD17BD93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 1: Knowledge Copilot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9172CC5-1D0B-4128-BA4B-56A25B04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 private knowledge assistant that answers from approved documents with citations and refusal behavior.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2F65268-3B6F-4D97-BA8F-0E1E1066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12648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ADACEC7-1BC1-4C6D-A878-4E2AFDFD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64208"/>
            <a:ext cx="196596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B00BA32-1E74-44E5-8DDC-F73CE5FE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64208"/>
            <a:ext cx="196596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3775026-BEF1-49F8-ABA2-58B86626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1828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493BA89-73DD-4E0F-AF37-7922B53B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1828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160FB31-3DF4-472C-A4F5-983879AB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4872"/>
            <a:ext cx="1783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Upload / connect docs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B2F6EB7-B617-406A-B139-2E86A8B9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7792"/>
            <a:ext cx="17830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Document library and metadata filters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393CBED-572E-45E4-9708-521334BA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734056"/>
            <a:ext cx="1828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B3185BE-CD2E-4123-B655-046DD4E5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64208"/>
            <a:ext cx="196596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43D8960-C0E8-42CE-8CB9-C9442DA9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64208"/>
            <a:ext cx="196596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2C524BC-AFF0-4B36-8458-63C64207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828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C7CE2C3-B6DC-4B07-A8FA-79567609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828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0D0AB9F-44F5-4848-BEE2-A22834C0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404872"/>
            <a:ext cx="1783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Ask grounded question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D06B162-90B9-4F87-A1D2-6A53890D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907792"/>
            <a:ext cx="17830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Retriever selects evidence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091A3AC-E90E-4107-83BC-0AE024D8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734056"/>
            <a:ext cx="1828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089EA70E-8591-4AB3-A94F-6193A8E2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664208"/>
            <a:ext cx="196596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66089D7-417A-4010-92D8-74D525FD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664208"/>
            <a:ext cx="196596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C6E96F8-55C6-4D92-B0EB-460A8E4C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1828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249E99A-7759-41E3-83F3-E9463621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1828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2CC7B9E-122B-4CCC-9A4E-BEDB6B8D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404872"/>
            <a:ext cx="1783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Answer with citations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EA1DF6C-DDB0-4FB9-8677-268D5D8E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907792"/>
            <a:ext cx="17830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Open source and inspect context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3CCEAE72-FB80-4F35-BB3E-974CBBAD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34056"/>
            <a:ext cx="1828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7E5DD4AC-71B2-412E-84B1-C88CE201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664208"/>
            <a:ext cx="196596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7CFBAAF6-1624-41A4-B4C8-CCF7E5FE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664208"/>
            <a:ext cx="196596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2700">
            <a:solidFill>
              <a:srgbClr val="FBBF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E81E2301-5175-4216-9987-F482633F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1828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2700">
            <a:solidFill>
              <a:srgbClr val="FBBF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970429E8-64D7-4144-85C7-889260D0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1828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9A01CE2E-9D56-4C17-B110-A62FBADF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404872"/>
            <a:ext cx="1783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Unsupported question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074DBA7-D258-4588-938B-3DE28340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907792"/>
            <a:ext cx="17830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Refuse or ask for clarification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04117A6-9C57-4158-AEE4-F7D6F67B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206240"/>
            <a:ext cx="841248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48CBB33A-6DC7-46A1-9849-9266552D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206240"/>
            <a:ext cx="54864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55C1CC2D-9523-4512-A637-AB53098C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33672"/>
            <a:ext cx="1280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Technical proof  ·  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3A54F7B9-63F1-49BD-BFB4-23DAE1D5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8046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Chunking, embeddings, hybrid retrieval, reranking, citations, feedback loop, evaluation set.</a:t>
            </a:r>
          </a:p>
        </p:txBody>
      </p:sp>
    </p:spTree>
    <p:extLst>
      <p:ext uri="{BB962C8B-B14F-4D97-AF65-F5344CB8AC3E}">
        <p14:creationId xmlns:p14="http://schemas.microsoft.com/office/powerpoint/2010/main" val="3353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11C3CEF-844E-4226-9436-B948EF27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2700">
            <a:solidFill>
              <a:srgbClr val="0A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64298B0-57C5-453F-B884-4A342BB3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HOME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D783D60-F141-4F52-A0CF-1BFD4B54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FOUNDATIONS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0796AF7-C807-4E9C-81A7-39C5A4AC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DEMOS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8B69E6B-7B6C-4A0C-B54C-540637C0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STACK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9F1FD98-B7E7-48A9-B8A5-45F2BBD5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GOVERNANCE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89737BB-12F4-4DC8-8974-E4EDBD81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ROADMAP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B4F2B4D-1719-4B43-94B2-45A51E59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576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DEMOS  •  09 / 24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31125A1-40E4-4BD9-90CD-7E2F25D5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Demo 2: Document Intelligence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C947A5C-F6C3-4576-BB39-B1271D57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594360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8EBB5F-439E-4CD2-BE8E-7928FDCE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Convert unstructured documents into validated, reviewable, API-ready structured data.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D4E68FE-BA52-4E6A-A086-FE763390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1572768"/>
            <a:ext cx="150876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571ACB5-40AA-4FA9-B1C4-4B72F458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1572768"/>
            <a:ext cx="15087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Classify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655CCB0-626A-4696-9754-2794188D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232" y="1755648"/>
            <a:ext cx="2286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12700">
            <a:solidFill>
              <a:srgbClr val="94A3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C10E02C-F9DE-42BC-8980-F8497E1C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1572768"/>
            <a:ext cx="150876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42B0683-5A26-49CC-A14C-3EB33032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1572768"/>
            <a:ext cx="15087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Extract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6D10575-0465-469D-90DE-861CFAEB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755648"/>
            <a:ext cx="2286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12700">
            <a:solidFill>
              <a:srgbClr val="94A3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F8DF0BF-5D7A-4A4C-BABE-BFEA84FC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1572768"/>
            <a:ext cx="150876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C3B515A-5F39-4F6F-BE14-73263817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1572768"/>
            <a:ext cx="15087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Validate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E6A615B-0EA2-4D65-B21F-FC7FC463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1755648"/>
            <a:ext cx="2286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12700">
            <a:solidFill>
              <a:srgbClr val="94A3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F733605-FCB4-4A0D-A1EF-61586C2C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1572768"/>
            <a:ext cx="150876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2700">
            <a:solidFill>
              <a:srgbClr val="FBBF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367B2AA-0F76-44DF-AA56-8F790DD9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1572768"/>
            <a:ext cx="15087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937ED6E-54CE-4192-A234-5A343205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2286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12700">
            <a:solidFill>
              <a:srgbClr val="94A3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7910497-5342-494F-BF3E-0EC44C3E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2" y="1572768"/>
            <a:ext cx="150876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12700">
            <a:solidFill>
              <a:srgbClr val="F472B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CF4D876-2BEA-4B10-8C20-BF267301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2" y="1572768"/>
            <a:ext cx="15087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Payload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F5C3DDAD-2383-49FF-B4FD-50872D00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2331720"/>
            <a:ext cx="269748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B0FDABB-1C98-4233-8C45-DCBDF6D5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2331720"/>
            <a:ext cx="50292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cefbcfb6643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246888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07E8592D-7506-478B-8700-83B229D0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42316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Schema-driven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C0B7449F-5D5E-459A-82E2-1B30771C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2971800"/>
            <a:ext cx="24231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Extraction fields are defined up front and validated before export.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968E98A-B926-49AC-9E38-F9B354A7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2331720"/>
            <a:ext cx="269748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AF7204ED-A15F-4030-B0DB-8E971C85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2331720"/>
            <a:ext cx="50292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82efc56784c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10712" y="246888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35FF1521-52ED-4C42-9D97-5E332547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42316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Confidence-aware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D366E3C3-A6D1-41C8-846B-8710E050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2971800"/>
            <a:ext cx="24231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Low-confidence values are routed to human review instead of hidden.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80700455-8F74-40A8-9EB8-FCE9E8D1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2331720"/>
            <a:ext cx="269748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E8778BF8-A343-492A-877F-457C3681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2331720"/>
            <a:ext cx="50292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89155310ea40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91072" y="246888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40" name="Text 35">
            <a:extLst xmlns:a="http://schemas.openxmlformats.org/drawingml/2006/main">
              <a:ext uri="{FF2B5EF4-FFF2-40B4-BE49-F238E27FC236}">
                <a16:creationId xmlns:a16="http://schemas.microsoft.com/office/drawing/2014/main" id="{8A1474EC-FB5F-4D33-B5F2-F293215B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42316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API-ready</a:t>
            </a:r>
          </a:p>
        </p:txBody>
      </p:sp>
      <p:sp>
        <p:nvSpPr>
          <p:cNvPr id="41" name="Text 36">
            <a:extLst xmlns:a="http://schemas.openxmlformats.org/drawingml/2006/main">
              <a:ext uri="{FF2B5EF4-FFF2-40B4-BE49-F238E27FC236}">
                <a16:creationId xmlns:a16="http://schemas.microsoft.com/office/drawing/2014/main" id="{6E0D4109-6AEF-4C5A-8BAD-0135F800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2971800"/>
            <a:ext cx="24231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Validated JSON payloads can move into workflow systems safely.</a:t>
            </a:r>
          </a:p>
        </p:txBody>
      </p:sp>
    </p:spTree>
    <p:extLst>
      <p:ext uri="{BB962C8B-B14F-4D97-AF65-F5344CB8AC3E}">
        <p14:creationId xmlns:p14="http://schemas.microsoft.com/office/powerpoint/2010/main" val="20968516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8D17C40-2037-4FEA-8003-87F87124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2700">
            <a:solidFill>
              <a:srgbClr val="0A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D84B87E-A69E-4F34-8DD6-1E389E4A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HOME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382293-07F8-41C3-A94F-18F04C77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FOUNDATIONS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991AFA0-6039-415C-8CDB-9F524DD5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DEMOS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60403CC-D5E9-4E49-A5E7-6548FA49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STACK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67D9FDE-5D93-4BCD-A491-A5E77423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GOVERNANCE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B4BA8BF-D03D-4A90-B3AE-306F2B24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ROADMAP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D93E380-6265-4E4C-AAAA-003B03A8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576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DEMOS  •  10 / 24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6959507-0D67-4C80-8500-DBE454C5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 3: Predictive ML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374799E-B729-4B7B-817D-88DCC6DB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Show that applied AI is broader than chat: forecasting, anomaly detection, scoring, and decision support.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6B6AB2C-ED90-41CE-BA8B-52546A76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12648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B554E3C-3C44-4C94-A43D-1E17235A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64208"/>
            <a:ext cx="4023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ML Lifecycle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9F4AA54-DE21-4A06-B092-500D4E9F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15798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A39E7FD-F9E3-478A-BB24-3ED13F47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359152"/>
            <a:ext cx="36576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1948C2E-53FB-4A1A-BD81-ABB097E1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21408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Clean data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1F495B5-7DC7-411F-BF2F-7D068BAC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50545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D77EA4D-0555-410B-8BE0-A446CE05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706624"/>
            <a:ext cx="36576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0DDBC85-4DFB-4B4D-B11A-FF54966E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46888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Features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C8431FE-CCDF-47CB-A2B6-91C1DA8B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85292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5616333-AD9E-4CED-92DD-A47AE219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3054096"/>
            <a:ext cx="36576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3206479-C2FB-41EE-A2DC-2BB4897F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816352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Split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2265B04-CB25-4D6D-9B12-FD47851B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20040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51E1F63-9DDF-4805-BC7A-B5046FF8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3401568"/>
            <a:ext cx="36576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6EA45EE-2C1F-49BB-A38E-A9FACDFD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163824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Train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86DE042-2D1D-4AF0-88AF-AFFE1B40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54787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0D7FDB7-DB4B-40C8-898C-53332E6E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3749040"/>
            <a:ext cx="36576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985BC68-8A89-4E2C-9A90-2124CD5C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511296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Test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4D82CD4-B2E4-430A-9CB0-E976AF66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89534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9DAB752-B985-47F2-8D37-6EAD4943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4096512"/>
            <a:ext cx="36576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2952C0-2C7A-4B05-9321-8AA66E18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858768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Serve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F709715B-761C-4A03-94C2-0FB81E5C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424281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621C0B5-1BBE-49F7-A6AE-0EC53347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20624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Monitor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5CF631C8-5B24-4B8A-81BC-7D8BA90C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64208"/>
            <a:ext cx="4297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Forecast Demo Scorecard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BD04F53-2738-4F60-8CAA-C95C2123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12848"/>
            <a:ext cx="1097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RMSE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94BE377E-7418-4BCA-B84A-20529885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286000"/>
            <a:ext cx="25603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85382A6-51A6-40E2-B955-F0EA5EEB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286000"/>
            <a:ext cx="209946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96B10502-FC4B-439B-B5B3-C55B5B6D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212848"/>
            <a:ext cx="457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0.82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6836DA27-3C0C-472D-8376-735ABCED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34640"/>
            <a:ext cx="1097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MAE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1B21873C-394D-48D1-AB5B-DC4E647E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907792"/>
            <a:ext cx="25603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5889BFC1-C073-4878-ABE9-129E5575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907792"/>
            <a:ext cx="1715414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90DF409D-449E-4809-A172-82586DAD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834640"/>
            <a:ext cx="457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818CF8"/>
                </a:solidFill>
                <a:latin typeface="Calibri"/>
                <a:ea typeface="Calibri"/>
                <a:cs typeface="Calibri"/>
              </a:rPr>
              <a:t>0.67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F2D6EF17-A682-4E47-941E-519FF2D2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56432"/>
            <a:ext cx="1097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R²</a:t>
            </a:r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05844CCF-81B8-4BFA-84A3-E935B549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529584"/>
            <a:ext cx="25603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36AD5A76-5938-4E5B-9F8C-0A848890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529584"/>
            <a:ext cx="2329891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96ACA65-933A-41BD-A255-53DA9662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456432"/>
            <a:ext cx="457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0.91</a:t>
            </a:r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77DD32AB-9E4C-4C8B-A07B-FDAE30D2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78224"/>
            <a:ext cx="1097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Accuracy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60A065BC-365E-46CD-8CD1-1F515E7C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4151376"/>
            <a:ext cx="25603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47DC2F5C-4279-4BD6-81DE-CF056304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4151376"/>
            <a:ext cx="225308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2700">
            <a:solidFill>
              <a:srgbClr val="FBBF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9EC69BA4-FE51-4915-8B56-836F57D6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078224"/>
            <a:ext cx="457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88%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00370597-8AE5-4AD9-A708-43B46433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63440"/>
            <a:ext cx="42062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171E3A32-3718-4DB1-943A-4187B340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663440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FBBF24"/>
                </a:solidFill>
                <a:latin typeface="Georgia"/>
                <a:ea typeface="Georgia"/>
                <a:cs typeface="Georgia"/>
              </a:rPr>
              <a:t>Use metrics to show that ML is measurable, not magical.</a:t>
            </a:r>
          </a:p>
        </p:txBody>
      </p:sp>
    </p:spTree>
    <p:extLst>
      <p:ext uri="{BB962C8B-B14F-4D97-AF65-F5344CB8AC3E}">
        <p14:creationId xmlns:p14="http://schemas.microsoft.com/office/powerpoint/2010/main" val="7749605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7DC9B5-6D1C-4234-B1FA-20D4F99E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2700">
            <a:solidFill>
              <a:srgbClr val="0A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E084B1F-59FB-41E5-9519-CEC427EB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HOME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4015601-A0D6-42E0-8400-5EB46332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FOUNDATIONS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C7F90A4-8D3E-4AEE-838A-BCDAE9D1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DEMOS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09CE279-A204-4DED-B415-EE7FA595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STACK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C9FD706-E090-48F4-BE2E-638DBEA2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GOVERNANCE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3FDF1E6-C4F7-4C42-A1F4-2CA752DB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ROADMAP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0A98985-6158-4EB9-8036-A8E3AC45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576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DEMOS  •  11 / 24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0684A18-5F4C-4C6A-A334-D791CF61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Demo 4: Agentic Workflow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8FFAB5F-759C-4B17-B187-7C8EE6FE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594360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2700">
            <a:solidFill>
              <a:srgbClr val="FBBF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484FF80-A22D-461B-8A74-A7641699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Move from answers to controlled actions through typed tools, approvals, API execution, and audit logs.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5DB7F00-D3E0-4552-B164-39708187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1536192"/>
            <a:ext cx="1115568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BE1E741-27A4-488D-913B-CB673906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1536192"/>
            <a:ext cx="111556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Request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601F22-0ED3-49EC-83FA-A5A986BB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1719072"/>
            <a:ext cx="146304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12700">
            <a:solidFill>
              <a:srgbClr val="94A3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F5FB71D-EECA-4A2E-B9AA-906F6AE4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1536192"/>
            <a:ext cx="1115568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9E68021-8642-4A9D-850E-E29818F4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1536192"/>
            <a:ext cx="111556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Classify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0EFCF27-8B35-464F-8031-EC22EE95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719072"/>
            <a:ext cx="146304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12700">
            <a:solidFill>
              <a:srgbClr val="94A3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63AE0D8-F7D2-4F07-B92F-84D9AD40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1536192"/>
            <a:ext cx="1115568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23451BF-D1C9-49D6-BA38-3027EF52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1536192"/>
            <a:ext cx="111556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Gather context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73BCED7-3C5C-4709-BFF8-5308422E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1719072"/>
            <a:ext cx="146304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12700">
            <a:solidFill>
              <a:srgbClr val="94A3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2467C7C-3673-42EA-92CF-52611F9B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496" y="1536192"/>
            <a:ext cx="1115568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12700">
            <a:solidFill>
              <a:srgbClr val="FBBF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D8254C9-BAEF-4BA0-BDBB-A450EA67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496" y="1536192"/>
            <a:ext cx="111556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72587B9-7491-4C60-9B97-AA9BE8D3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1719072"/>
            <a:ext cx="146304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12700">
            <a:solidFill>
              <a:srgbClr val="94A3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FE41D81-8338-4A32-9B88-E2B916AE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1536192"/>
            <a:ext cx="1115568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72B6"/>
          </a:solidFill>
          <a:ln xmlns:a="http://schemas.openxmlformats.org/drawingml/2006/main" w="12700">
            <a:solidFill>
              <a:srgbClr val="F472B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BC2541C-8BA4-4CA4-952B-881CBA3C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1536192"/>
            <a:ext cx="111556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Approve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01B8F3A3-617B-4A36-B5B6-A8A7A97F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1719072"/>
            <a:ext cx="146304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12700">
            <a:solidFill>
              <a:srgbClr val="94A3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BB614D5-4FD4-475E-920A-7F41FE3F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536192"/>
            <a:ext cx="1115568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E1A2D2D-1FF7-4046-8ACC-A0D66998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536192"/>
            <a:ext cx="111556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Execute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49FF049-0585-49E2-923D-3566D646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1719072"/>
            <a:ext cx="146304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12700">
            <a:solidFill>
              <a:srgbClr val="94A3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A6E7B34-606C-48F2-A51F-1CF6C6D2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1536192"/>
            <a:ext cx="1115568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5BF5C72-5E94-421F-B864-3B5B4883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1536192"/>
            <a:ext cx="111556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Audit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DD17C445-6C60-4914-8551-EACBE2EA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359152"/>
            <a:ext cx="269748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6F1B6786-81D6-489E-99BB-37D66D97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359152"/>
            <a:ext cx="50292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12700">
            <a:solidFill>
              <a:srgbClr val="F472B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65e0cd64e4a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2505456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C615CDF6-9329-4A05-9F8C-134CE519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2450592"/>
            <a:ext cx="1828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Safety Boundary</a:t>
            </a:r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AA00ED65-9A41-45ED-BCE9-F9BFE988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2971800"/>
            <a:ext cx="2432304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Read tools and write tools are separate. External writes require explicit approval.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BC242F27-3DB5-4B39-9DBE-057C8110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359152"/>
            <a:ext cx="269748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335DA939-D3CD-4805-9217-8E3CF5B5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359152"/>
            <a:ext cx="50292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2700">
            <a:solidFill>
              <a:srgbClr val="FBBF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e681116154a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10712" y="2505456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0D9272A8-C7F2-4122-8580-499AB85B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064" y="2450592"/>
            <a:ext cx="1828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Typed Tools</a:t>
            </a:r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429CA7A8-188F-46DC-A356-5246B244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136" y="2971800"/>
            <a:ext cx="2432304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Every tool has a schema, validation, timeout, retry behavior, and audit payload.</a:t>
            </a:r>
          </a:p>
        </p:txBody>
      </p:sp>
      <p:sp>
        <p:nvSpPr>
          <p:cNvPr id="43" name="Shape 39">
            <a:extLst xmlns:a="http://schemas.openxmlformats.org/drawingml/2006/main">
              <a:ext uri="{FF2B5EF4-FFF2-40B4-BE49-F238E27FC236}">
                <a16:creationId xmlns:a16="http://schemas.microsoft.com/office/drawing/2014/main" id="{56ACF773-7201-4911-A62D-72BA0AE7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359152"/>
            <a:ext cx="269748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E9D9ECC9-EB3D-4754-A94F-88693BC2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359152"/>
            <a:ext cx="50292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33f09836546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91072" y="2505456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46" name="Text 41">
            <a:extLst xmlns:a="http://schemas.openxmlformats.org/drawingml/2006/main">
              <a:ext uri="{FF2B5EF4-FFF2-40B4-BE49-F238E27FC236}">
                <a16:creationId xmlns:a16="http://schemas.microsoft.com/office/drawing/2014/main" id="{907FD438-6B40-46D1-8195-42BCB1E3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424" y="2450592"/>
            <a:ext cx="1828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Dry Run Mode</a:t>
            </a:r>
          </a:p>
        </p:txBody>
      </p:sp>
      <p:sp>
        <p:nvSpPr>
          <p:cNvPr id="47" name="Text 42">
            <a:extLst xmlns:a="http://schemas.openxmlformats.org/drawingml/2006/main">
              <a:ext uri="{FF2B5EF4-FFF2-40B4-BE49-F238E27FC236}">
                <a16:creationId xmlns:a16="http://schemas.microsoft.com/office/drawing/2014/main" id="{0B5140C0-8A89-4291-9A4E-DD4A79BE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2971800"/>
            <a:ext cx="2432304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Show proposed actions before execution. Keep demos safe and inspectable.</a:t>
            </a:r>
          </a:p>
        </p:txBody>
      </p:sp>
    </p:spTree>
    <p:extLst>
      <p:ext uri="{BB962C8B-B14F-4D97-AF65-F5344CB8AC3E}">
        <p14:creationId xmlns:p14="http://schemas.microsoft.com/office/powerpoint/2010/main" val="21058279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BEAB48D-6CDE-482A-A59D-A3DB3603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2700">
            <a:solidFill>
              <a:srgbClr val="0A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C4C6B2D-6C06-45A2-9D32-9ECC3BBF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HOME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766A6A6-07F5-4A4A-A9A0-9DCF5DCF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FOUNDATIONS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22F0949-10ED-4B41-9B0E-A0D032DF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DEMOS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577C679-9E18-4B9C-81D6-EB8319AC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STACK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72C284-8E6F-44D2-808A-CAC4D03E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GOVERNANCE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1604211-63FB-49B9-8A64-5A60969E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ROADMAP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DEEB777-08AA-4E05-B44F-66ECFF71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576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DEMOS  •  12 / 24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3C9E423-BE80-42C1-980B-7FFA9FA3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API Integration Topology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8935A29-A209-4A8C-AE4E-4B717934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AI becomes useful when it can safely read context, call tools, and write approved outcomes.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7B865F5-D67F-46C1-8B7E-9C272459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12648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4A984D3-4540-4094-AAED-A7C2918E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965960"/>
            <a:ext cx="2194560" cy="1188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  <a:effectLst xmlns:a="http://schemas.openxmlformats.org/drawingml/2006/main">
            <a:outerShdw blurRad="177800" dist="38100" dir="8100000" algn="bl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84CB251-4B9E-4053-8D81-80D2AE86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965960"/>
            <a:ext cx="21945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AI Orchestration</a:t>
            </a:r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Hub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8BEBD73-83FA-4C02-8A06-EF9DB7C8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463040"/>
            <a:ext cx="16002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0160">
            <a:solidFill>
              <a:srgbClr val="818CF8">
                <a:alpha val="6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2329fa7884a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760" y="160020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795B916-33B2-47B0-829A-6CDACE09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91056"/>
            <a:ext cx="10789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Identity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46B53E92-63A6-4229-B388-9D93CEB2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154680"/>
            <a:ext cx="16002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0160">
            <a:solidFill>
              <a:srgbClr val="34D399">
                <a:alpha val="6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26748305942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760" y="329184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177C282C-6EFE-40C2-AE4A-882D02F9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82696"/>
            <a:ext cx="10789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Knowledge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68B8504A-8FF3-4A26-8ECE-A3422EBF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4343400"/>
            <a:ext cx="16002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0160">
            <a:solidFill>
              <a:srgbClr val="FBBF24">
                <a:alpha val="6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eb019a9ea47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03120" y="44805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56A1B2B-F308-43D3-8AF7-4BDBC4A9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4471416"/>
            <a:ext cx="10789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Business Systems</a:t>
            </a:r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173054D5-6E3E-47DF-ABFC-11F149A4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343400"/>
            <a:ext cx="16002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0160">
            <a:solidFill>
              <a:srgbClr val="38BDF8">
                <a:alpha val="6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9634bbd6344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44805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4E0BE78C-E5DD-48BC-99E1-C3933358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4471416"/>
            <a:ext cx="10789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AI Providers</a:t>
            </a:r>
          </a:p>
        </p:txBody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60DCA40C-CB51-4C87-A2B4-C041E2D6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463040"/>
            <a:ext cx="16002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0160">
            <a:solidFill>
              <a:srgbClr val="818CF8">
                <a:alpha val="6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2a3c837fe4b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0" y="160020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721F7721-35DD-4DB1-95A4-B96AC159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91056"/>
            <a:ext cx="10789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Developer Systems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C54CA6D0-8A2F-4F18-93BB-DACA6BA8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154680"/>
            <a:ext cx="16002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0160">
            <a:solidFill>
              <a:srgbClr val="34D399">
                <a:alpha val="6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6ead2d47c48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0" y="329184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0AE02C9E-A387-4A44-BF2A-4722D26C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282696"/>
            <a:ext cx="10789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Data Systems</a:t>
            </a:r>
          </a:p>
        </p:txBody>
      </p:sp>
      <p:sp>
        <p:nvSpPr>
          <p:cNvPr id="33" name="Shape 25">
            <a:extLst xmlns:a="http://schemas.openxmlformats.org/drawingml/2006/main">
              <a:ext uri="{FF2B5EF4-FFF2-40B4-BE49-F238E27FC236}">
                <a16:creationId xmlns:a16="http://schemas.microsoft.com/office/drawing/2014/main" id="{65AD0607-3753-4AE0-B9E0-07C31A48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709160"/>
            <a:ext cx="841248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8CC04DFA-8241-4937-ADB3-4F689E4C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Rule: Permission first, then retrieval, then action.</a:t>
            </a:r>
          </a:p>
        </p:txBody>
      </p:sp>
    </p:spTree>
    <p:extLst>
      <p:ext uri="{BB962C8B-B14F-4D97-AF65-F5344CB8AC3E}">
        <p14:creationId xmlns:p14="http://schemas.microsoft.com/office/powerpoint/2010/main" val="3670892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DA4B26D-1562-45D3-A64B-1FC253BB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2700">
            <a:solidFill>
              <a:srgbClr val="0A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8684ED8-3011-41DD-A4A4-524C2294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HOME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EDA7379-78DA-48E2-83FE-F32D0712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FOUNDATIONS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82381D1-6360-428C-B04A-E4DC9BDA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DEMOS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85B2B6C-8ED2-47C9-9CFB-0EB28311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STACK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B4B4BF9-E169-4DB2-BA9B-A18175FA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GOVERNANCE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2D93E6E-97BC-4C99-8BE1-91B63D95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ROADMAP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8566DDB-ACCF-40BE-991C-264523CB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576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DEMOS  •  13 / 24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05D8E2F-D32C-46DF-BD8E-FC623154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Multimodal and Visual AI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B788A02-4C37-480F-88B5-91381185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594360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12700">
            <a:solidFill>
              <a:srgbClr val="F472B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F24F6B5-120E-4A9D-BD6E-BD692DD3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Images, screenshots, charts, forms, and video frames become first-class inputs for intelligent workflows.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A6493C3-D10B-461E-87FA-82E57734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27632"/>
            <a:ext cx="196596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6C93CDF-8782-4A8F-8F1F-D366DCB6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27632"/>
            <a:ext cx="196596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74B8003-A56E-4A52-B1C3-877E83C9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7452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7dd55405e4b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1288" y="199339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DB87341-D61C-477B-94AB-A5BCDB44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33472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Screenshot Analyzer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7538E2C-F45D-49B8-800F-9CFCAEEA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0"/>
            <a:ext cx="1755648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Understand UI states and errors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F1361DE-0545-48F0-B436-57D770B3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27632"/>
            <a:ext cx="196596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1E80975E-499D-40C0-825F-4B7D9F49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27632"/>
            <a:ext cx="196596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4B8A3AA5-4123-4D8E-B954-DE34027F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187452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bafa7453747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0128" y="199339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965FCE1-67E9-4E73-816C-2AB8D23B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633472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Form Image Reader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F30CC9CA-1728-4FC5-8498-840FB780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" y="3108960"/>
            <a:ext cx="1755648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OCR + structured extraction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712B345-7939-4E52-843E-4DED13C1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627632"/>
            <a:ext cx="196596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4712F7F7-7BB2-4648-A4B3-9CCC23BF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627632"/>
            <a:ext cx="196596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4003A1CA-6653-4DD6-A069-E3A4192A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187452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2fb6bce5b42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58968" y="199339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59D7FA92-2F13-4EE1-9895-E97815A6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633472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Chart Explainer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9B357C4F-516C-4878-AB5A-602A2D1F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108960"/>
            <a:ext cx="1755648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Ask questions about visual data</a:t>
            </a:r>
          </a:p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503BE3C4-C2E0-48A6-B0E3-9A1AF46E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627632"/>
            <a:ext cx="196596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7">
            <a:extLst xmlns:a="http://schemas.openxmlformats.org/drawingml/2006/main">
              <a:ext uri="{FF2B5EF4-FFF2-40B4-BE49-F238E27FC236}">
                <a16:creationId xmlns:a16="http://schemas.microsoft.com/office/drawing/2014/main" id="{7A7602A7-2863-4495-AF66-4B87E78E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627632"/>
            <a:ext cx="196596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2700">
            <a:solidFill>
              <a:srgbClr val="FBBF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779BA913-5597-4F31-8693-6F14A44F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187452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2700">
            <a:solidFill>
              <a:srgbClr val="FBBF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ebf3e332c40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07808" y="199339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95C7F57A-4D89-4AE9-826B-72808012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633472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Visual QA</a:t>
            </a:r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ACD2547B-92B1-4441-AB81-41798E0E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108960"/>
            <a:ext cx="1755648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Classify defects and flag uncertainty</a:t>
            </a:r>
          </a:p>
        </p:txBody>
      </p:sp>
      <p:sp>
        <p:nvSpPr>
          <p:cNvPr id="37" name="Text 31">
            <a:extLst xmlns:a="http://schemas.openxmlformats.org/drawingml/2006/main">
              <a:ext uri="{FF2B5EF4-FFF2-40B4-BE49-F238E27FC236}">
                <a16:creationId xmlns:a16="http://schemas.microsoft.com/office/drawing/2014/main" id="{912B5945-8C11-4699-BFE9-D6F17DF6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709160"/>
            <a:ext cx="8412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475569"/>
                </a:solidFill>
                <a:latin typeface="Georgia"/>
                <a:ea typeface="Georgia"/>
                <a:cs typeface="Georgia"/>
              </a:rPr>
              <a:t>Confidence + Human Review keeps AI visual outputs safe and auditable.</a:t>
            </a:r>
          </a:p>
        </p:txBody>
      </p:sp>
    </p:spTree>
    <p:extLst>
      <p:ext uri="{BB962C8B-B14F-4D97-AF65-F5344CB8AC3E}">
        <p14:creationId xmlns:p14="http://schemas.microsoft.com/office/powerpoint/2010/main" val="6716087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B778692-C46B-434A-84A6-E23B8E99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2700">
            <a:solidFill>
              <a:srgbClr val="0A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F346F9D-0AFE-4353-8BB9-1E81E06A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HOME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7C06759-D626-434F-8BB6-EE8CFFD3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FOUNDATIONS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D20EF17-2E23-4D75-8ABD-70104B0F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DEMOS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BDB076C-3B18-4C9F-B837-8884C48B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STACK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5AE2515-62B3-4620-A953-206C3D4C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GOVERNANCE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FCF0E54-8691-41CA-A313-EFE893C3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ROADMAP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3811B-4051-41A0-874E-D070CA0C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576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DEMOS  •  14 / 24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3576023-0A92-4DEF-ADC3-449EB45C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Developer Intelligence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F23E034-E845-4D31-9288-E9709271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Use AI to understand code, generate tests, review diffs, explain logs, and speed up delivery.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365C8A3-ED20-4766-95B8-671EF946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12648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DAC8FAE-4D83-45BF-9FCF-AC10743D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719072"/>
            <a:ext cx="1965960" cy="2606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7"/>
          </a:solidFill>
          <a:ln xmlns:a="http://schemas.openxmlformats.org/drawingml/2006/main" w="12700">
            <a:solidFill>
              <a:srgbClr val="152237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46BC672-BD11-4BD6-B8F0-568F3BFE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719072"/>
            <a:ext cx="54864" cy="2606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F5D93F3-801E-4DEA-9315-79C1CF84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92024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>
              <a:alpha val="18000"/>
            </a:srgbClr>
          </a:solidFill>
          <a:ln xmlns:a="http://schemas.openxmlformats.org/drawingml/2006/main"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312fd430a42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3856" y="2039112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E98D151-CA47-4572-9469-0257590C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697480"/>
            <a:ext cx="17556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Understand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091EBCA-E691-4DB0-949D-B739CFD4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27248"/>
            <a:ext cx="175564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Index a repo, explain modules, map dependencies.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C21C6B9-3FB4-473F-934A-422C61AE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19072"/>
            <a:ext cx="1965960" cy="2606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7"/>
          </a:solidFill>
          <a:ln xmlns:a="http://schemas.openxmlformats.org/drawingml/2006/main" w="12700">
            <a:solidFill>
              <a:srgbClr val="152237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8736597-AFB4-4957-AA4C-334C7723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19072"/>
            <a:ext cx="54864" cy="2606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BEA2056-C365-4B93-B6FE-24179CD4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192024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8CF8">
              <a:alpha val="18000"/>
            </a:srgbClr>
          </a:solidFill>
          <a:ln xmlns:a="http://schemas.openxmlformats.org/drawingml/2006/main" w="12700">
            <a:solidFill>
              <a:srgbClr val="818CF8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83e2f54274a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82696" y="2039112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424E16E4-F9D8-4B28-AC94-D43D5F7C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" y="2697480"/>
            <a:ext cx="17556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Generate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1AE7620-5029-4D1E-864B-084A887A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" y="3127248"/>
            <a:ext cx="175564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Create focused unit tests and API documentation.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4D81AF7-DDF1-4D08-ACD9-F49CCF17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719072"/>
            <a:ext cx="1965960" cy="2606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7"/>
          </a:solidFill>
          <a:ln xmlns:a="http://schemas.openxmlformats.org/drawingml/2006/main" w="12700">
            <a:solidFill>
              <a:srgbClr val="152237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C308E628-97B7-4B68-93B5-8CC075C9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719072"/>
            <a:ext cx="54864" cy="2606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2C229738-DCA6-4658-858B-A7C08920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192024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>
              <a:alpha val="18000"/>
            </a:srgbClr>
          </a:solidFill>
          <a:ln xmlns:a="http://schemas.openxmlformats.org/drawingml/2006/main" w="12700">
            <a:solidFill>
              <a:srgbClr val="34D399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a6ee65af34e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31536" y="2039112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85CE9413-B2BE-431C-838C-0307783D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697480"/>
            <a:ext cx="17556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E7ED3717-3FFB-4EF2-91BB-E7698CD6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127248"/>
            <a:ext cx="175564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Inspect diffs for bugs, regressions, missing tests.</a:t>
            </a:r>
          </a:p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B51F64B7-669D-4C9B-885A-119B1E9B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719072"/>
            <a:ext cx="1965960" cy="2606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7"/>
          </a:solidFill>
          <a:ln xmlns:a="http://schemas.openxmlformats.org/drawingml/2006/main" w="12700">
            <a:solidFill>
              <a:srgbClr val="152237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7">
            <a:extLst xmlns:a="http://schemas.openxmlformats.org/drawingml/2006/main">
              <a:ext uri="{FF2B5EF4-FFF2-40B4-BE49-F238E27FC236}">
                <a16:creationId xmlns:a16="http://schemas.microsoft.com/office/drawing/2014/main" id="{A782D787-030E-4961-8851-64F72468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719072"/>
            <a:ext cx="54864" cy="2606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2700">
            <a:solidFill>
              <a:srgbClr val="FBBF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C955F5A9-64B8-42D9-AB03-3C0A1B11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192024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>
              <a:alpha val="18000"/>
            </a:srgbClr>
          </a:solidFill>
          <a:ln xmlns:a="http://schemas.openxmlformats.org/drawingml/2006/main" w="12700">
            <a:solidFill>
              <a:srgbClr val="FBBF24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fdc5fb98b48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0376" y="2039112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632F3938-DE57-4AA7-AB80-CCAE66DE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697480"/>
            <a:ext cx="17556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Debug</a:t>
            </a:r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F4F9C939-48BE-4E0D-A9B5-B8B90124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127248"/>
            <a:ext cx="175564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Summarize logs and propose next diagnostic checks.</a:t>
            </a:r>
          </a:p>
        </p:txBody>
      </p:sp>
      <p:sp>
        <p:nvSpPr>
          <p:cNvPr id="37" name="Shape 31">
            <a:extLst xmlns:a="http://schemas.openxmlformats.org/drawingml/2006/main">
              <a:ext uri="{FF2B5EF4-FFF2-40B4-BE49-F238E27FC236}">
                <a16:creationId xmlns:a16="http://schemas.microsoft.com/office/drawing/2014/main" id="{666F18DF-DA6B-4816-A238-9B87D52D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526280"/>
            <a:ext cx="84124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2">
            <a:extLst xmlns:a="http://schemas.openxmlformats.org/drawingml/2006/main">
              <a:ext uri="{FF2B5EF4-FFF2-40B4-BE49-F238E27FC236}">
                <a16:creationId xmlns:a16="http://schemas.microsoft.com/office/drawing/2014/main" id="{17E844D2-93CC-43CA-9939-AB2D7454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526280"/>
            <a:ext cx="6400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3">
            <a:extLst xmlns:a="http://schemas.openxmlformats.org/drawingml/2006/main">
              <a:ext uri="{FF2B5EF4-FFF2-40B4-BE49-F238E27FC236}">
                <a16:creationId xmlns:a16="http://schemas.microsoft.com/office/drawing/2014/main" id="{76E293BB-4D8F-4044-9782-698596E1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44568"/>
            <a:ext cx="8138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818CF8"/>
                </a:solidFill>
                <a:latin typeface="Georgia"/>
                <a:ea typeface="Georgia"/>
                <a:cs typeface="Georgia"/>
              </a:rPr>
              <a:t>Human review remains the gate: AI proposes, engineers verify, tests prove.</a:t>
            </a:r>
          </a:p>
        </p:txBody>
      </p:sp>
    </p:spTree>
    <p:extLst>
      <p:ext uri="{BB962C8B-B14F-4D97-AF65-F5344CB8AC3E}">
        <p14:creationId xmlns:p14="http://schemas.microsoft.com/office/powerpoint/2010/main" val="19332056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05EA316-90CF-43E8-97D6-98BA39CD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2700">
            <a:solidFill>
              <a:srgbClr val="0A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81738D9-0DDA-4AA6-9010-BD5F50AC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HOME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C14550F-CA67-4723-9D4B-1488A6C1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FOUNDATIONS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BE85104-F5F0-4C76-B199-16D125AE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DEMOS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B36953F-D7F7-4CDA-8853-469B7F80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STACK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0D0A43-28E1-4651-B035-8058F361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GOVERNANCE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A1E6E0B-31E4-412D-8289-949A20F8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ROADMAP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2CB2975-0C0F-49A7-A80B-CB964646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576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STACK  •  15 / 24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21C5591-39BE-4D6D-BBDB-A3D67C94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Software Stack Deep Dive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8643B97-C8F1-46D3-B1CD-C24CCF10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594360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505C2FA-EA7C-4B92-9D7E-3405ADFE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The workshop should prove full-stack competence, not only model familiarity.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FE5ED53-5D0C-4628-A882-E5EEEC9C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536192"/>
            <a:ext cx="41148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3B8185B-8B97-4D30-A60D-964E6AF8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536192"/>
            <a:ext cx="5029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988e6155b46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776" y="171907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CF61584-B50A-4784-827E-5DC262D1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627632"/>
            <a:ext cx="3291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Frontend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8D1A4D7-D35E-4935-997B-92720091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975104"/>
            <a:ext cx="3291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React-style UI, dashboards, chat, uploads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DB6E43A1-3424-44E7-A06F-EFB205BE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36192"/>
            <a:ext cx="41148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CC67FD9-A07B-45D3-9E9C-0084B54F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36192"/>
            <a:ext cx="5029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af960475249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45736" y="171907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D4880274-D918-49AB-BCAF-886FA41A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1627632"/>
            <a:ext cx="3291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Backend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F533F069-A3B8-4114-AB3C-B63DCE5E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1975104"/>
            <a:ext cx="3291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Typed APIs, auth, validation, background jobs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C045EA8B-E74C-4BF7-AA82-E2119299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587752"/>
            <a:ext cx="41148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B8CE7284-7BAB-4CA8-951D-2D5E076F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587752"/>
            <a:ext cx="5029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3ac5c4bef44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776" y="27706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B7627072-0591-411C-A299-641C5B87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679192"/>
            <a:ext cx="3291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Data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CCEAFC7-28B8-41B9-BC6D-5796B832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026664"/>
            <a:ext cx="3291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SQL, object storage, vector search, cache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26FD6E3D-31E3-4363-B665-EED50968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587752"/>
            <a:ext cx="41148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91FAF344-5665-4F98-AF3A-395741BF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587752"/>
            <a:ext cx="5029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2700">
            <a:solidFill>
              <a:srgbClr val="FBBF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74743924943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45736" y="27706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2D5C783B-FB84-4733-9632-B70E27EB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2679192"/>
            <a:ext cx="3291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AI / ML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994D7990-5E78-43EB-80AC-B4512D43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3026664"/>
            <a:ext cx="3291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LLMs, embeddings, vision, speech, classical ML</a:t>
            </a:r>
          </a:p>
        </p:txBody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0EC9A362-AF07-4EBE-B9B4-CFD0416E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39312"/>
            <a:ext cx="41148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28">
            <a:extLst xmlns:a="http://schemas.openxmlformats.org/drawingml/2006/main">
              <a:ext uri="{FF2B5EF4-FFF2-40B4-BE49-F238E27FC236}">
                <a16:creationId xmlns:a16="http://schemas.microsoft.com/office/drawing/2014/main" id="{3C9DB8BC-2B82-414B-9685-347B93DC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39312"/>
            <a:ext cx="5029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12700">
            <a:solidFill>
              <a:srgbClr val="F472B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9c953be8d46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776" y="382219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227A2F86-88D0-4B87-B16E-714ACD9E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730752"/>
            <a:ext cx="3291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DevOps</a:t>
            </a:r>
          </a:p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693EB498-854A-4BAF-A221-B41AF3F7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078224"/>
            <a:ext cx="3291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CI/CD, tests, containers, staged deploys</a:t>
            </a:r>
          </a:p>
        </p:txBody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64073E60-41A9-4C1B-AF6E-AF05EDDA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639312"/>
            <a:ext cx="41148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2">
            <a:extLst xmlns:a="http://schemas.openxmlformats.org/drawingml/2006/main">
              <a:ext uri="{FF2B5EF4-FFF2-40B4-BE49-F238E27FC236}">
                <a16:creationId xmlns:a16="http://schemas.microsoft.com/office/drawing/2014/main" id="{F81E3CB4-72A8-4DCA-8221-61CEE07F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639312"/>
            <a:ext cx="5029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77317363648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45736" y="382219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41" name="Text 33">
            <a:extLst xmlns:a="http://schemas.openxmlformats.org/drawingml/2006/main">
              <a:ext uri="{FF2B5EF4-FFF2-40B4-BE49-F238E27FC236}">
                <a16:creationId xmlns:a16="http://schemas.microsoft.com/office/drawing/2014/main" id="{935918C4-ADF5-486D-9215-0C1FBD07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3730752"/>
            <a:ext cx="3291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Observability</a:t>
            </a:r>
          </a:p>
        </p:txBody>
      </p:sp>
      <p:sp>
        <p:nvSpPr>
          <p:cNvPr id="42" name="Text 34">
            <a:extLst xmlns:a="http://schemas.openxmlformats.org/drawingml/2006/main">
              <a:ext uri="{FF2B5EF4-FFF2-40B4-BE49-F238E27FC236}">
                <a16:creationId xmlns:a16="http://schemas.microsoft.com/office/drawing/2014/main" id="{2EAB46C5-D160-42D4-A836-FEB9C3D2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4078224"/>
            <a:ext cx="3291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Logs, traces, metrics, cost controls</a:t>
            </a:r>
          </a:p>
        </p:txBody>
      </p:sp>
    </p:spTree>
    <p:extLst>
      <p:ext uri="{BB962C8B-B14F-4D97-AF65-F5344CB8AC3E}">
        <p14:creationId xmlns:p14="http://schemas.microsoft.com/office/powerpoint/2010/main" val="20112346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CEAEF02-490E-4DC0-ADC3-4B1CA123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2700">
            <a:solidFill>
              <a:srgbClr val="0A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56BB303-FB2F-4C62-9BAB-BE7D5492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HOME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5AF4FB1-B90E-4132-B973-0CCBDE75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FOUNDATIONS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3A8952E-42C2-4645-8A73-AE2D47F9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DEMOS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D1747CB-1C5E-45FF-9003-860EE295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STACK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4B1010-4D89-44F2-BBD1-9BFD9D51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GOVERNANCE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2D7CA5F-C34E-46E9-BE8F-795E7822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ROADMAP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8A8EAF5-DAAC-4F2F-A3C9-E73B7ECC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576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GOVERNANCE  •  16 / 24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F4B730D-8970-4954-84E0-9958A171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Evaluation &amp; Security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CCE5A9F-19B0-4675-BE2C-8E1F23DE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The mature question is not only what the model can do — it is how we know it works and keeps it safe.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E7272C8-4E15-488E-BC59-9736D9F4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12648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12700">
            <a:solidFill>
              <a:srgbClr val="F472B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312C8E5-F060-4AA1-8224-9F682BBB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00200"/>
            <a:ext cx="3840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Evaluation Methods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4217EB4-1E8C-497C-B6BA-8310EBF4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627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D8106D2-4419-4F10-BACD-70600904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121408"/>
            <a:ext cx="3383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Golden Q&amp;A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3DEA3F8-3FAB-42B2-BA60-2CD3525C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662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D059A8A-60BB-4DE9-B1A4-CDCE44E0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51760"/>
            <a:ext cx="3383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Human review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546F9CD-8C8B-43BF-9397-E2762E10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6976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A570178-6A79-4446-8260-D2E8F895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82112"/>
            <a:ext cx="3383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Schema and source checks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41AAC8D-F3D9-4FF8-96DF-9BFE5751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7328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17BB05C-4CDB-46DA-A28E-7578CE11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712464"/>
            <a:ext cx="3383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Red-team prompts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0206400-D567-467A-AE7A-109F277C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600200"/>
            <a:ext cx="4114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Responsible AI Controls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A7CAA55-4261-4166-B291-18D003AE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084832"/>
            <a:ext cx="411480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68BAEB1-DA2A-4E8B-AC5B-81842DFE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084832"/>
            <a:ext cx="36576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12700">
            <a:solidFill>
              <a:srgbClr val="F472B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CB8A98C-143C-4B7E-AB29-73C87CBB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2121408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Least privilege — 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39C78AC-751C-4B5F-B859-E9DC349A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121408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Every connector gets only the scope it needs.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1402E37-F8C0-43DD-9149-AE5A5BDC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523744"/>
            <a:ext cx="411480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12700">
            <a:solidFill>
              <a:srgbClr val="0D1B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E361536-5AD4-4FB4-AD02-08BC87B3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523744"/>
            <a:ext cx="36576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12700">
            <a:solidFill>
              <a:srgbClr val="F472B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FDD52AB-59F6-429F-89A9-6F834252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2560320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Access-aware retrieval — 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CF1A111-D8B3-4175-8C3C-9E3C3366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560320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Filter content before the model sees it.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3EDE42F-3B31-495E-A733-1DBCD3AF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962656"/>
            <a:ext cx="411480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F69733F0-3ED7-4039-B529-B9C7A09B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962656"/>
            <a:ext cx="36576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12700">
            <a:solidFill>
              <a:srgbClr val="F472B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5FE143F5-E72D-4C0D-B0F4-872948E1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2999232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Approval gates — 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EB03F8E-C6A5-4117-A660-C07B5720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999232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External writes require explicit human approval.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07FA04C3-E0B3-4BF5-B367-E8F12618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401568"/>
            <a:ext cx="411480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12700">
            <a:solidFill>
              <a:srgbClr val="0D1B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2E2AE69F-0C38-4F98-BD22-739D5CA8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401568"/>
            <a:ext cx="36576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12700">
            <a:solidFill>
              <a:srgbClr val="F472B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95242155-82AB-4E29-B67E-DB07BFDF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3438144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Audit logs — 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3A06B6C2-D479-4529-ADD1-30D313C7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438144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Store prompts, tool calls, decisions, and outcomes.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D501A0BA-9BD9-4730-8A98-6A5A3515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840480"/>
            <a:ext cx="411480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DBA0D22D-801B-423E-BD26-37342E4C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840480"/>
            <a:ext cx="36576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12700">
            <a:solidFill>
              <a:srgbClr val="F472B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48BF50AE-32DA-4F8B-A8C8-464AEFAC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3877056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Prompt injection defense — 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A330080F-3DAE-4FC0-9E0A-C0C0D08F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877056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Retrieved text cannot override system/tool rules.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4C68E05C-D8E0-422C-B96B-B66EB4E7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279392"/>
            <a:ext cx="411480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12700">
            <a:solidFill>
              <a:srgbClr val="0D1B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1748FB29-D8C8-4690-9ADA-29E3FCF6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279392"/>
            <a:ext cx="36576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12700">
            <a:solidFill>
              <a:srgbClr val="F472B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D4B09988-5B0A-41F4-8AC7-7EDD87DF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4315968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Cost controls — </a:t>
            </a:r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19BC2415-72A1-4B98-AD39-5D6A8900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315968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Rate limits, quotas, caching, and model routing.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B72E5C3F-CF0F-4514-A5F1-D60AA77E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554480"/>
            <a:ext cx="4572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3587138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BA1B611-ADC3-49BA-84A3-359625FB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2700">
            <a:solidFill>
              <a:srgbClr val="0A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5D3503D-8ABF-46E7-B8CE-7812CA26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HOME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717075C-F10F-4294-84BB-E69B2802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FOUNDATIONS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8B98D49-7819-41A8-8163-17CB4770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DEMOS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7E1DC99-55AA-4EE8-B003-5DFD907C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STACK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EF8D7C5-DCD9-45CD-BCF9-C8C7FEA9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GOVERNANCE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2BD3143-7D14-4097-AC27-93CF0268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ROADMAP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0FD83B1-06EF-4438-8767-A7618227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576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ROADMAP  •  17 / 24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9EF3991-C5FB-4B70-8901-1EF98311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Prep Timeline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FFAF359-2F21-4890-95DB-4EAF94D7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594360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3ED8169-CB8E-474A-9DBC-FA37D21E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From Wednesday, April 22, 2026 to Workshop Day on Tuesday, April 28, 2026.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4FC2337-81FD-46BC-A6F9-DEDD5C28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12848"/>
            <a:ext cx="786384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316EF23-28DE-4566-8B9E-D6A2BB74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208483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6724316-EE99-47C9-9D7F-52014BCB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1664208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Apr 22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A685073-0063-4BB0-BD9C-AA17C84A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2514600"/>
            <a:ext cx="1097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Build story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0A80D85-3E69-4714-99B4-B9352C05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8483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4BADAE0-F4CD-4FDD-942A-D2D1B373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1664208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818CF8"/>
                </a:solidFill>
                <a:latin typeface="Calibri"/>
                <a:ea typeface="Calibri"/>
                <a:cs typeface="Calibri"/>
              </a:rPr>
              <a:t>Apr 23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7D3A990-D477-4AEE-BB8E-4639D3EA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2514600"/>
            <a:ext cx="1097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Polish demos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ED66D8E-18E3-4A13-ADFD-0858EF43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168" y="208483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158424A-DD56-4312-81A8-19F2EDBC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1664208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Apr 24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0EEAAE5-3FD7-4E2B-811A-37DA6ABB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976" y="2514600"/>
            <a:ext cx="1097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Slides + visuals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9C4907A-25F4-4ACD-BABD-FCC3819C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208483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2700">
            <a:solidFill>
              <a:srgbClr val="FBBF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A90E248-4767-4650-B335-65D4E49F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664208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Apr 25–26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C313AED-2537-4DC1-B58D-60406556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2514600"/>
            <a:ext cx="1097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Record backups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C23B42F-7E02-40D5-9D8B-7B96E113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208483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12700">
            <a:solidFill>
              <a:srgbClr val="F472B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76022F5-B9DA-4400-935A-2B5B56A3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664208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472B6"/>
                </a:solidFill>
                <a:latin typeface="Calibri"/>
                <a:ea typeface="Calibri"/>
                <a:cs typeface="Calibri"/>
              </a:rPr>
              <a:t>Apr 27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0CE9E8D-3BC9-4225-A164-72BE561B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514600"/>
            <a:ext cx="1097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Full rehearsal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891B838-CEB8-47C4-91E9-E57005B1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8483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8187F30-CCB3-460A-8264-AB90A1D9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64208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Apr 28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1D1CAEC-D54E-4270-881C-F810DD5B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514600"/>
            <a:ext cx="1097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Workshop Day! 🎉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529B17BA-7A4A-4B59-A615-A33D56B2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246120"/>
            <a:ext cx="8412480" cy="1572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10FFEA68-78CA-4482-AA2E-DF6219D4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246120"/>
            <a:ext cx="50292" cy="1572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2FB9F46-1BB4-48C6-BECD-DA92470D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Rehearsal Checklist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FB5EBA64-7490-40E0-A839-74265128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30752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>
              <a:alpha val="15000"/>
            </a:srgbClr>
          </a:solidFill>
          <a:ln xmlns:a="http://schemas.openxmlformats.org/drawingml/2006/main" w="12700">
            <a:solidFill>
              <a:srgbClr val="34D399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83759C0E-255B-4541-AE50-68799EFB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730752"/>
            <a:ext cx="2286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Network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EC2D8D9F-1946-4C2E-832A-695D52CE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3730752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>
              <a:alpha val="15000"/>
            </a:srgbClr>
          </a:solidFill>
          <a:ln xmlns:a="http://schemas.openxmlformats.org/drawingml/2006/main" w="12700">
            <a:solidFill>
              <a:srgbClr val="34D399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2CFD05AE-4AE8-4C45-8D41-26BFC59A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3730752"/>
            <a:ext cx="2286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Display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7D08A30-5229-40A7-855B-37699EA3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420624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>
              <a:alpha val="15000"/>
            </a:srgbClr>
          </a:solidFill>
          <a:ln xmlns:a="http://schemas.openxmlformats.org/drawingml/2006/main" w="12700">
            <a:solidFill>
              <a:srgbClr val="34D399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AAE583F3-DF75-400B-80D8-B59A19AC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206240"/>
            <a:ext cx="2286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Mock mode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6E2E142E-6FC1-40C7-B2EE-EF8E745F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>
              <a:alpha val="15000"/>
            </a:srgbClr>
          </a:solidFill>
          <a:ln xmlns:a="http://schemas.openxmlformats.org/drawingml/2006/main" w="12700">
            <a:solidFill>
              <a:srgbClr val="34D399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11C60C5A-4364-4476-AB89-D48BF548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206240"/>
            <a:ext cx="2286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Local data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654DB444-6A69-482E-9B30-7A074057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4681728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>
              <a:alpha val="15000"/>
            </a:srgbClr>
          </a:solidFill>
          <a:ln xmlns:a="http://schemas.openxmlformats.org/drawingml/2006/main" w="12700">
            <a:solidFill>
              <a:srgbClr val="34D399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A91EE649-4F5F-4E90-B975-5613F283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4681728"/>
            <a:ext cx="2286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Backup videos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383DD50D-0A3F-433D-8FC3-37AF4624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4681728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>
              <a:alpha val="15000"/>
            </a:srgbClr>
          </a:solidFill>
          <a:ln xmlns:a="http://schemas.openxmlformats.org/drawingml/2006/main" w="12700">
            <a:solidFill>
              <a:srgbClr val="34D399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B196F4A5-9D69-4FB2-8A06-097AAE0C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681728"/>
            <a:ext cx="2286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Tabs and commands</a:t>
            </a:r>
          </a:p>
        </p:txBody>
      </p:sp>
    </p:spTree>
    <p:extLst>
      <p:ext uri="{BB962C8B-B14F-4D97-AF65-F5344CB8AC3E}">
        <p14:creationId xmlns:p14="http://schemas.microsoft.com/office/powerpoint/2010/main" val="15086211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6FC5822-BFD7-4A57-88E0-FC52BF7B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2700">
            <a:solidFill>
              <a:srgbClr val="0A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25C0C5D-7471-404A-8CAB-E80839D4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HOME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370F15D-A15F-4234-87A5-759775F7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FOUNDATIONS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612E2BB-32E6-4189-8C1D-1DC8CBB3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DEMOS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C7673DB-6018-40E4-A40D-F66DED35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STACK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D4A5D71-018A-49E3-A891-B0942A0F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GOVERNANCE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BB21305-9D20-4667-8866-B8527738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ROADMAP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C0D9469-2975-489C-8FA2-8BD35338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576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ROADMAP  •  18 / 24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EF7A897-6304-4BFA-802E-5E664A2E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30-60-90 Roadmap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D0B2AD1-0E79-4169-AEC8-B790F181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Turn the workshop energy into pilots, integrations, governance, and measurable production value.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D3838A3-F1AA-4118-8CA0-D725AD34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12648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9A6853E-35C9-4882-81F4-54143118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64208"/>
            <a:ext cx="2697480" cy="3063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A4E5433-CED3-4478-BFAB-8504252D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64208"/>
            <a:ext cx="2697480" cy="59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ea078b4a649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84708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7F6FDC1-5702-499E-B2EF-10794D27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3080"/>
            <a:ext cx="1783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30 days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9F0D19B-92A6-4209-A4C4-9C56AE2F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8256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Explore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A18DE521-FA4B-44DE-8D5D-230E034D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C0740EE-273C-45BF-AF9B-15222870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578608"/>
            <a:ext cx="21031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Select use cases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1069BC58-484A-4E51-9629-D83FB5AC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6382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B3BA6BA-016F-4A64-94B6-EB7F73C9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090672"/>
            <a:ext cx="21031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Define success metrics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EC81493-B950-4F8B-925D-E47000A9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67588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853D7D6-7F14-4488-9181-64B7A02C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602736"/>
            <a:ext cx="21031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Build bounded prototypes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FFB8C107-8EAE-4DBE-B128-DCADB507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664208"/>
            <a:ext cx="2697480" cy="3063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6D9821FE-415E-4C12-92D4-8D75942B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664208"/>
            <a:ext cx="2697480" cy="59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b3d47279047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7288" y="184708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5A4D90F1-DA02-44E8-AB1D-4556B62B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783080"/>
            <a:ext cx="1783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818CF8"/>
                </a:solidFill>
                <a:latin typeface="Calibri"/>
                <a:ea typeface="Calibri"/>
                <a:cs typeface="Calibri"/>
              </a:rPr>
              <a:t>60 days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93308AE-FD7B-405D-947A-ECC73E33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2048256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Pilot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9DE5891F-21BD-4570-8624-A6D70FC0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65176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751765C8-C472-4F35-92B4-5FAA52E5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2578608"/>
            <a:ext cx="21031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Pilot with users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EEAD2075-19D3-4A6B-B31A-CC848EB8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16382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1682D8E7-1C31-4AA6-A9AA-57BAE2FA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3090672"/>
            <a:ext cx="21031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Connect APIs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15BC5202-5F10-453E-8F67-27F87FF2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67588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5C7FF6A8-6E7F-4881-85C6-94465345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3602736"/>
            <a:ext cx="21031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Create evaluation sets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801471EE-163B-4E1C-95D6-CB9FDE8D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18795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F178D88B-71BE-49A5-BCF8-0B46FD76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4114800"/>
            <a:ext cx="21031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Review security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B8B07DF8-93B8-4103-9C8E-D11C2374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664208"/>
            <a:ext cx="2697480" cy="3063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EEF0113E-B02D-4834-AFBD-13B6BD26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664208"/>
            <a:ext cx="2697480" cy="59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b7e0850cd4e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7648" y="1847088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40" name="Text 35">
            <a:extLst xmlns:a="http://schemas.openxmlformats.org/drawingml/2006/main">
              <a:ext uri="{FF2B5EF4-FFF2-40B4-BE49-F238E27FC236}">
                <a16:creationId xmlns:a16="http://schemas.microsoft.com/office/drawing/2014/main" id="{246F11E3-4144-4FC1-B660-F64EA029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783080"/>
            <a:ext cx="1783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90 days</a:t>
            </a:r>
          </a:p>
        </p:txBody>
      </p:sp>
      <p:sp>
        <p:nvSpPr>
          <p:cNvPr id="41" name="Text 36">
            <a:extLst xmlns:a="http://schemas.openxmlformats.org/drawingml/2006/main">
              <a:ext uri="{FF2B5EF4-FFF2-40B4-BE49-F238E27FC236}">
                <a16:creationId xmlns:a16="http://schemas.microsoft.com/office/drawing/2014/main" id="{58369946-CEE5-4715-8969-06EEF0D7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048256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Produce</a:t>
            </a:r>
          </a:p>
        </p:txBody>
      </p:sp>
      <p:sp>
        <p:nvSpPr>
          <p:cNvPr id="42" name="Shape 37">
            <a:extLst xmlns:a="http://schemas.openxmlformats.org/drawingml/2006/main">
              <a:ext uri="{FF2B5EF4-FFF2-40B4-BE49-F238E27FC236}">
                <a16:creationId xmlns:a16="http://schemas.microsoft.com/office/drawing/2014/main" id="{89A7D895-BB63-4BF0-AB71-D81BD887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65176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38">
            <a:extLst xmlns:a="http://schemas.openxmlformats.org/drawingml/2006/main">
              <a:ext uri="{FF2B5EF4-FFF2-40B4-BE49-F238E27FC236}">
                <a16:creationId xmlns:a16="http://schemas.microsoft.com/office/drawing/2014/main" id="{A1264A97-79B0-43B2-84C1-EF59DA26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578608"/>
            <a:ext cx="21031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Productionize winners</a:t>
            </a:r>
          </a:p>
        </p:txBody>
      </p:sp>
      <p:sp>
        <p:nvSpPr>
          <p:cNvPr id="44" name="Shape 39">
            <a:extLst xmlns:a="http://schemas.openxmlformats.org/drawingml/2006/main">
              <a:ext uri="{FF2B5EF4-FFF2-40B4-BE49-F238E27FC236}">
                <a16:creationId xmlns:a16="http://schemas.microsoft.com/office/drawing/2014/main" id="{89BED5D2-947F-4942-974B-69F77A41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16382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 40">
            <a:extLst xmlns:a="http://schemas.openxmlformats.org/drawingml/2006/main">
              <a:ext uri="{FF2B5EF4-FFF2-40B4-BE49-F238E27FC236}">
                <a16:creationId xmlns:a16="http://schemas.microsoft.com/office/drawing/2014/main" id="{B0EC016A-9E84-4C82-BB7F-6C003966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3090672"/>
            <a:ext cx="21031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Monitor quality/cost</a:t>
            </a:r>
          </a:p>
        </p:txBody>
      </p:sp>
      <p:sp>
        <p:nvSpPr>
          <p:cNvPr id="46" name="Shape 41">
            <a:extLst xmlns:a="http://schemas.openxmlformats.org/drawingml/2006/main">
              <a:ext uri="{FF2B5EF4-FFF2-40B4-BE49-F238E27FC236}">
                <a16:creationId xmlns:a16="http://schemas.microsoft.com/office/drawing/2014/main" id="{53C4E805-D42B-4EA0-B968-07E48BF2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67588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2">
            <a:extLst xmlns:a="http://schemas.openxmlformats.org/drawingml/2006/main">
              <a:ext uri="{FF2B5EF4-FFF2-40B4-BE49-F238E27FC236}">
                <a16:creationId xmlns:a16="http://schemas.microsoft.com/office/drawing/2014/main" id="{8E978682-DD01-412E-ACEB-2E31AA4A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3602736"/>
            <a:ext cx="21031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Create reusable AI platform patterns</a:t>
            </a:r>
          </a:p>
        </p:txBody>
      </p:sp>
    </p:spTree>
    <p:extLst>
      <p:ext uri="{BB962C8B-B14F-4D97-AF65-F5344CB8AC3E}">
        <p14:creationId xmlns:p14="http://schemas.microsoft.com/office/powerpoint/2010/main" val="17435328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839AC6C-284B-4E7E-BCB3-A279788F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926080"/>
            <a:ext cx="3474720" cy="3474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>
              <a:alpha val="6000"/>
            </a:srgbClr>
          </a:solidFill>
          <a:ln xmlns:a="http://schemas.openxmlformats.org/drawingml/2006/main" w="12700">
            <a:solidFill>
              <a:srgbClr val="38BDF8">
                <a:alpha val="1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DD807BD-34BF-4EC0-91CC-8D88B15D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97280" y="-731520"/>
            <a:ext cx="3200400" cy="3200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8CF8">
              <a:alpha val="8000"/>
            </a:srgbClr>
          </a:solidFill>
          <a:ln xmlns:a="http://schemas.openxmlformats.org/drawingml/2006/main" w="12700">
            <a:solidFill>
              <a:srgbClr val="818CF8">
                <a:alpha val="1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415141E-4E1A-4091-8487-90B3B6A1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-457200"/>
            <a:ext cx="1828800" cy="182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>
              <a:alpha val="6000"/>
            </a:srgbClr>
          </a:solidFill>
          <a:ln xmlns:a="http://schemas.openxmlformats.org/drawingml/2006/main" w="12700">
            <a:solidFill>
              <a:srgbClr val="34D399">
                <a:alpha val="1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A88798A-65C7-4CF7-B050-F41BCA44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12700">
            <a:solidFill>
              <a:srgbClr val="0A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016D1BD-45A4-43B7-A4B2-A9428E90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HOME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AE557D0-DD6F-4F1F-BF72-74D2BDF1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FOUNDATIONS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A77B72E-0CE8-4F0E-A9DA-AAD52150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DEMOS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73C1C2D-FADE-4B72-81B7-3CE005FC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STACK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075DD19-2B15-409B-B9E1-8D294E76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GOVERNANCE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0938FE-BCE9-42D3-AAF5-BC6FACCA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657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ROADMAP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F272705-4BEC-49ED-A4A5-2C5DB212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576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Q&amp;A  •  19 / 24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B71A5D4-D6CD-4AA1-A70A-694E6CD6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8229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Q&amp;A and Closing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2A67F79-6EA3-40D4-B71E-CD54EEFC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583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1EBE0C3-1121-42EA-8371-961898AE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298448"/>
            <a:ext cx="84124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6350">
            <a:solidFill>
              <a:srgbClr val="38BDF8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3D2E6CB-BDFA-41FF-9691-DD9C845B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298448"/>
            <a:ext cx="64008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A53C9CB-B8A1-47E4-AE01-EB2392C4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53312"/>
            <a:ext cx="804672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E2E8F0"/>
                </a:solidFill>
                <a:latin typeface="Georgia"/>
                <a:ea typeface="Georgia"/>
                <a:cs typeface="Georgia"/>
              </a:rPr>
              <a:t>"The advantage is not access to models. The advantage is knowing how to turn models into reliable capability."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70495F3-E81A-46C5-A19C-33340B27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212848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FF65129-FA7A-4079-B1A5-B8BB971F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212848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12700">
            <a:solidFill>
              <a:srgbClr val="38B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6cce1a1e94d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776" y="2395728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D34EA01-38E1-4052-BB56-1E7BC735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340864"/>
            <a:ext cx="2011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How do we prevent hallucinations?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4F54634-3527-4723-B021-75F5808B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212848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9082A6F3-67D5-4C4E-86B5-4A50E633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212848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12700">
            <a:solidFill>
              <a:srgbClr val="818C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1409845ed4b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74136" y="2395728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5F8D4FA-2900-42E6-9C9F-32A3EC58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48" y="2340864"/>
            <a:ext cx="2011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Which workflows should be productionized first?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E5D5FB0-6AAB-471D-987F-FAE0F0E0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212848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37053069-9C79-4B1E-BDAB-CE470BBF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212848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2700">
            <a:solidFill>
              <a:srgbClr val="34D3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cfdff64304c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54496" y="2395728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3ED16D8E-4F74-451A-948D-5BF67070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2340864"/>
            <a:ext cx="2011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How do we connect AI safely to APIs?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17264599-1D97-4D25-AF4F-E1473CA8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172968"/>
            <a:ext cx="43434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7E3881C9-62A2-40A3-A2EF-00A46292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172968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2700">
            <a:solidFill>
              <a:srgbClr val="FBBF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9a4e852b047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776" y="3355848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F7A83FF1-4B36-4FF5-9829-B673B6E3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00984"/>
            <a:ext cx="2011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How do we measure quality and cost?</a:t>
            </a:r>
          </a:p>
        </p:txBody>
      </p:sp>
      <p:sp>
        <p:nvSpPr>
          <p:cNvPr id="34" name="Shape 28">
            <a:extLst xmlns:a="http://schemas.openxmlformats.org/drawingml/2006/main">
              <a:ext uri="{FF2B5EF4-FFF2-40B4-BE49-F238E27FC236}">
                <a16:creationId xmlns:a16="http://schemas.microsoft.com/office/drawing/2014/main" id="{1ED00579-779C-44F4-A110-414ED82A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172968"/>
            <a:ext cx="43434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F4A"/>
          </a:solidFill>
          <a:ln xmlns:a="http://schemas.openxmlformats.org/drawingml/2006/main" w="12700">
            <a:solidFill>
              <a:srgbClr val="1A2F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29">
            <a:extLst xmlns:a="http://schemas.openxmlformats.org/drawingml/2006/main">
              <a:ext uri="{FF2B5EF4-FFF2-40B4-BE49-F238E27FC236}">
                <a16:creationId xmlns:a16="http://schemas.microsoft.com/office/drawing/2014/main" id="{0FBE8EAF-E878-402F-A883-0E2AB08B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172968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12700">
            <a:solidFill>
              <a:srgbClr val="F472B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9ac6484534b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74136" y="3355848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882FDE48-3DFE-490A-8486-32F7BF7B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48" y="3300984"/>
            <a:ext cx="2011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What data and governance are required?</a:t>
            </a:r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6E8C9FC6-D48E-442C-99AE-32A4109E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681728"/>
            <a:ext cx="8412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Models are powerful. Reliable AI capability comes from the system around them.</a:t>
            </a:r>
          </a:p>
        </p:txBody>
      </p:sp>
    </p:spTree>
    <p:extLst>
      <p:ext uri="{BB962C8B-B14F-4D97-AF65-F5344CB8AC3E}">
        <p14:creationId xmlns:p14="http://schemas.microsoft.com/office/powerpoint/2010/main" val="14208163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EAA4BA-B22A-4E44-8928-0533E121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2500" y="-114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21E72-45A3-438B-9D58-1AF88564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4762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27202-7390-4645-A99E-C13CF90A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6670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278D5-45A4-4FBC-B027-E372FC7D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33375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HOME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94743-6FED-49C3-9068-AF2735C1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66700"/>
            <a:ext cx="12096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D590C-2702-42E4-9F40-74F6A1CA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33375"/>
            <a:ext cx="10191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FOUNDATIONS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82287-25ED-4913-8E19-C5DD0544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525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3E4BB-5377-411E-ACE8-043B1087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1775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DEMOS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6D986-82CF-435B-8D04-D71ADF97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85A43-8B57-4B54-9D38-F7AEDE7C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STACK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B9D04-1476-421F-8B36-DE3B8BFB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675" y="26670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40D90-9BEE-4017-BB49-F054C8B9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2925" y="3333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C99C2A-A863-430B-A8F0-E2840E10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266700"/>
            <a:ext cx="8667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F78420-F10F-4BCA-A9C0-39EAB047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333375"/>
            <a:ext cx="6762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ROADMAP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4BEDF-EA1C-4A0D-B3D3-A12A91EE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266700"/>
            <a:ext cx="1200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D983A-97DD-411E-B804-3E849F8D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333375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</a:defRPr>
            </a:pPr>
            <a:r>
              <a:rPr sz="713" b="1">
                <a:solidFill>
                  <a:srgbClr val="FFFFFF"/>
                </a:solidFill>
              </a:rPr>
              <a:t>PROJECT 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3E38E-C49C-456A-8FBC-A216AE55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29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PROJECT MAP  -  19 / 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83F31-4315-4EEB-9EBF-AA886CA6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0769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A1B078-919B-449E-A44D-1025A556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781050"/>
            <a:ext cx="923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Project Mapping Overview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FD6439-30DD-43AC-9926-BF796597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525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1"/>
                </a:solidFill>
              </a:defRPr>
            </a:pPr>
            <a:r>
              <a:rPr sz="1200" b="0">
                <a:solidFill>
                  <a:srgbClr val="243041"/>
                </a:solidFill>
              </a:rPr>
              <a:t>Use this section to convert the workshop from a generic AI talk into proof from our own software work.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636712-B714-4414-BA54-15733313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076450"/>
            <a:ext cx="333375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FB6A7C-303D-47F4-9B6B-D49B4799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0764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B70283-93EF-4F75-8AE3-AE2154E0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343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Axiom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ED7737-0EAD-4ACA-9A69-3D17C7A4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6479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64748B"/>
                </a:solidFill>
              </a:defRPr>
            </a:pPr>
            <a:r>
              <a:rPr sz="960" b="1">
                <a:solidFill>
                  <a:srgbClr val="64748B"/>
                </a:solidFill>
              </a:rPr>
              <a:t>Procurement intelligence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90890E-8EC8-4DD8-B749-BE9A2E59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105150"/>
            <a:ext cx="2819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- Agents, supplier risk, demand forecast</a:t>
            </a:r>
          </a:p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- Invoice OCR, SAP/API route, audit export</a:t>
            </a:r>
          </a:p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- Next.js, Postgres, Redis queues, Azure stack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2A45E4-0E83-405C-9E26-D25D6E09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32435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F820B6-7C03-442C-A0AD-D1940EE6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400550"/>
            <a:ext cx="971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business AI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53B90D-85AD-4258-9EEF-4FB195F3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9800" y="432435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3E7484-5607-4602-B643-B03F476B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4400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demo proof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D44C15-A70D-4613-93AA-E8E9479A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076450"/>
            <a:ext cx="333375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262721-415B-4EBD-8A60-DCA329DA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0764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8AC0AD-F6FF-4B74-8A1E-52C0EF1C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2343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A37F"/>
                </a:solidFill>
              </a:defRPr>
            </a:pPr>
            <a:r>
              <a:rPr sz="1575" b="1">
                <a:solidFill>
                  <a:srgbClr val="10A37F"/>
                </a:solidFill>
              </a:rPr>
              <a:t>Mastiff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9C4CC4-993C-43AC-9D65-6F753392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26479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64748B"/>
                </a:solidFill>
              </a:defRPr>
            </a:pPr>
            <a:r>
              <a:rPr sz="960" b="1">
                <a:solidFill>
                  <a:srgbClr val="64748B"/>
                </a:solidFill>
              </a:rPr>
              <a:t>Conversational data analyst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2EEAE9-A7F5-4651-A3D1-47A05180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3105150"/>
            <a:ext cx="2819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- CSV/Excel/JSON/Parquet ingestion</a:t>
            </a:r>
          </a:p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- LLM-to-Python sandbox execution</a:t>
            </a:r>
          </a:p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- Charts, report export, sessions, connectors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D21CB9-DD5F-4DF7-B5ED-6ED45C9C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432435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AA9295-297C-4F1B-9125-47633308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4400550"/>
            <a:ext cx="971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data AI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3EAE27-004E-4CF6-BF31-3919EC33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4550" y="432435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801EF7-7AC0-4AA3-9FB1-68FE5FD4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8850" y="4400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demo proof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7350CC-917A-47EB-8EA5-665DFC5F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076450"/>
            <a:ext cx="333375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39B247-5ECC-4348-ACC0-12F141A1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0764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D69E2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0E30DA-B244-4A56-B043-50C213EB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2343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9E2E"/>
                </a:solidFill>
              </a:defRPr>
            </a:pPr>
            <a:r>
              <a:rPr sz="1575" b="1">
                <a:solidFill>
                  <a:srgbClr val="D69E2E"/>
                </a:solidFill>
              </a:rPr>
              <a:t>OEE Box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5DC484-990B-4AA2-8A6B-C8C9A75A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26479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64748B"/>
                </a:solidFill>
              </a:defRPr>
            </a:pPr>
            <a:r>
              <a:rPr sz="960" b="1">
                <a:solidFill>
                  <a:srgbClr val="64748B"/>
                </a:solidFill>
              </a:rPr>
              <a:t>Industrial edge AI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55965E-53F6-4284-A69B-A293ABB3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3105150"/>
            <a:ext cx="2819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- MQTT, Modbus, OPC-UA machine data</a:t>
            </a:r>
          </a:p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- Local RAG, schema inference, trust score</a:t>
            </a:r>
          </a:p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- RL shadow agent and command gatekeeper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471336-B669-4CAE-B8C4-DA8CE7E4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432435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75DB50-8FD8-4646-BC7E-E0EE1569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0100" y="4400550"/>
            <a:ext cx="971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edge AI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12A268-52A1-4063-B49D-1B55C0B2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9300" y="432435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E89BFF1-4D50-47D9-8BE9-26DC6584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4400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demo proof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7835DE-7F92-4DDE-A551-4FCA50AE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5353050"/>
            <a:ext cx="8001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E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855BB1-3F6E-48CB-A2CB-0929843F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5353050"/>
            <a:ext cx="8001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99CD1F-89BE-4E03-807C-F231D442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5543550"/>
            <a:ext cx="765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37F"/>
                </a:solidFill>
              </a:defRPr>
            </a:pPr>
            <a:r>
              <a:rPr sz="975" b="1">
                <a:solidFill>
                  <a:srgbClr val="10A37F"/>
                </a:solidFill>
              </a:rPr>
              <a:t>Talk track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3311BB9-28D0-468D-93C2-E2D72AFE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5867400"/>
            <a:ext cx="7658100" cy="-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43041"/>
                </a:solidFill>
              </a:defRPr>
            </a:pPr>
            <a:r>
              <a:rPr sz="885" b="0">
                <a:solidFill>
                  <a:srgbClr val="243041"/>
                </a:solidFill>
              </a:rPr>
              <a:t>The workshop pillars are not theoretical: these projects cover business agents, data analysis, retrieval, predictive ML, edge telemetry, APIs, jobs, storage, security controls, and live software delivery.</a:t>
            </a:r>
          </a:p>
        </p:txBody>
      </p:sp>
    </p:spTree>
    <p:extLst>
      <p:ext uri="{BB962C8B-B14F-4D97-AF65-F5344CB8AC3E}">
        <p14:creationId xmlns:p14="http://schemas.microsoft.com/office/powerpoint/2010/main" val="1656413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AC5540-8D89-4F7D-9F8A-C1BD9C2E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2500" y="-114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95BF1-16AF-4402-BECA-D6F5741C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4762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34227-CFF2-410A-8C66-084A460F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6670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A490D-C7BA-4076-82C0-28F417F2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33375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HOME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C9DD1-6D4B-4C0D-B1A3-D7E67C81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66700"/>
            <a:ext cx="12096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06C22-EC10-41D3-9136-DAEA7A4B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33375"/>
            <a:ext cx="10191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FOUNDATIONS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D5B07-ACB5-4185-B470-F4778112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525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91235-59C0-4DCD-B07B-90F7B228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1775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DEMOS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56864-D051-40A2-8E46-8742128F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BA4CE-0554-4BBF-A97D-4D800464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STACK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0E5DC-C72D-4ECC-8219-CAFF362B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675" y="26670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30399-ED1D-4E48-AE1B-B5F3D3B7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2925" y="3333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088C0F-3F02-44CA-8D70-915824F8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266700"/>
            <a:ext cx="8667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36271-10B9-40A3-B601-9BDFF6FB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333375"/>
            <a:ext cx="6762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ROADMAP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1DD7B-A4B5-42A2-BD31-10CCE2FF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266700"/>
            <a:ext cx="1200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7DA470-04ED-44EF-849F-4D598F46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333375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</a:defRPr>
            </a:pPr>
            <a:r>
              <a:rPr sz="713" b="1">
                <a:solidFill>
                  <a:srgbClr val="FFFFFF"/>
                </a:solidFill>
              </a:rPr>
              <a:t>PROJECT 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70650-53BC-4CF9-9330-5750A729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29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PROJECT MAP  -  20 / 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F2DB1C-7952-49EE-AFB5-DC429EEB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0769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39342B-22E1-4B12-AFDF-4024DDB0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7810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Axiom: Procurement Intelligence Proof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331E4F-57BE-4721-AA6D-55A31457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525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1"/>
                </a:solidFill>
              </a:defRPr>
            </a:pPr>
            <a:r>
              <a:rPr sz="1200" b="0">
                <a:solidFill>
                  <a:srgbClr val="243041"/>
                </a:solidFill>
              </a:rPr>
              <a:t>Maps to business AI, agentic workflows, document intelligence, API integration, cloud architecture, and engineering maturity.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6A8FA-01A1-4373-8A65-1427882F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076450"/>
            <a:ext cx="32766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4D8084-F0FA-4A9F-9C3A-1DF70B35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209800"/>
            <a:ext cx="2457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690E28-011B-4372-9C25-27AE1603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276475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Implemented product surface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E6A95-8960-4202-86C3-4F898229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628900"/>
            <a:ext cx="29337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Dashboards for orders, RFQs, suppliers, spend analytics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Supplier risk scoring and operational intelligence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Admin/user management, support tickets, exports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Procurement workflows with structured review surfaces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8C6A92-74E3-4005-A8FB-399777E0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2076450"/>
            <a:ext cx="32766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634E9F-A197-452D-B396-FE691A32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2209800"/>
            <a:ext cx="2152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B5B9B6-48C7-4382-A655-EF3A4AE5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227647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AI and automation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6B0357-0D25-4551-8198-B115FFF2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2628900"/>
            <a:ext cx="29337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Agent registry and orchestrator with typed inputs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Demand forecasting, fraud detection, payment optimizer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Contract clause analyzer and negotiation autopilot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Smart approval routing and bottleneck prediction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AE4F66-F8DE-499E-9D6C-F55543CD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2076450"/>
            <a:ext cx="32766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3C70B1-7843-4120-A51E-DACD5E10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2209800"/>
            <a:ext cx="2305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7BBF60-2B8F-459C-BF42-CC94B3DE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6300" y="227647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Production software 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316B41-792C-406F-9E35-F7855380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0100" y="2628900"/>
            <a:ext cx="29337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Next.js, React, Drizzle ORM, PostgreSQL, NextAuth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Google Generative AI, Azure Blob, Redis, BullMQ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Zod validation, telemetry, rate limiting, audit exports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Smoke, unit, and integration tests for release safety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2C825D-EFFE-47F9-98D6-9B5DC3A1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4629150"/>
            <a:ext cx="1600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043357-5324-4C97-B0F5-24367720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800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24E79E-2E2A-4C31-81F1-EF770301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4781550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563EB"/>
                </a:solidFill>
              </a:defRPr>
            </a:pPr>
            <a:r>
              <a:rPr sz="1013" b="1">
                <a:solidFill>
                  <a:srgbClr val="2563EB"/>
                </a:solidFill>
              </a:rPr>
              <a:t>UX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276084-B735-4ED3-AB99-3BFDBC07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51244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Dashboards, chat, admin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C7E42E-8FA4-430A-B816-3EA9075E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4953000"/>
            <a:ext cx="495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555E6C-8753-4638-B5D5-DFC4DE44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0375" y="4629150"/>
            <a:ext cx="1600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54CCC4-32AC-4DB0-A4FD-A4F07FE6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4800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B656EE-32F0-4CD5-9750-AF94DDA4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5675" y="4781550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37F"/>
                </a:solidFill>
              </a:defRPr>
            </a:pPr>
            <a:r>
              <a:rPr sz="1013" b="1">
                <a:solidFill>
                  <a:srgbClr val="10A37F"/>
                </a:solidFill>
              </a:rPr>
              <a:t>API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23BC1E-FE93-477C-927A-091B7B0C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1825" y="51244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Routes, auth, validation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18688C-11D8-4BEE-85D9-41BB815A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575" y="4953000"/>
            <a:ext cx="495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3E30A4-36CD-4484-A471-22E5E64B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4629150"/>
            <a:ext cx="1600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94DC85-F4DD-4C41-8287-65D9D1B9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4800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F437C8-1F6B-43EF-A744-FA4EE72A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4781550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7C3AED"/>
                </a:solidFill>
              </a:defRPr>
            </a:pPr>
            <a:r>
              <a:rPr sz="1013" b="1">
                <a:solidFill>
                  <a:srgbClr val="7C3AED"/>
                </a:solidFill>
              </a:rPr>
              <a:t>Agents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AB118E-87D5-418E-AA38-8F901922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200" y="51244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Planner and tools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80F1E7-FABF-460B-80E2-630ED727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4953000"/>
            <a:ext cx="495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867AE6C-5646-4602-830D-70ED487C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4629150"/>
            <a:ext cx="1600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19F63FA-8692-4C93-B8F7-7E120749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0475" y="4800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D69E2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2DCC78-E439-48E5-BA25-4DC30FE7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25" y="4781550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69E2E"/>
                </a:solidFill>
              </a:defRPr>
            </a:pPr>
            <a:r>
              <a:rPr sz="1013" b="1">
                <a:solidFill>
                  <a:srgbClr val="D69E2E"/>
                </a:solidFill>
              </a:rPr>
              <a:t>Data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A702D6-1B07-4D93-8AF1-02DAA58D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575" y="51244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Postgres, Blob, Redis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89113C-0B60-4979-B21E-6FBBD506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7325" y="4953000"/>
            <a:ext cx="495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04097D-AA86-4F8D-85A8-46760527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0" y="4629150"/>
            <a:ext cx="1600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954B6E-64AC-4D3E-A362-7B2ACA33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4800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8FD7BF-603E-42BB-A0D0-B27CE7B7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0800" y="4781550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E76F51"/>
                </a:solidFill>
              </a:defRPr>
            </a:pPr>
            <a:r>
              <a:rPr sz="1013" b="1">
                <a:solidFill>
                  <a:srgbClr val="E76F51"/>
                </a:solidFill>
              </a:rPr>
              <a:t>Ops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756BF06-6986-4745-A458-A7E82F21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6950" y="51244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Jobs, audit, telemetry</a:t>
            </a:r>
          </a:p>
        </p:txBody>
      </p:sp>
    </p:spTree>
    <p:extLst>
      <p:ext uri="{BB962C8B-B14F-4D97-AF65-F5344CB8AC3E}">
        <p14:creationId xmlns:p14="http://schemas.microsoft.com/office/powerpoint/2010/main" val="68860874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23AA20-090D-476D-8EE2-BAE83DE6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2500" y="-114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E7BCD-865A-43EE-B4E4-C87C8741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4762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70E69-E295-4B8B-99D0-4F77D025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6670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88866-9581-42AE-AB6A-432E7586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33375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HOME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A45E8-9C05-4FC3-A4E3-77297686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66700"/>
            <a:ext cx="12096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A8580-3002-4741-A85B-1375F57C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33375"/>
            <a:ext cx="10191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FOUNDATIONS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94F14-6A58-4D9F-8C55-3E15F718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525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7B66C4-910B-48F8-B829-176FA3D7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1775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DEMOS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64698-DCA6-4F18-84D4-9B4826D0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96B9E-DADC-4448-B4B1-07482830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STACK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FE4A1-225D-49DD-8076-A49B6B55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675" y="26670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888BB-E01B-4BB4-B34A-0D76F301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2925" y="3333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E6A60E-AF15-43F1-B35B-CBDDB3C4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266700"/>
            <a:ext cx="8667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577B9-C490-4CFF-A148-DE0FC9EC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333375"/>
            <a:ext cx="6762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ROADMAP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A741E-BC83-41EC-ACF8-4562EF96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266700"/>
            <a:ext cx="1200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816EE-04A5-4531-A906-1C358509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333375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</a:defRPr>
            </a:pPr>
            <a:r>
              <a:rPr sz="713" b="1">
                <a:solidFill>
                  <a:srgbClr val="FFFFFF"/>
                </a:solidFill>
              </a:rPr>
              <a:t>PROJECT 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EB3F5C-39BF-4B82-9B2C-140CB61E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29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PROJECT MAP  -  21 / 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7B54CF-1C99-4F14-A5C4-36604CD2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0769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A12D32-412A-4175-B2A8-84D27532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7810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Mastiff: Conversational Data Analyst Proof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0EDC4D-3262-4AF4-8FBB-601869C1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525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1"/>
                </a:solidFill>
              </a:defRPr>
            </a:pPr>
            <a:r>
              <a:rPr sz="1200" b="0">
                <a:solidFill>
                  <a:srgbClr val="243041"/>
                </a:solidFill>
              </a:rPr>
              <a:t>Maps to natural-language analytics, file ingestion, safe code execution, charts, exports, and enterprise data connectors.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744138-B776-4F49-B2BE-8FF1C0D2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190750"/>
            <a:ext cx="1581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7149AB-152D-405B-817D-42B5E2A6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362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924729-25E3-4CBF-A0C6-203A3D08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23431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563EB"/>
                </a:solidFill>
              </a:defRPr>
            </a:pPr>
            <a:r>
              <a:rPr sz="1013" b="1">
                <a:solidFill>
                  <a:srgbClr val="2563EB"/>
                </a:solidFill>
              </a:rPr>
              <a:t>Upload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2AC4CE-C219-447F-AA32-72704EB0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6860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CSV, Excel, JSON, Parquet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D71BE4-E7D4-4EA5-97B8-A697CB6D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2647950"/>
            <a:ext cx="533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DAE37A-E27E-4F78-B487-C4B80441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2190750"/>
            <a:ext cx="1581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CFEE02-A7D3-45CD-9006-51639CEC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2362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4B91C3-927B-4849-A28C-13DDC694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23431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37F"/>
                </a:solidFill>
              </a:defRPr>
            </a:pPr>
            <a:r>
              <a:rPr sz="1013" b="1">
                <a:solidFill>
                  <a:srgbClr val="10A37F"/>
                </a:solidFill>
              </a:rPr>
              <a:t>Profile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96664D-3DB9-4363-9EF9-F72422CC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200" y="26860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Schema, sample rows, metadata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F4DD5D-88A8-463F-AC01-BCF59CBC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2647950"/>
            <a:ext cx="533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3EC4D7-A039-4F9E-8ACA-F2C77A1C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0650" y="2190750"/>
            <a:ext cx="1581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269843-7440-4545-94BC-8340554F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2362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42D65A-F768-4DBC-B138-67290663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950" y="23431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7C3AED"/>
                </a:solidFill>
              </a:defRPr>
            </a:pPr>
            <a:r>
              <a:rPr sz="1013" b="1">
                <a:solidFill>
                  <a:srgbClr val="7C3AED"/>
                </a:solidFill>
              </a:rPr>
              <a:t>Plan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787DFC-FF61-413B-8328-215CD745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26860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LLM creates analysis plan and Python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B6E6A8-768C-4F13-9B89-6966BE45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2647950"/>
            <a:ext cx="533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7F91B7-1F36-48BD-B2CE-6CE798D7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8550" y="2190750"/>
            <a:ext cx="1581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63974F-279A-4D87-B6DB-62CE0C29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2362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D69E2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122E6F-CFC4-49A8-A928-474EDA13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3431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69E2E"/>
                </a:solidFill>
              </a:defRPr>
            </a:pPr>
            <a:r>
              <a:rPr sz="1013" b="1">
                <a:solidFill>
                  <a:srgbClr val="D69E2E"/>
                </a:solidFill>
              </a:rPr>
              <a:t>Execute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CC98B9-D945-414E-8E88-1F7B0A7A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26860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Sandboxed pandas, numpy, matplotlib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3AB117-FEED-4776-81C6-CB28656D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2647950"/>
            <a:ext cx="533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834532-EE19-4129-BF93-579B4809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2190750"/>
            <a:ext cx="1581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CECD9D-7DCF-48CB-B36A-CFFA0B5B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2362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22A06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F997B6-0285-42E0-9F0B-A7377037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0" y="23431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2A06B"/>
                </a:solidFill>
              </a:defRPr>
            </a:pPr>
            <a:r>
              <a:rPr sz="1013" b="1">
                <a:solidFill>
                  <a:srgbClr val="22A06B"/>
                </a:solidFill>
              </a:rPr>
              <a:t>Explain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D75A1E-54D5-4738-908D-61F03656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26860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Charts, narrative insight, export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1C1FF5-C464-4950-B30D-685C3975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790950"/>
            <a:ext cx="3143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7A1895-A457-490E-9E25-1BE06579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3924300"/>
            <a:ext cx="1924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3F0231-0D31-4557-A7FB-8FF5AD51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399097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API and app surfaces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F59260-1F52-4493-9C31-51A4A6A5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343400"/>
            <a:ext cx="2800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Upload, preview, metadata, delete endpoints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Chat message, history, regenerate endpoints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Visualization and report export endpoints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2C1E34-1508-4A53-8453-A74F01EF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4375" y="3790950"/>
            <a:ext cx="3143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E8031D5-59C0-4C4D-BF46-636941CC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7725" y="3924300"/>
            <a:ext cx="2076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B5468B-22E5-44FF-8161-DD52116C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3990975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Safety and reliability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8E16598-8DAC-4976-AA89-AB1FBCA6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5825" y="4343400"/>
            <a:ext cx="2800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Never execute user code directly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Docker or restricted execution boundary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Timeouts, file limits, no internet, rate limits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0937DE6-1373-4D92-86F1-CBF023D7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3790950"/>
            <a:ext cx="3143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7009ADB-9064-4560-B5E0-8A6DE4CA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3924300"/>
            <a:ext cx="1924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30FF39-DD5A-4E6F-84AC-05E24BD8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399097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Enterprise expansion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EE1B9D-CB1C-4756-B878-67CFA124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4343400"/>
            <a:ext cx="2800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SharePoint, Drive, Snowflake, BigQuery, Postgres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pgvector semantic memory and shared workspaces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Scheduled reports, SSO/SAML, audit logs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ED7874E-FA02-4677-89C7-5F4CA08F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550" y="5429250"/>
            <a:ext cx="7962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E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F35FDDE-99F1-409D-BEC3-1A93301A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550" y="5429250"/>
            <a:ext cx="7962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3176B47-77FA-4641-A499-33E935F5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5619750"/>
            <a:ext cx="762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A37F"/>
                </a:solidFill>
              </a:defRPr>
            </a:pPr>
            <a:r>
              <a:rPr sz="938" b="1">
                <a:solidFill>
                  <a:srgbClr val="10A37F"/>
                </a:solidFill>
              </a:rPr>
              <a:t>Workshop proof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93D822B-BC4A-4C1E-A2D4-641D3C84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5943600"/>
            <a:ext cx="7620000" cy="-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243041"/>
                </a:solidFill>
              </a:defRPr>
            </a:pPr>
            <a:r>
              <a:rPr sz="855" b="0">
                <a:solidFill>
                  <a:srgbClr val="243041"/>
                </a:solidFill>
              </a:rPr>
              <a:t>This project is the clean bridge from AI chat to real analytics: files become schema, schema becomes executable code, execution becomes visual insight, and insight becomes an exportable artifact.</a:t>
            </a:r>
          </a:p>
        </p:txBody>
      </p:sp>
    </p:spTree>
    <p:extLst>
      <p:ext uri="{BB962C8B-B14F-4D97-AF65-F5344CB8AC3E}">
        <p14:creationId xmlns:p14="http://schemas.microsoft.com/office/powerpoint/2010/main" val="15248911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BB7FDB-45A5-4F42-A7BD-855E7A08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2500" y="-114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E506F-E31F-4194-86F7-7BB24FA7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4762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708CB-2EB6-4F86-88CA-8A297423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6670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E5C0F-CA84-4D5D-9130-83A1ABB4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33375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HOME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90D3C-58FD-4147-AB92-A285B93C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66700"/>
            <a:ext cx="12096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03681-2B30-410F-A6EB-5FE09A00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33375"/>
            <a:ext cx="10191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FOUNDATIONS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4BDE2-A31B-4914-BD24-FA9C986D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525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E471A-B168-4084-A31D-14F8F829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1775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DEMOS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040A8-6BD0-4BA0-B4CE-0CD6C017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4A310-9FAE-44F9-A312-E2F221FF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STACK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DCEE9-9465-4DF2-A9FD-16B289C2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675" y="26670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5369B-2F10-4569-9B4D-8A0C4154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2925" y="3333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2B789-14FF-46C8-A31B-459A8B72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266700"/>
            <a:ext cx="8667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A16335-1348-4E09-9FA3-E764501F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333375"/>
            <a:ext cx="6762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ROADMAP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801F2-B89D-4B62-8008-9BDD5B78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266700"/>
            <a:ext cx="1200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995DD-F319-4FA2-88FA-215A4A26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333375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</a:defRPr>
            </a:pPr>
            <a:r>
              <a:rPr sz="713" b="1">
                <a:solidFill>
                  <a:srgbClr val="FFFFFF"/>
                </a:solidFill>
              </a:rPr>
              <a:t>PROJECT 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B0E3F-6C29-41A0-AF5A-C6C0AD8F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29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PROJECT MAP  -  22 / 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81BB6-9330-4480-8A4F-701CC46C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0769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4C2D1-821B-4ACA-AB4A-EB71D0FB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7810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OEE Box: Edge AI + Industrial Intelligence Proof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45C1CB-D251-4CD9-9CFD-F367C29F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525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1"/>
                </a:solidFill>
              </a:defRPr>
            </a:pPr>
            <a:r>
              <a:rPr sz="1200" b="0">
                <a:solidFill>
                  <a:srgbClr val="243041"/>
                </a:solidFill>
              </a:rPr>
              <a:t>Maps to multimodal/edge telemetry, local retrieval, machine reasoning, data trust, RL shadow mode, and safe command execution.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3F95DE-73A9-4CC2-9A30-062EEFF9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114550"/>
            <a:ext cx="1581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B8E670-C8E9-4B44-817F-1B282BA9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286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DA8C9F-2E65-4DDA-A299-33E71945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22669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563EB"/>
                </a:solidFill>
              </a:defRPr>
            </a:pPr>
            <a:r>
              <a:rPr sz="1013" b="1">
                <a:solidFill>
                  <a:srgbClr val="2563EB"/>
                </a:solidFill>
              </a:rPr>
              <a:t>Signals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6856C2-D48F-450B-AE56-51F01699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6098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MQTT, Modbus, OPC-UA, simulator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A2BDC1-DF2B-48F5-AA27-243F7DD8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2609850"/>
            <a:ext cx="533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B70DC9-C266-48CC-858E-3C2BDECF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2114550"/>
            <a:ext cx="1581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1D70CF-648C-4C9A-9BD2-D5C4EE0F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2286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A5E881-BA24-48A7-884F-409EE2AB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22669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37F"/>
                </a:solidFill>
              </a:defRPr>
            </a:pPr>
            <a:r>
              <a:rPr sz="1013" b="1">
                <a:solidFill>
                  <a:srgbClr val="10A37F"/>
                </a:solidFill>
              </a:rPr>
              <a:t>Trust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43DD1A-FE40-47A8-B5C5-B100556E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200" y="26098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Sanitize readings, score confidence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9A620A-04DA-484F-9EB6-3703FA68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2609850"/>
            <a:ext cx="533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FAF386-C998-4D21-B54D-26C3D753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0650" y="2114550"/>
            <a:ext cx="1581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7B8400-03BB-4DEA-B07C-9225AA54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2286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69EEC3-48F4-47E6-9541-3C42E284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950" y="22669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7C3AED"/>
                </a:solidFill>
              </a:defRPr>
            </a:pPr>
            <a:r>
              <a:rPr sz="1013" b="1">
                <a:solidFill>
                  <a:srgbClr val="7C3AED"/>
                </a:solidFill>
              </a:rPr>
              <a:t>Reason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538794-06BB-44D5-AE59-936FF618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26098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OEE calculator, schema inference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030E9D-562C-41AE-9364-131D40EB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2609850"/>
            <a:ext cx="533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88FD03-3622-4288-9439-C72F3860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8550" y="2114550"/>
            <a:ext cx="1581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9B2B9C-4F93-4DAE-B10F-A439FF09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2286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D69E2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76D370-7A53-433E-9EC7-60968D10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2669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69E2E"/>
                </a:solidFill>
              </a:defRPr>
            </a:pPr>
            <a:r>
              <a:rPr sz="1013" b="1">
                <a:solidFill>
                  <a:srgbClr val="D69E2E"/>
                </a:solidFill>
              </a:rPr>
              <a:t>Assist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542699-CF6A-4DA2-B909-70EF289D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26098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Manual RAG, copilot, offline fallback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61429C-8E77-4705-B09C-4CAA1666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2609850"/>
            <a:ext cx="533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DA0213-1A59-4C86-A2F3-7E5526D7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2114550"/>
            <a:ext cx="1581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CB7BCA-0BA4-4C9D-ACC8-1F6431D7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2286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BF0C89-835D-4E8F-A242-113C0EDA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0" y="22669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E76F51"/>
                </a:solidFill>
              </a:defRPr>
            </a:pPr>
            <a:r>
              <a:rPr sz="1013" b="1">
                <a:solidFill>
                  <a:srgbClr val="E76F51"/>
                </a:solidFill>
              </a:rPr>
              <a:t>Act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261007-D7D3-4F12-BEF5-5650F767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26098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RL shadow suggestions, gatekeeper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21D789-743C-4EFF-8B6F-FF34E221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829050"/>
            <a:ext cx="2571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025F23-DCCC-4436-B988-A37BB28D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962400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09B39B-2465-499C-A197-74AEC170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02907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Semantic copilot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AD94B1-627C-4030-91F7-EFAE5B3D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381500"/>
            <a:ext cx="2228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Local RAG over manuals and safety protocols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FAISS with Sentence Transformers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LLM answers operator questions with context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D41CB9-AEF6-4168-9FD7-732AB6BB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3300" y="3829050"/>
            <a:ext cx="2571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5FAB71-2190-43E9-93E6-7FE19807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650" y="3962400"/>
            <a:ext cx="2152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2BA62D-CA0A-499C-8933-77A2E451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402907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Autonomous intelligence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9B250F-92F2-4030-954C-0AB996BF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4381500"/>
            <a:ext cx="2228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RL agent observes and simulates in shadow mode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Virtual sensors infer missing machine states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Predictive health roadmap with RUL models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762838-EE21-4997-B07C-97B0C1CA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3829050"/>
            <a:ext cx="2571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F1132A7-530D-41F9-9554-387920D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200" y="3962400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D5CA73C-5E9E-4184-B206-3565D4D3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02907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Safety-by-design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4087BC-2019-483C-A21D-921F5F40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4381500"/>
            <a:ext cx="2228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Command gatekeeper before machine action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Offline heuristic fallback when AI is unavailable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Audit trace from signal to suggestion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6158A2-7632-4F25-AC00-5A74B3DC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3829050"/>
            <a:ext cx="22288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0E8F19-560E-454E-98DB-9E4DFA68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3962400"/>
            <a:ext cx="1543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8780F0-E8C6-4CF3-835A-5A750F9B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4029075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Real-time stack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0285DDC-6569-4B60-9610-5D60A2E7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7850" y="4381500"/>
            <a:ext cx="1885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FastAPI, SQLite async, WebSockets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React, Vite, MUI dashboard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Docker Compose edge deployment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635D79C-B5D7-4658-B94A-BB67DB42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5467350"/>
            <a:ext cx="76581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E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021D38D-6243-4DE2-835A-F13B6A67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5467350"/>
            <a:ext cx="7658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D69E2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9450E81-E25D-41E3-8442-AC731DE4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5657850"/>
            <a:ext cx="731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D69E2E"/>
                </a:solidFill>
              </a:defRPr>
            </a:pPr>
            <a:r>
              <a:rPr sz="938" b="1">
                <a:solidFill>
                  <a:srgbClr val="D69E2E"/>
                </a:solidFill>
              </a:rPr>
              <a:t>Workshop proof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DD68F8B-B0AD-4B06-93E8-D854BC12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5981700"/>
            <a:ext cx="7315200" cy="-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This project shows AI outside a browser chat box: it reads industrial signals, reasons locally, explains machine behavior, and gates every optimization before action.</a:t>
            </a:r>
          </a:p>
        </p:txBody>
      </p:sp>
    </p:spTree>
    <p:extLst>
      <p:ext uri="{BB962C8B-B14F-4D97-AF65-F5344CB8AC3E}">
        <p14:creationId xmlns:p14="http://schemas.microsoft.com/office/powerpoint/2010/main" val="16644498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1D7826-C869-4C38-AA81-997B9121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2500" y="-114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31C4F-7FDC-46D7-90A0-8400D07A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4762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174D0-6277-4AC5-B2C8-AF73EC8B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6670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E4451-A03B-44C3-B9C6-F497F726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33375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HOME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916D0-5AFB-4778-9A93-06508C8B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66700"/>
            <a:ext cx="12096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03C1C-207D-475A-8213-B037DEB1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33375"/>
            <a:ext cx="10191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FOUNDATIONS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14608-3FAC-456F-AC97-A7F89B2F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525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0220A-419C-4747-A386-447461CC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1775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DEMOS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FF208-832E-43B0-B3FD-3FDA278E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0261D-A936-4163-B835-615E8491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STACK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60873-381B-48F4-B290-55F162E5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675" y="26670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FD557-E4C0-4A0E-85AD-39C45E4A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2925" y="3333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6C46D-41D5-4CAB-8CC8-CDA9AF46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266700"/>
            <a:ext cx="8667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405D8-541D-47E7-AACD-67D6149A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333375"/>
            <a:ext cx="6762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ROADMAP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1C1A68-FE83-4FA9-826F-5DA90071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266700"/>
            <a:ext cx="1200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D949E6-3535-43E3-A054-C55BD4F9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333375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</a:defRPr>
            </a:pPr>
            <a:r>
              <a:rPr sz="713" b="1">
                <a:solidFill>
                  <a:srgbClr val="FFFFFF"/>
                </a:solidFill>
              </a:rPr>
              <a:t>PROJECT 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739E4F-12B9-4907-A78C-0DE69E6C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29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PROJECT MAP  -  23 / 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5CFC4-C488-431C-874B-5EE37AAD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0769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0600EE-6EFF-46CA-9D80-5D4F4551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781050"/>
            <a:ext cx="971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Slide-by-Slide Talking 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065E76-F3C0-44C4-B3F7-B70A9704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525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1"/>
                </a:solidFill>
              </a:defRPr>
            </a:pPr>
            <a:r>
              <a:rPr sz="1200" b="0">
                <a:solidFill>
                  <a:srgbClr val="243041"/>
                </a:solidFill>
              </a:rPr>
              <a:t>Use this as the presenter cheat sheet: theme first, project proof second, technical competency third.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204757-CD58-4598-9968-41F283F7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2114550"/>
            <a:ext cx="106299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C2B26E-4379-483F-B5CF-42008299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23431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Workshop theme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09D4BC-45EC-4BC1-ACEA-5080DEB4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2343150"/>
            <a:ext cx="581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Project proof 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08CF09-BFBC-46CE-B36E-EC61AAA6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23431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Competency signal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7E2575-5977-45DA-866E-7153EDF7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26289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3BCA35-DCC7-4999-B954-38B2E452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2705100"/>
            <a:ext cx="1809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BD471D-9349-40D0-8C66-17711718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752725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FFFFF"/>
                </a:solidFill>
              </a:defRPr>
            </a:pPr>
            <a:r>
              <a:rPr sz="690" b="1">
                <a:solidFill>
                  <a:srgbClr val="FFFFFF"/>
                </a:solidFill>
              </a:rPr>
              <a:t>Capability map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0FA011-7C6A-40A2-BA1F-DEF306DA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2724150"/>
            <a:ext cx="552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43041"/>
                </a:solidFill>
              </a:defRPr>
            </a:pPr>
            <a:r>
              <a:rPr sz="915" b="0">
                <a:solidFill>
                  <a:srgbClr val="243041"/>
                </a:solidFill>
              </a:rPr>
              <a:t>Axiom = business AI; Mastiff = data AI; OEE Box = edge AI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19C37E-0E2E-4684-8C70-A0F701F4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27241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RAG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F07B9B-5C7E-4488-836A-0EB0214A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29908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43FF56-2C07-4174-8DA1-E3BCB252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067050"/>
            <a:ext cx="1809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3CE04C-04A0-4D60-A360-22D1243E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3114675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FFFFF"/>
                </a:solidFill>
              </a:defRPr>
            </a:pPr>
            <a:r>
              <a:rPr sz="690" b="1">
                <a:solidFill>
                  <a:srgbClr val="FFFFFF"/>
                </a:solidFill>
              </a:rPr>
              <a:t>RAG pipeline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DB3666-F958-423A-8F09-D258518D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3086100"/>
            <a:ext cx="552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43041"/>
                </a:solidFill>
              </a:defRPr>
            </a:pPr>
            <a:r>
              <a:rPr sz="915" b="0">
                <a:solidFill>
                  <a:srgbClr val="243041"/>
                </a:solidFill>
              </a:rPr>
              <a:t>OEE manuals copilot; Axiom evidence-grounded answers and audit posture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B8798A-4F55-4AD4-81BF-55235468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30861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A37F"/>
                </a:solidFill>
              </a:defRPr>
            </a:pPr>
            <a:r>
              <a:rPr sz="825" b="1">
                <a:solidFill>
                  <a:srgbClr val="10A37F"/>
                </a:solidFill>
              </a:rPr>
              <a:t>RAG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2515A5-14F7-481F-80A0-F40CF473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33528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E50BD7-1DD8-49B7-A90C-F9B0A333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429000"/>
            <a:ext cx="1809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473DC3-783F-4A74-91D3-4A0172CE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3476625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FFFFF"/>
                </a:solidFill>
              </a:defRPr>
            </a:pPr>
            <a:r>
              <a:rPr sz="690" b="1">
                <a:solidFill>
                  <a:srgbClr val="FFFFFF"/>
                </a:solidFill>
              </a:rPr>
              <a:t>Document intelligence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BEAA6F-32AA-4505-B6DF-ACC86581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3448050"/>
            <a:ext cx="552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43041"/>
                </a:solidFill>
              </a:defRPr>
            </a:pPr>
            <a:r>
              <a:rPr sz="915" b="0">
                <a:solidFill>
                  <a:srgbClr val="243041"/>
                </a:solidFill>
              </a:rPr>
              <a:t>Axiom invoice OCR/upload routes; Mastiff file parsing and schema extraction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1B0FE1-8B24-47C5-B6E7-3E6B2522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34480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</a:defRPr>
            </a:pPr>
            <a:r>
              <a:rPr sz="825" b="1">
                <a:solidFill>
                  <a:srgbClr val="7C3AED"/>
                </a:solidFill>
              </a:rPr>
              <a:t>ML/data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6F8829-1DDB-4D97-82C6-C88EF1D2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37147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DA79C5-6564-4DA2-8551-C72A3026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790950"/>
            <a:ext cx="1809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59623F-7A89-426B-A709-E9A9ECD1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3838575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FFFFF"/>
                </a:solidFill>
              </a:defRPr>
            </a:pPr>
            <a:r>
              <a:rPr sz="690" b="1">
                <a:solidFill>
                  <a:srgbClr val="FFFFFF"/>
                </a:solidFill>
              </a:rPr>
              <a:t>Predictive ML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9B1498-89DC-4CE2-BED3-0D58C0BF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3810000"/>
            <a:ext cx="552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43041"/>
                </a:solidFill>
              </a:defRPr>
            </a:pPr>
            <a:r>
              <a:rPr sz="915" b="0">
                <a:solidFill>
                  <a:srgbClr val="243041"/>
                </a:solidFill>
              </a:rPr>
              <a:t>Axiom demand forecast and supplier scoring; OEE RL/predictive health roadmap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768894-A0C7-42B0-B308-3A509816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38100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69E2E"/>
                </a:solidFill>
              </a:defRPr>
            </a:pPr>
            <a:r>
              <a:rPr sz="825" b="1">
                <a:solidFill>
                  <a:srgbClr val="D69E2E"/>
                </a:solidFill>
              </a:rPr>
              <a:t>ML/data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3AD2E3-3217-41AA-BEA8-E894B8CE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40767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7D2E19-7B81-4884-9211-FE3C73D0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4152900"/>
            <a:ext cx="1809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7D19FB-9CF0-4DE4-8DD0-8B43D771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4200525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FFFFF"/>
                </a:solidFill>
              </a:defRPr>
            </a:pPr>
            <a:r>
              <a:rPr sz="690" b="1">
                <a:solidFill>
                  <a:srgbClr val="FFFFFF"/>
                </a:solidFill>
              </a:rPr>
              <a:t>Agentic workflow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B071EA-AA3D-49DF-A545-07A884B7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4171950"/>
            <a:ext cx="552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43041"/>
                </a:solidFill>
              </a:defRPr>
            </a:pPr>
            <a:r>
              <a:rPr sz="915" b="0">
                <a:solidFill>
                  <a:srgbClr val="243041"/>
                </a:solidFill>
              </a:rPr>
              <a:t>Axiom agent orchestrator; OEE command gatekeeper; Mastiff sandboxed code tool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D38C90-9D68-4841-9220-9EB78586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41719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76F51"/>
                </a:solidFill>
              </a:defRPr>
            </a:pPr>
            <a:r>
              <a:rPr sz="825" b="1">
                <a:solidFill>
                  <a:srgbClr val="E76F51"/>
                </a:solidFill>
              </a:rPr>
              <a:t>APIs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8C9FB4-3385-4D2B-9ABB-BF12FFCF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44386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4BA60DC-D338-445D-AC2B-F2F1B3CF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4514850"/>
            <a:ext cx="1809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9525">
            <a:solidFill>
              <a:srgbClr val="22A06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FD4BA7-A014-421F-837B-67899567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4562475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FFFFF"/>
                </a:solidFill>
              </a:defRPr>
            </a:pPr>
            <a:r>
              <a:rPr sz="690" b="1">
                <a:solidFill>
                  <a:srgbClr val="FFFFFF"/>
                </a:solidFill>
              </a:rPr>
              <a:t>API topology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54F983-A331-498A-A7A5-3EF26627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4533900"/>
            <a:ext cx="552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43041"/>
                </a:solidFill>
              </a:defRPr>
            </a:pPr>
            <a:r>
              <a:rPr sz="915" b="0">
                <a:solidFill>
                  <a:srgbClr val="243041"/>
                </a:solidFill>
              </a:rPr>
              <a:t>SAP/API routes, cron jobs, queues, email, Blob, Redis, Postgres, MQTT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38D1F2A-FF97-44A5-A52B-67FF7D27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45339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2A06B"/>
                </a:solidFill>
              </a:defRPr>
            </a:pPr>
            <a:r>
              <a:rPr sz="825" b="1">
                <a:solidFill>
                  <a:srgbClr val="22A06B"/>
                </a:solidFill>
              </a:rPr>
              <a:t>APIs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8472D6-629B-4357-832D-6EE216CE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48006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DE79F70-AD48-4B18-A414-116151BE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4876800"/>
            <a:ext cx="1809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3415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1CC3FE-FFE3-4190-9265-B20AFC06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4924425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FFFFF"/>
                </a:solidFill>
              </a:defRPr>
            </a:pPr>
            <a:r>
              <a:rPr sz="690" b="1">
                <a:solidFill>
                  <a:srgbClr val="FFFFFF"/>
                </a:solidFill>
              </a:rPr>
              <a:t>Developer intelligence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DD4414-91D0-415B-8AD5-6B8A9F62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4895850"/>
            <a:ext cx="552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43041"/>
                </a:solidFill>
              </a:defRPr>
            </a:pPr>
            <a:r>
              <a:rPr sz="915" b="0">
                <a:solidFill>
                  <a:srgbClr val="243041"/>
                </a:solidFill>
              </a:rPr>
              <a:t>Next.js, React, FastAPI, Docker, typed validation, tests, telemetry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51FED6-226C-4AAF-8B24-D4974576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48958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34155"/>
                </a:solidFill>
              </a:defRPr>
            </a:pPr>
            <a:r>
              <a:rPr sz="825" b="1">
                <a:solidFill>
                  <a:srgbClr val="334155"/>
                </a:solidFill>
              </a:rPr>
              <a:t>code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99C1BEC-B199-44F5-9339-CEDEC4E8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5619750"/>
            <a:ext cx="876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E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3CDD6CA-7FD3-40BF-96A3-C3F04104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5619750"/>
            <a:ext cx="876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661214B-4AA3-410D-92E3-B5DCA915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5810250"/>
            <a:ext cx="842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37F"/>
                </a:solidFill>
              </a:defRPr>
            </a:pPr>
            <a:r>
              <a:rPr sz="900" b="1">
                <a:solidFill>
                  <a:srgbClr val="10A37F"/>
                </a:solidFill>
              </a:rPr>
              <a:t>Presenter rhythm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37F3416-082B-4AF4-854E-226F3196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6134100"/>
            <a:ext cx="8420100" cy="-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3041"/>
                </a:solidFill>
              </a:defRPr>
            </a:pPr>
            <a:r>
              <a:rPr sz="825" b="0">
                <a:solidFill>
                  <a:srgbClr val="243041"/>
                </a:solidFill>
              </a:rPr>
              <a:t>For every concept slide, say: here is the pattern, here is where we used it, here is the engineering control that makes it reliable.</a:t>
            </a:r>
          </a:p>
        </p:txBody>
      </p:sp>
    </p:spTree>
    <p:extLst>
      <p:ext uri="{BB962C8B-B14F-4D97-AF65-F5344CB8AC3E}">
        <p14:creationId xmlns:p14="http://schemas.microsoft.com/office/powerpoint/2010/main" val="14944385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29EFC2-44CF-468F-AD26-B96EAC41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2500" y="-114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7D421-1BB9-4898-8B0F-4275D37E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4762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DD323-AB54-4630-97F7-B186D007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6670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D2881-F1B0-44A9-B82E-66DDDBFC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33375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HOME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02B98-9C4E-4875-B426-D58C0D8A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66700"/>
            <a:ext cx="12096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11CC5-BBD0-466B-841D-F299E787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33375"/>
            <a:ext cx="10191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FOUNDATIONS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B2DCC-3C91-40DD-83DC-C2D30782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525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795B7-5C63-43B6-9D7E-F57F19CA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1775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DEMOS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130E9-8098-4C08-92EC-25820D77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B5F41-9109-4456-B60C-B5B9E83D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STACK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026D6-2EA5-4E38-B076-522639E1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675" y="26670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B084BA-5993-4189-9F23-BAD07AE2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2925" y="3333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2C403-0748-41BD-B57A-BA697EDF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266700"/>
            <a:ext cx="8667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395A0-621F-42EE-AFCE-BE2F0A1D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333375"/>
            <a:ext cx="6762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ROADMAP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5148B-B22C-4B80-BC24-A9DD63DA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266700"/>
            <a:ext cx="1200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71062-A77E-4401-8B83-DD00E3E3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333375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</a:defRPr>
            </a:pPr>
            <a:r>
              <a:rPr sz="713" b="1">
                <a:solidFill>
                  <a:srgbClr val="FFFFFF"/>
                </a:solidFill>
              </a:rPr>
              <a:t>PROJECT 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2CF4F-BAE7-4E4B-8A3A-4653C3BD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29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PROJECT MAP  -  24 / 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CFB3DF-69E5-4D00-82B3-A0EB630E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0769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FF80ED-F7E9-4F47-93C1-4581CEB8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7810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Live Demo Run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E5182A-E96C-4349-AC95-147718F3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525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1"/>
                </a:solidFill>
              </a:defRPr>
            </a:pPr>
            <a:r>
              <a:rPr sz="1200" b="0">
                <a:solidFill>
                  <a:srgbClr val="243041"/>
                </a:solidFill>
              </a:rPr>
              <a:t>A practical path for the seven-hour workshop: show breadth, then show code-level and system-level depth.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75D1F9-64B1-4237-A633-8A8CE39D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2114550"/>
            <a:ext cx="3219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FA3863-910A-4AF2-A963-1589D80A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2247900"/>
            <a:ext cx="1695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583F39-4052-46E2-A74A-4C62C4B1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2314575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Axiom business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CE4C81-B7FA-47CB-A7F6-4C004A93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667000"/>
            <a:ext cx="28765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Open dashboard or supplier view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Show risk/forecast/agent recommendation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Point to audit, queue, API, validation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58B97E-F98D-458F-BAF9-98120826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2114550"/>
            <a:ext cx="3219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0A69CC-A694-4474-9A6D-DCBD6F0F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2247900"/>
            <a:ext cx="1924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490E0D-58D6-4BFF-AEE3-EC2B754C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231457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Mastiff data analyst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9B8C04-C2D7-46E2-ADE0-20157856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2667000"/>
            <a:ext cx="28765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Upload a dataset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Ask a natural-language question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Inspect generated Python, chart, and export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2C66A3-A743-4058-887E-8B0A2203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050" y="2114550"/>
            <a:ext cx="3219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71AEBA-BC2E-4F0F-806F-29F17E0D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2247900"/>
            <a:ext cx="1543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69DC7A-B6C7-4974-A8D5-DF3DAA01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2314575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OEE Box edge 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2A1335-49CB-4A6D-BB6D-19E7347F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2667000"/>
            <a:ext cx="28765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Simulate machine telemetry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Ask why OEE dropped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Show RAG answer, trust score, gatekeeper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3A290C-E0A4-4AC8-9F83-D27CE7FD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305300"/>
            <a:ext cx="9906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80B9C1-5012-4C10-B092-B7639A02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5148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BD5E1"/>
                </a:solidFill>
              </a:defRPr>
            </a:pPr>
            <a:r>
              <a:rPr sz="900" b="1">
                <a:solidFill>
                  <a:srgbClr val="CBD5E1"/>
                </a:solidFill>
              </a:rPr>
              <a:t>Closing proof statement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B8527E-E17A-4FD4-B6BD-29D9EF98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743450"/>
            <a:ext cx="914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979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We are not only prompting models. We are connecting AI to data, APIs, workflows, jobs, security controls, tests, dashboards, and measurable business outcomes.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8B61D8-C7CC-42CB-A606-AAF0037C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" y="5429250"/>
            <a:ext cx="26860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E25D5D-5351-4BEE-A6DE-CB40A98D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5562600"/>
            <a:ext cx="933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04D13B-25B3-41A4-A309-E24B1FE0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562927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Breadth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24991A-3BE1-4EF2-93B5-47F632B8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5981700"/>
            <a:ext cx="2343150" cy="-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LLMs, RAG, ML, agents, vision-ready flows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57DDD8-B0D6-47BD-A8BA-4896CBB3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5429250"/>
            <a:ext cx="26860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7D2332-64B9-4D41-B740-A5EB9FD2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55626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D58B47-7F3A-46CC-96A3-190BEA72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562927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Depth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42BEEB-F2ED-485D-8390-851D72A5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5981700"/>
            <a:ext cx="2343150" cy="-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Full-stack apps, APIs, queues, data, cloud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A287D7-0A7A-4071-B642-E5BD51EE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5429250"/>
            <a:ext cx="26860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5C69CC-716E-40B9-8C1E-6AC8D9C1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5562600"/>
            <a:ext cx="1009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4E5892-A683-4C92-A867-891D268F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56292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Maturity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07E948-3B8C-4BF9-9CBC-951CF1F0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5981700"/>
            <a:ext cx="2343150" cy="-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Guardrails, audit, tests, telemetry, fallbacks</a:t>
            </a:r>
          </a:p>
        </p:txBody>
      </p:sp>
    </p:spTree>
    <p:extLst>
      <p:ext uri="{BB962C8B-B14F-4D97-AF65-F5344CB8AC3E}">
        <p14:creationId xmlns:p14="http://schemas.microsoft.com/office/powerpoint/2010/main" val="1429447645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2026-04-22T12:04:02.0400000Z</dcterms:created>
  <dcterms:modified xsi:type="dcterms:W3CDTF">2026-04-22T12:04:02.0400000Z</dcterms:modified>
</coreProperties>
</file>