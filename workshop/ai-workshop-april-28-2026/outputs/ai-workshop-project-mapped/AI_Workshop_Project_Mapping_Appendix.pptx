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d1732898e4424" /><Relationship Type="http://schemas.openxmlformats.org/officeDocument/2006/relationships/extended-properties" Target="/docProps/app.xml" Id="R7958f15be7d843ee" /><Relationship Type="http://schemas.openxmlformats.org/officeDocument/2006/relationships/officeDocument" Target="/ppt/presentation.xml" Id="Re14d944826cd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c0b9f67224cfa"/>
  </p:sldMasterIdLst>
  <p:notesMasterIdLst>
    <p:notesMasterId xmlns:r="http://schemas.openxmlformats.org/officeDocument/2006/relationships" r:id="R976682c6e75940ee"/>
  </p:notesMasterIdLst>
  <p:sldIdLst>
    <p:sldId xmlns:r="http://schemas.openxmlformats.org/officeDocument/2006/relationships" id="256" r:id="Reb02c217dbc74e46"/>
    <p:sldId xmlns:r="http://schemas.openxmlformats.org/officeDocument/2006/relationships" id="257" r:id="R64ed7793583e4659"/>
    <p:sldId xmlns:r="http://schemas.openxmlformats.org/officeDocument/2006/relationships" id="258" r:id="R87c751fa5e274a48"/>
    <p:sldId xmlns:r="http://schemas.openxmlformats.org/officeDocument/2006/relationships" id="259" r:id="R3403a24060d34f8c"/>
    <p:sldId xmlns:r="http://schemas.openxmlformats.org/officeDocument/2006/relationships" id="260" r:id="R9ac77c3dcf164bf8"/>
    <p:sldId xmlns:r="http://schemas.openxmlformats.org/officeDocument/2006/relationships" id="261" r:id="Re17d623c23e04e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c0b9f67224cfa" /><Relationship Type="http://schemas.openxmlformats.org/officeDocument/2006/relationships/theme" Target="/ppt/theme/theme1.xml" Id="R278e0c50b31c412c" /><Relationship Type="http://schemas.openxmlformats.org/officeDocument/2006/relationships/notesMaster" Target="/ppt/notesMasters/notesMaster1.xml" Id="R976682c6e75940ee" /><Relationship Type="http://schemas.openxmlformats.org/officeDocument/2006/relationships/presProps" Target="/ppt/presProps.xml" Id="R8c434e87c2724579" /><Relationship Type="http://schemas.openxmlformats.org/officeDocument/2006/relationships/viewProps" Target="/ppt/viewProps.xml" Id="R598bab1e8f3e4291" /><Relationship Type="http://schemas.openxmlformats.org/officeDocument/2006/relationships/tableStyles" Target="/ppt/tableStyles.xml" Id="R9315ce0ad09549b1" /><Relationship Type="http://schemas.openxmlformats.org/officeDocument/2006/relationships/slide" Target="/ppt/slides/slide1.xml" Id="Reb02c217dbc74e46" /><Relationship Type="http://schemas.openxmlformats.org/officeDocument/2006/relationships/slide" Target="/ppt/slides/slide2.xml" Id="R64ed7793583e4659" /><Relationship Type="http://schemas.openxmlformats.org/officeDocument/2006/relationships/slide" Target="/ppt/slides/slide3.xml" Id="R87c751fa5e274a48" /><Relationship Type="http://schemas.openxmlformats.org/officeDocument/2006/relationships/slide" Target="/ppt/slides/slide4.xml" Id="R3403a24060d34f8c" /><Relationship Type="http://schemas.openxmlformats.org/officeDocument/2006/relationships/slide" Target="/ppt/slides/slide5.xml" Id="R9ac77c3dcf164bf8" /><Relationship Type="http://schemas.openxmlformats.org/officeDocument/2006/relationships/slide" Target="/ppt/slides/slide6.xml" Id="Re17d623c23e0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ee1c536641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I Workshop Project Map">
  <a:themeElements>
    <a:clrScheme name="AI Workshop Project Map">
      <a:accent1>
        <a:srgbClr val="10A37F"/>
      </a:accent1>
      <a:accent2>
        <a:srgbClr val="2563EB"/>
      </a:accent2>
      <a:accent3>
        <a:srgbClr val="D69E2E"/>
      </a:accent3>
      <a:accent4>
        <a:srgbClr val="E76F5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Workshop Project Ma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c2d78279d14dfb" /><Relationship Type="http://schemas.openxmlformats.org/officeDocument/2006/relationships/notesMaster" Target="/ppt/notesMasters/notesMaster1.xml" Id="R3b7150434f95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7ed84f98454221" /><Relationship Type="http://schemas.openxmlformats.org/officeDocument/2006/relationships/notesMaster" Target="/ppt/notesMasters/notesMaster1.xml" Id="R9a0ec417e22f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a586e83d1e4935" /><Relationship Type="http://schemas.openxmlformats.org/officeDocument/2006/relationships/notesMaster" Target="/ppt/notesMasters/notesMaster1.xml" Id="R777d43b5e673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de11aad804c5d" /><Relationship Type="http://schemas.openxmlformats.org/officeDocument/2006/relationships/notesMaster" Target="/ppt/notesMasters/notesMaster1.xml" Id="R5922f36ca2e44d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0b864926a4a75" /><Relationship Type="http://schemas.openxmlformats.org/officeDocument/2006/relationships/notesMaster" Target="/ppt/notesMasters/notesMaster1.xml" Id="R2137888cf9a346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4b2b4f37344014" /><Relationship Type="http://schemas.openxmlformats.org/officeDocument/2006/relationships/notesMaster" Target="/ppt/notesMasters/notesMaster1.xml" Id="Redcbb259d20c48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mapping section by saying: here is where the abstract workshop becomes concrete.</a:t>
            </a:r>
          </a:p>
          <a:p xmlns:a="http://schemas.openxmlformats.org/drawingml/2006/main">
            <a:r>
              <a:t>Keep the personal project out of this discussion and use Axiom, Mastiff, and OEE Box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Axiom is the strongest proof of full-stack business AI.</a:t>
            </a:r>
          </a:p>
          <a:p xmlns:a="http://schemas.openxmlformats.org/drawingml/2006/main">
            <a:r>
              <a:t>Use it when discussing procurement intelligence, agentic workflow, document extraction, SAP/API integration, queues, audit, cloud deployment, and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Mastiff is the strongest proof for data analyst workflows.</a:t>
            </a:r>
          </a:p>
          <a:p xmlns:a="http://schemas.openxmlformats.org/drawingml/2006/main">
            <a:r>
              <a:t>Call out code generation carefully: the intelligence is not just generating code, it is executing it in a controlled sandbox with limits and auditability.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OEE Box is the strongest proof for edge AI, real-time data, industrial reliability, and safety guardrails.</a:t>
            </a:r>
          </a:p>
          <a:p xmlns:a="http://schemas.openxmlformats.org/drawingml/2006/main">
            <a:r>
              <a:t>Emphasize shadow mode and command gatekeeping as the responsible AI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rehearsal and live Q&amp;A recovery.</a:t>
            </a:r>
          </a:p>
          <a:p xmlns:a="http://schemas.openxmlformats.org/drawingml/2006/main">
            <a:r>
              <a:t>If someone asks whether the workshop is theoretical, jump here and anchor the answer in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final rehearsal sheet before the workshop.</a:t>
            </a:r>
          </a:p>
          <a:p xmlns:a="http://schemas.openxmlformats.org/drawingml/2006/main">
            <a:r>
              <a:t>Keep each demo bounded. If a live system is not available, use screenshots or a short recorded fallback, but keep the talking points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33469bc7b49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399D068-4092-4881-A1E4-386FF16DC6B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2E413F-EBB8-4F87-A704-19D6D6E5FA7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252308-CD97-4439-A7AF-AA25E75938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DC76F2-6775-4E86-985E-4C4F63024D8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5bd7358147426c" /><Relationship Type="http://schemas.openxmlformats.org/officeDocument/2006/relationships/slideLayout" Target="/ppt/slideLayouts/slideLayout2.xml" Id="Rb3eea9fb99fb42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D358C8-0739-430E-87C2-83EF8DA8F87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ea9fb99fb42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46a8ea3b648e1" /><Relationship Type="http://schemas.openxmlformats.org/officeDocument/2006/relationships/notesSlide" Target="/ppt/notesSlides/notesSlide1.xml" Id="Ra06ed31c3fc8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b707d09042486b" /><Relationship Type="http://schemas.openxmlformats.org/officeDocument/2006/relationships/notesSlide" Target="/ppt/notesSlides/notesSlide2.xml" Id="R0bcb8374a55e40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813d9738e4637" /><Relationship Type="http://schemas.openxmlformats.org/officeDocument/2006/relationships/notesSlide" Target="/ppt/notesSlides/notesSlide3.xml" Id="R19ca9c14a2e749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2e8eb37aa04dbd" /><Relationship Type="http://schemas.openxmlformats.org/officeDocument/2006/relationships/notesSlide" Target="/ppt/notesSlides/notesSlide4.xml" Id="Rebef3d32dff547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faabd0f3149f7" /><Relationship Type="http://schemas.openxmlformats.org/officeDocument/2006/relationships/notesSlide" Target="/ppt/notesSlides/notesSlide5.xml" Id="R242de6c6154c47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6c199eb1a4333" /><Relationship Type="http://schemas.openxmlformats.org/officeDocument/2006/relationships/notesSlide" Target="/ppt/notesSlides/notesSlide6.xml" Id="R786344ef7aa64a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8CB85-222E-4ABC-AAB3-8385BE95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7DBBE-7D55-430B-99D9-2255A9E8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4926A-4662-4E93-A0D4-F5BA4B5E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FF14-2000-41F9-96AE-0595F76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CD54D-71DE-410E-813C-A5FD9A3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92692-64F2-4834-BBE9-3579AF45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57DA5-5A6C-4C24-BCA8-43331C62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193E8-A44D-4772-A2D0-2457EBA1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4E339-75C6-4282-9BB5-F5F6150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FF107-9F1B-4005-A44D-3EB677A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07592-8FF1-4A00-BD7F-CA1A846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C2166-70E4-4EFD-8C1C-ED64437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87811-A3B9-4685-AC0E-5D61F89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6457E-5769-4B80-AE48-579364F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0BEFE-C9F3-4AA1-9BC7-B28E546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E8EEE-CD3C-4C77-84D1-8C8FC952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90C2F-D985-42EB-AC9B-3C8360D8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19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50C2A-31C2-4332-84EB-A790A30E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63463-8306-42BF-981F-B42CD4DB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Project Mapping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FDC38-1992-4EA5-B956-E485A2BF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Use this section to convert the workshop from a generic AI talk into proof from our own software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4F6E5-93F7-4E1A-92E9-06897025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737C4-20FE-464C-8D31-70F247F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712C8-4F13-420E-A4C9-94B8B34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Axiom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0D6A6-0CAB-48B5-B69F-A2C0911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Procurement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EF312-112A-45AD-8B05-A8B8BAA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Agents, supplier risk, demand forecast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Invoice OCR, SAP/API route, audit export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Next.js, Postgres, Redis queues, Azure stack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0F27D-313E-49A2-9833-1097654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A9973-5E8A-417B-B3C4-EE482CB5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business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3726F-A943-43D8-9D67-32AE8143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1A27A-92C2-4869-93AD-FDF18145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513A4-94E3-4089-8B78-5CA7FD7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0BF4B-8E5A-480A-9F65-437B4F22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DA97EE-DC45-46A6-A290-1C4D6B2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A37F"/>
                </a:solidFill>
              </a:defRPr>
            </a:pPr>
            <a:r>
              <a:rPr sz="1575" b="1">
                <a:solidFill>
                  <a:srgbClr val="10A37F"/>
                </a:solidFill>
              </a:rPr>
              <a:t>Mastiff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737052-20E0-49B9-BB24-A29939E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Conversational data analyst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58F24-0904-4C14-A586-3E8BF0D8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CSV/Excel/JSON/Parquet ingestion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LLM-to-Python sandbox execution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Charts, report export, sessions, connectors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A46813-4B74-4292-A9D1-9EE33CF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E732E5-897A-4431-90C8-A155BE1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data 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A7B62-C1FB-4D21-9F35-8825C0DF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E8305C-8E4D-4C28-ABEF-07C118E5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24D78-4785-44E2-84EC-392E39B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076450"/>
            <a:ext cx="33337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3B006A-47B6-4203-8BD7-E77D52E7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0764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A46698-664D-4CC9-BD69-AF505AE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343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9E2E"/>
                </a:solidFill>
              </a:defRPr>
            </a:pPr>
            <a:r>
              <a:rPr sz="1575" b="1">
                <a:solidFill>
                  <a:srgbClr val="D69E2E"/>
                </a:solidFill>
              </a:rPr>
              <a:t>OEE Box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5B23F5-A443-4956-A8E9-662E3C7D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6479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64748B"/>
                </a:solidFill>
              </a:defRPr>
            </a:pPr>
            <a:r>
              <a:rPr sz="960" b="1">
                <a:solidFill>
                  <a:srgbClr val="64748B"/>
                </a:solidFill>
              </a:rPr>
              <a:t>Industrial edge AI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23C9F9-3A45-42C7-B06A-94190C3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105150"/>
            <a:ext cx="2819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MQTT, Modbus, OPC-UA machine data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Local RAG, schema inference, trust score</a:t>
            </a:r>
          </a:p>
          <a:p xmlns:a="http://schemas.openxmlformats.org/drawingml/2006/main">
            <a:pPr algn="l">
              <a:defRPr sz="975" b="0">
                <a:solidFill>
                  <a:srgbClr val="243041"/>
                </a:solidFill>
              </a:defRPr>
            </a:pPr>
            <a:r>
              <a:rPr sz="975" b="0">
                <a:solidFill>
                  <a:srgbClr val="243041"/>
                </a:solidFill>
              </a:rPr>
              <a:t>- RL shadow agent and command gatekeeper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AAEF6-4EB1-46EF-81E2-2FE47B2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32435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C4A918-934F-42A6-8B3F-FDB77184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44005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edge AI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A78331-8754-4D74-8B9D-8DBD8E8A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432435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A27A07-BDD2-458B-8F24-1E90B44C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demo proof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8E1677-6CD3-42AC-BA52-28DFF3A6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353050"/>
            <a:ext cx="8001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60A5BD-5389-4AE8-AADA-AB5B532A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353050"/>
            <a:ext cx="8001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60413B-7DFD-475D-90CD-7B36762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543550"/>
            <a:ext cx="765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A37F"/>
                </a:solidFill>
              </a:defRPr>
            </a:pPr>
            <a:r>
              <a:rPr sz="975" b="1">
                <a:solidFill>
                  <a:srgbClr val="10A37F"/>
                </a:solidFill>
              </a:rPr>
              <a:t>Talk track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C413FB-6DA2-4538-9AA6-2B47661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867400"/>
            <a:ext cx="7658100" cy="-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43041"/>
                </a:solidFill>
              </a:defRPr>
            </a:pPr>
            <a:r>
              <a:rPr sz="885" b="0">
                <a:solidFill>
                  <a:srgbClr val="243041"/>
                </a:solidFill>
              </a:rPr>
              <a:t>The workshop pillars are not theoretical: these projects cover business agents, data analysis, retrieval, predictive ML, edge telemetry, APIs, jobs, storage, security controls, and live software delivery.</a:t>
            </a:r>
          </a:p>
        </p:txBody>
      </p:sp>
    </p:spTree>
    <p:extLst>
      <p:ext uri="{BB962C8B-B14F-4D97-AF65-F5344CB8AC3E}">
        <p14:creationId xmlns:p14="http://schemas.microsoft.com/office/powerpoint/2010/main" val="406291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5C2F1-BD00-4749-BE5F-8CE011B5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A3118-654A-49B8-8296-63B58D14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EE446-B814-44BF-85B9-DC6A26F6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44456-CA6F-4C41-AE1B-17529367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70235-6BBF-496C-8BE4-098977ED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63C9-4604-4312-B8CD-6EFEF2B9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BEA48-C8D7-4F4A-975C-35533DF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1E132-1977-4E34-840A-274057F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9EF0E-FE13-46B9-9564-41CF612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C8495-9979-4D41-8A8B-60F21388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5B507-762B-4753-B870-5E87E4C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7AE3C-C633-433A-97AE-1194378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4DA50-3E46-4EC3-98F8-23A3E0B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59279-1BC8-41E9-A35C-F7A5A41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F079B-1EDC-4CD1-83D2-ABCFE6C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7B92C-9332-4924-B0CE-AF0BD3A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E6B-2FB5-46DC-9F4D-7F984C12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20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41F95-68A2-44BC-AB7C-E34F4462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AB8AF-CEA8-40E2-B4DB-1F939E9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Axiom: Procurement Intelligence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B94A5-C8E2-4532-9B96-2D28CED8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business AI, agentic workflows, document intelligence, API integration, cloud architecture, and engineering maturity.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E1A30-8797-4BEF-B580-C622184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810910-9295-414E-AAC8-C053F32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09800"/>
            <a:ext cx="2457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E48D6-FB35-4C9D-8DA7-E0F64D86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2764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Implemented product surface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8BD8C-882D-44B7-B447-C92C36EC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Dashboards for orders, RFQs, suppliers, spend analytics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Supplier risk scoring and operational intelligence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Admin/user management, support tickets, exports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Procurement workflows with structured review surfaces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A80C9-32EA-4660-A974-9F279DE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86B93-B235-4019-95E7-FBF3D412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2098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53FF2-721B-4B85-9CB1-B54A1E18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2764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AI and automation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A0F79-3A94-47B3-BECD-6791522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Agent registry and orchestrator with typed inputs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Demand forecasting, fraud detection, payment optimizer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Contract clause analyzer and negotiation autopilot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Smart approval routing and bottleneck prediction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DAF13-8DCA-429F-9E25-DFCBF1E0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076450"/>
            <a:ext cx="3276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F6F34-BCDC-4AF9-BE80-D19343D1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209800"/>
            <a:ext cx="2305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92ACA-908C-42DC-9A1B-436E73A2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22764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Production software stack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7D4DF7-88A3-4A3E-998E-16611A6F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2628900"/>
            <a:ext cx="2933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Next.js, React, Drizzle ORM, PostgreSQL, NextAuth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Google Generative AI, Azure Blob, Redis, BullMQ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Zod validation, telemetry, rate limiting, audit exports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Smoke, unit, and integration tests for release safety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1C8EC-C863-4D85-B763-01A9D337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7BED3A-1305-4AAF-8380-90A4AFB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0E1E8F-74D6-4762-AA3A-2F7AD84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UX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87A8CD-D2FB-4B08-A3B6-92CF1A3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Dashboards, chat, admin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66D4CC-F521-46C5-90C1-24B5E08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01050-1799-43BD-A19A-5DFC2C51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E752AD-2DCC-4FCF-8516-1293A10C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8D5044-4BCB-4F8C-99B8-2802AFBB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AE6C75-8617-4BB2-90B6-B8737E8D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Routes, auth, 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43C9AE-A553-4095-95E6-9A92C3D5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0575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0F97A7-E78A-49C3-8D95-D9F82CD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4C7620-7E55-450E-A4AB-01A6FB59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B435CD-9AF2-41FF-967C-38FEE409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Agents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8F647D-A253-4769-840F-B58FE6CA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Planner and tools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8F5F0E-5764-428B-A619-5D92E9C0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733644-2974-43AE-8217-4F95665E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925DD0-79DB-447C-9B61-31EA40F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4320E-CB18-4FA5-B74E-BC07DFD0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5F784A-F021-46A5-9C67-57E040D1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Postgres, Blob, Redis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CAFDDB-9DCB-439A-ACE9-F3363D8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4953000"/>
            <a:ext cx="495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5FA6D7-0043-49B4-8F74-87662E4C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462915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115747-DDB9-46B4-95B3-16D462D3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4800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75CC1F-E55A-4513-A5ED-86FD7B1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4781550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76F51"/>
                </a:solidFill>
              </a:defRPr>
            </a:pPr>
            <a:r>
              <a:rPr sz="1013" b="1">
                <a:solidFill>
                  <a:srgbClr val="E76F51"/>
                </a:solidFill>
              </a:rPr>
              <a:t>Ops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FDB3F6-6E79-405F-A161-8383B49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51244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Jobs, audit, telemetry</a:t>
            </a:r>
          </a:p>
        </p:txBody>
      </p:sp>
    </p:spTree>
    <p:extLst>
      <p:ext uri="{BB962C8B-B14F-4D97-AF65-F5344CB8AC3E}">
        <p14:creationId xmlns:p14="http://schemas.microsoft.com/office/powerpoint/2010/main" val="1332930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B0542-BB6F-4F8D-B555-CC103CE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C2DCF-8EC4-4218-BF24-92834553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9C44D-F060-45B0-B597-67580653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8563C-6A1F-46A9-AB6F-38455EB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79CE6-A4CD-4752-9FCB-BA176FD7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40A34-CB03-4EFD-8413-F73E3EE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D90C5-6176-4B6E-B528-49EC3C9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B1050-8127-402B-B9F9-4FBE3E50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636BB-7717-4641-B049-2490D43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98412-3E92-4F22-857A-DD908A0B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CB538-498D-41EE-B22B-0C34B4DC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7CCE1-305B-4034-80AF-B437587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F5851-9D20-481B-9A4E-DF2F814A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F17B1-5FA7-4D4E-B721-08AA260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1A42D-F98A-4BC0-BB29-6728593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3ADF2-B430-470B-AF91-307E661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6FA0B-3766-4649-9B87-FB91CD12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21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56F5D-6B05-48B0-9EC1-793364B1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A5B85-57BC-4C59-A132-4B000445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Mastiff: Conversational Data Analyst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C1CAE-2CE9-4051-A567-7E68981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natural-language analytics, file ingestion, safe code execution, charts, exports, and enterprise data connectors.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99D33A-6BFA-4596-9B71-6F8D477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486ED-7F71-4193-B998-00DFBD5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4A057-45CB-4FB9-BD8C-DE8490A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Upload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5F87C-CD1E-499B-826B-FD2D6C81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CSV, Excel, JSON, Parquet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1AEC7-9A36-4D54-8859-6D964593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53185-BE3F-4328-9DE4-1031627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3FA2C2-82CD-4E67-81BE-69A342CE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761B8-1ADC-4998-9F41-63D5B756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E2D15-715F-4E17-91D6-C453B5BE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Schema, sample rows, metadata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9642E-DE24-4E43-BB58-E6932F4E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CC5B0-CED3-4795-8A54-2E0DF03C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F0A0E7-48E1-4CCA-AB08-100B6280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151119-AC3B-4E77-8284-A36A901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61407A-51D8-4174-A360-48AA8134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LLM creates analysis plan and Python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C8940-CE31-4F1D-ACE7-D4AF5BC6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BA9C2-E5C9-491A-9EC0-8F14E68F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4D6A70-6543-473D-8877-DED8B08B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9D6EDE-73A0-4A31-89AF-357DDAE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Execute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E8E55C-B0BA-4E3A-8944-2BD0FC25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Sandboxed pandas, numpy, matplotlib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EFC7F4-55B7-4187-89B2-CB643364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6479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D5D9E9-977E-494D-9ABF-94081BEA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190750"/>
            <a:ext cx="15811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423097-509E-4E77-AD97-E395C36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362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C2ADA-DAFF-445D-8275-DD4FA3A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3431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2A06B"/>
                </a:solidFill>
              </a:defRPr>
            </a:pPr>
            <a:r>
              <a:rPr sz="1013" b="1">
                <a:solidFill>
                  <a:srgbClr val="22A06B"/>
                </a:solidFill>
              </a:rPr>
              <a:t>Explain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DE8A71-2158-42EE-9A73-005FC81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6860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Charts, narrative insight, export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E96162-763D-4DC6-ABDC-2415A8FB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1DE523-7979-4716-9F9A-517D2197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9243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3C5CDB-2051-4BFB-91A1-2178C31E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9909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API and app surfaces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A75421-96AF-4B97-A538-21584B5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Upload, preview, metadata, delete endpoints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Chat message, history, regenerate endpoints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Visualization and report export endpoints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A3D2E1-32B8-4F7A-8D43-8C85CC6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461763-89AE-4C67-BF40-F0E9D07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3924300"/>
            <a:ext cx="2076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3765B58-0981-4803-B868-1FED7821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39909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Safety and reliability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30168D-906B-4EBC-B479-209E90E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Never execute user code directly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Docker or restricted execution boundary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Timeouts, file limits, no internet, rate limits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FD9DC4-FF33-4564-8863-71E944A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790950"/>
            <a:ext cx="31432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E81401-7F7C-4A52-BD64-FEB3D17B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39243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3E2527-D561-44DB-9DE0-ED08176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9909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Enterprise expansion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9DB30F-06D5-44B4-903A-66DC175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43434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SharePoint, Drive, Snowflake, BigQuery, Postgres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pgvector semantic memory and shared workspaces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Scheduled reports, SSO/SAML, audit logs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0ABD4D-CC0D-4B14-BB65-72FE65C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429250"/>
            <a:ext cx="7962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2B31EA-B1A5-42E4-A68A-0C89740E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5429250"/>
            <a:ext cx="7962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F61E45-28BA-4381-A5D6-0FF100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61975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A37F"/>
                </a:solidFill>
              </a:defRPr>
            </a:pPr>
            <a:r>
              <a:rPr sz="938" b="1">
                <a:solidFill>
                  <a:srgbClr val="10A37F"/>
                </a:solidFill>
              </a:rPr>
              <a:t>Workshop proof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8B1665-E4BF-4ABB-8BB8-88361AC9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5943600"/>
            <a:ext cx="76200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43041"/>
                </a:solidFill>
              </a:defRPr>
            </a:pPr>
            <a:r>
              <a:rPr sz="855" b="0">
                <a:solidFill>
                  <a:srgbClr val="243041"/>
                </a:solidFill>
              </a:rPr>
              <a:t>This project is the clean bridge from AI chat to real analytics: files become schema, schema becomes executable code, execution becomes visual insight, and insight becomes an exportable artifact.</a:t>
            </a:r>
          </a:p>
        </p:txBody>
      </p:sp>
    </p:spTree>
    <p:extLst>
      <p:ext uri="{BB962C8B-B14F-4D97-AF65-F5344CB8AC3E}">
        <p14:creationId xmlns:p14="http://schemas.microsoft.com/office/powerpoint/2010/main" val="1582004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46ECB-B2D1-47B1-BCF3-3F7D895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7648B-C8B9-41D8-B8FA-D0B0A56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30274-E256-40E7-8639-736A74B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774C2-991D-448F-BA2F-736B4EC4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A399F-D642-4210-830D-5C101B3D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669E7-BE58-4209-83F6-414DDF66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3B970-57CC-4858-92F8-EC1116E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0244A-D418-49D5-8E80-3E1AC81E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9E425-75E8-48B6-BE64-29B626D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6B952-F7BE-4F18-AA00-0E42FE8B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D4656-4585-4849-89F8-76A15E5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AC1EF-9DA8-4142-884E-ACF28438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9C35B-F825-481E-8069-E658FE77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B13EC-DD8A-4AA0-A1A1-9771D1A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1BFE8-6CEB-4BF5-99B8-9F277D46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4C536-D84E-4BA7-B48D-2724ECB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F89D1-FD8A-4D79-B73D-6D86ACF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22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7E74A-A310-4747-914D-C219CCE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B969F-CC05-40A5-82F7-BE7D28D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OEE Box: Edge AI + Industrial Intelligence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D76A5-D235-4080-A506-846FF2A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Maps to multimodal/edge telemetry, local retrieval, machine reasoning, data trust, RL shadow mode, and safe command execution.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76EE8-2101-4C4B-BD63-6E6245E1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AD1F4-49DD-4AFF-9995-54A1CE7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CFD63-BDBF-43C9-8B2A-E5CF46D1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Signals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8492F7-45DF-46C6-A02E-04E277C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MQTT, Modbus, OPC-UA, simulator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29509-5C57-4B86-BCDB-27ACA2C9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3F16E-CACD-445B-BFD0-31ABC90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C9ADF-3C34-48CF-82D0-2D972A4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D95A9-A9EB-4955-8526-2E32D43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37F"/>
                </a:solidFill>
              </a:defRPr>
            </a:pPr>
            <a:r>
              <a:rPr sz="1013" b="1">
                <a:solidFill>
                  <a:srgbClr val="10A37F"/>
                </a:solidFill>
              </a:rPr>
              <a:t>Trust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9483D-00A8-4B7F-9BA7-171AD99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Sanitize readings, score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DE138-DE00-4BC6-877F-EED0762B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A0D47-0BD5-4CDF-B153-F2008EB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BC4032-3D17-45F3-BD1C-6055D29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6AA44-8523-46BE-A08C-72E2A854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C3AED"/>
                </a:solidFill>
              </a:defRPr>
            </a:pPr>
            <a:r>
              <a:rPr sz="1013" b="1">
                <a:solidFill>
                  <a:srgbClr val="7C3AED"/>
                </a:solidFill>
              </a:rPr>
              <a:t>Reason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0608A-C399-4F40-8456-5D3369B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OEE calculator, schema inference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AB1E0F-CFC3-4ADE-9FB8-92F1D2B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150726-EC55-4205-861C-7A07056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771D54-1E45-42C7-BA87-865CAFF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B115B-D36A-48C1-81A1-C21CA084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69E2E"/>
                </a:solidFill>
              </a:defRPr>
            </a:pPr>
            <a:r>
              <a:rPr sz="1013" b="1">
                <a:solidFill>
                  <a:srgbClr val="D69E2E"/>
                </a:solidFill>
              </a:rPr>
              <a:t>Assist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C00EA0-0677-41B6-AB65-FB7982BB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Manual RAG, copilot, offline 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AB5B3-C1E1-4E7C-8E63-4706425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2609850"/>
            <a:ext cx="533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82FD13-0E75-46D3-897F-57950DF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114550"/>
            <a:ext cx="15811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49D4EF-54C6-4FC4-BC93-61E558BC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4E37BD-D151-4005-B0F3-1E82A36D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26695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76F51"/>
                </a:solidFill>
              </a:defRPr>
            </a:pPr>
            <a:r>
              <a:rPr sz="1013" b="1">
                <a:solidFill>
                  <a:srgbClr val="E76F51"/>
                </a:solidFill>
              </a:rPr>
              <a:t>Act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A2C979-040C-4203-AEB9-D6A972C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26098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RL shadow suggestions, gatekeeper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EA21AD-3579-4257-BE3F-8B9CF52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8A9712-003F-4615-9C5F-3FAC8BAD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9624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2DE21D-4C04-452A-BF92-ABFB9BDC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0290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Semantic copilot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17BD37-01FB-4E72-9186-827762A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Local RAG over manuals and safety protocols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FAISS with Sentence Transformers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LLM answers operator questions with context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6ECD9A-F638-44D4-891B-ADD35A5F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9929F9-21C3-4AB6-8F58-1D68557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962400"/>
            <a:ext cx="2152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04DA7C-827C-4628-BDFB-EB91DCD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402907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Autonomous intelligence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92AE38-61AF-4702-9F84-0944EBCF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RL agent observes and simulates in shadow mode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Virtual sensors infer missing machine states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Predictive health roadmap with RUL models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745DA2-D4E5-4638-BD00-E6901398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829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BA3574-E2BD-443C-98A4-17715062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9624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290132-0355-4C5B-A612-ACB9F992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290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Safety-by-design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A71FD2-4AAE-4E08-BC1C-910F6BA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4381500"/>
            <a:ext cx="2228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Command gatekeeper before machine action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Offline heuristic fallback when AI is unavailable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Audit trace from signal to suggestion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2B1DB2-E875-452B-A275-A9A4262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829050"/>
            <a:ext cx="2228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006AF0-15FB-4C77-89B6-30CAFFD7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9624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5F4603-2341-4D1C-9C83-36AE385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402907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Real-time stack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AADA69-E9FF-4500-B07B-3EC675F5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7850" y="438150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FastAPI, SQLite async, WebSockets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React, Vite, MUI dashboard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Docker Compose edge deployment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505B63-E82C-40F3-8CAB-095420CA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467350"/>
            <a:ext cx="7658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9564A0-20EC-4673-9162-B30456A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5467350"/>
            <a:ext cx="7658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E2E"/>
          </a:solidFill>
          <a:ln xmlns:a="http://schemas.openxmlformats.org/drawingml/2006/main" w="0">
            <a:solidFill>
              <a:srgbClr val="D69E2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C762A0-4014-4FEA-BBC8-36B65F1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657850"/>
            <a:ext cx="731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69E2E"/>
                </a:solidFill>
              </a:defRPr>
            </a:pPr>
            <a:r>
              <a:rPr sz="938" b="1">
                <a:solidFill>
                  <a:srgbClr val="D69E2E"/>
                </a:solidFill>
              </a:rPr>
              <a:t>Workshop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D7A88E-9CC4-4811-A92E-D251688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5981700"/>
            <a:ext cx="7315200" cy="-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43041"/>
                </a:solidFill>
              </a:defRPr>
            </a:pPr>
            <a:r>
              <a:rPr sz="840" b="0">
                <a:solidFill>
                  <a:srgbClr val="243041"/>
                </a:solidFill>
              </a:rPr>
              <a:t>This project shows AI outside a browser chat box: it reads industrial signals, reasons locally, explains machine behavior, and gates every optimization before action.</a:t>
            </a:r>
          </a:p>
        </p:txBody>
      </p:sp>
    </p:spTree>
    <p:extLst>
      <p:ext uri="{BB962C8B-B14F-4D97-AF65-F5344CB8AC3E}">
        <p14:creationId xmlns:p14="http://schemas.microsoft.com/office/powerpoint/2010/main" val="1392638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612B9-5F23-4793-909F-148E6220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AAA4-394C-4524-AED0-9E4E8DD2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10D14-4D9B-409F-A6E9-3A493672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D848F-DEAF-4943-BF8A-CFFBC72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5D38B-DAF6-4694-8B0D-99E8D44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A1943-BC0E-431A-A227-2ACE139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1BA3B-72CC-4D32-B591-B21B8A2A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501C9-D417-4AEB-896F-2D0D6DC1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C73F4-258C-4533-BA6A-25AAFB74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7409F-C959-44F5-A30B-E95F028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C02E9-FFF9-4F48-BAA7-402E7E9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52961-B856-438D-B3B9-3AA6C43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235E2-FFB6-414D-B2F3-34D0932B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2AFF6-27CB-40B0-BDE3-708585D0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36B5B-711B-4F13-93E6-F67BF8F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52EA1-D0BA-40F2-91DB-69303972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A7DD11-7DF7-4FD2-849E-EB557FF8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23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0F8CB-6A75-4FEF-9C69-E4836A0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A758B-EA46-4124-A926-CB68D87B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Slide-by-Slide Talking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2125C-9E43-45F4-8AFC-2B04B4F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Use this as the presenter cheat sheet: theme first, project proof second, technical competency third.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21E12-B245-46FA-96F7-2F1245CE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114550"/>
            <a:ext cx="106299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34A7AE-0551-44CC-BF18-FCB9063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3431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Workshop theme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3F5F6-ACE6-4F79-B441-9274BBB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3431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Project proof 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03AD3-5824-4D7E-9043-88BBA48C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343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Competency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96F49-F35B-4848-86BE-0987F35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6289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A0FB5A-FBCE-440C-AE6F-9FA54F9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7051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3CA73-63C4-496B-AE70-AD6D1D0A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7527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Capability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277C5-1F7D-4E48-AE74-1BF7464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27241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= business AI; Mastiff = data AI; OEE Box = edge 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978ED4-F40F-4B45-A982-8F478E7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7241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RAG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FD86B-D182-40D1-B691-9EB319B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9908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9DDA0A-6739-475B-A047-2A22799A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670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987781-61F1-4238-8B1B-E9B7F1C9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1146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RAG pipeline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7F0A6-BB99-4FD6-98C9-089FDD5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0861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OEE manuals copilot; Axiom evidence-grounded answers and audit posture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90D37-9443-4016-AFB9-3415756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086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A37F"/>
                </a:solidFill>
              </a:defRPr>
            </a:pPr>
            <a:r>
              <a:rPr sz="825" b="1">
                <a:solidFill>
                  <a:srgbClr val="10A37F"/>
                </a:solidFill>
              </a:rPr>
              <a:t>RAG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98C589-2856-4852-A497-E0F6F0D4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352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69E1E-8B11-4D26-BB5E-E5C7EFB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4290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6652F2-3A6D-4F23-B7D8-77D63E6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4766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Document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7BF3CE-373B-4D3B-9065-CF2FE88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4480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invoice OCR/upload routes; Mastiff file parsing and schema extraction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65C092-D395-49CC-AFC4-33239AA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4480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</a:defRPr>
            </a:pPr>
            <a:r>
              <a:rPr sz="825" b="1">
                <a:solidFill>
                  <a:srgbClr val="7C3AED"/>
                </a:solidFill>
              </a:rPr>
              <a:t>ML/data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1D04D7-FE89-4B4A-9F69-0465D83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37147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82334F-0C0E-4DA2-A9A7-57364CE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7909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F74BC1-043B-4013-816E-BC3C4475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38385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Predictive ML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A25DF2-C028-4003-B3CA-6A93B72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38100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demand forecast and supplier scoring; OEE RL/predictive health roadmap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AC78E6-D30F-462E-8A3D-0C5B07E3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9E2E"/>
                </a:solidFill>
              </a:defRPr>
            </a:pPr>
            <a:r>
              <a:rPr sz="825" b="1">
                <a:solidFill>
                  <a:srgbClr val="D69E2E"/>
                </a:solidFill>
              </a:rPr>
              <a:t>ML/data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2D4F43-78EA-41D6-A05A-C705F34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0767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654595-A9B7-415F-8A66-9398A977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1529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145105-4CFB-4DCA-8228-332FF8F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2005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Agentic workflow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CF4F3-A9A5-4D04-948D-2F50A500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1719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Axiom agent orchestrator; OEE command gatekeeper; Mastiff sandboxed code tool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07006D-0D84-4B9F-BC54-5B2EBCB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171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76F51"/>
                </a:solidFill>
              </a:defRPr>
            </a:pPr>
            <a:r>
              <a:rPr sz="825" b="1">
                <a:solidFill>
                  <a:srgbClr val="E76F51"/>
                </a:solidFill>
              </a:rPr>
              <a:t>APIs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750FDF-1E31-4900-BDB4-18604859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4386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FE1BF0-FE41-45E4-BFDC-84AABF77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51485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9525">
            <a:solidFill>
              <a:srgbClr val="22A06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C4706B-9505-484E-8CEC-E888951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5624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API topology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7DFF11-7400-4AA6-9D43-75A102C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5339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SAP/API routes, cron jobs, queues, email, Blob, Redis, Postgres, MQTT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35F1E0-CF8B-4AE2-BAE6-7472F11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533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A06B"/>
                </a:solidFill>
              </a:defRPr>
            </a:pPr>
            <a:r>
              <a:rPr sz="825" b="1">
                <a:solidFill>
                  <a:srgbClr val="22A06B"/>
                </a:solidFill>
              </a:rPr>
              <a:t>APIs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8177FA8-AF8A-4951-85DF-732DF511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48006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EEF2F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51EAC9-0145-4D13-BBF4-3D40D8B9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76800"/>
            <a:ext cx="1809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BECB54-1114-46D9-B6A2-DEC9762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9244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</a:defRPr>
            </a:pPr>
            <a:r>
              <a:rPr sz="690" b="1">
                <a:solidFill>
                  <a:srgbClr val="FFFFFF"/>
                </a:solidFill>
              </a:rPr>
              <a:t>Developer intelligence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B4915F-82AE-4A04-AC18-4C4E83A6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8958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43041"/>
                </a:solidFill>
              </a:defRPr>
            </a:pPr>
            <a:r>
              <a:rPr sz="915" b="0">
                <a:solidFill>
                  <a:srgbClr val="243041"/>
                </a:solidFill>
              </a:rPr>
              <a:t>Next.js, React, FastAPI, Docker, typed validation, tests, telemetry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AB4BC5-8556-46C1-9966-1E0FB4C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4895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34155"/>
                </a:solidFill>
              </a:defRPr>
            </a:pPr>
            <a:r>
              <a:rPr sz="825" b="1">
                <a:solidFill>
                  <a:srgbClr val="334155"/>
                </a:solidFill>
              </a:rPr>
              <a:t>code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9055AA-4B0A-478E-9D14-CE4022D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619750"/>
            <a:ext cx="876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7BD4B6-A55C-4DB5-829B-3BFFEE54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619750"/>
            <a:ext cx="876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10A37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559FF4-A5EB-406C-9746-1CD5A8FE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5810250"/>
            <a:ext cx="842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</a:defRPr>
            </a:pPr>
            <a:r>
              <a:rPr sz="900" b="1">
                <a:solidFill>
                  <a:srgbClr val="10A37F"/>
                </a:solidFill>
              </a:rPr>
              <a:t>Presenter rhythm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17B54A-BB9D-44AC-8BFF-6724383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6134100"/>
            <a:ext cx="8420100" cy="-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43041"/>
                </a:solidFill>
              </a:defRPr>
            </a:pPr>
            <a:r>
              <a:rPr sz="825" b="0">
                <a:solidFill>
                  <a:srgbClr val="243041"/>
                </a:solidFill>
              </a:rPr>
              <a:t>For every concept slide, say: here is the pattern, here is where we used it, here is the engineering control that makes it reliable.</a:t>
            </a:r>
          </a:p>
        </p:txBody>
      </p:sp>
    </p:spTree>
    <p:extLst>
      <p:ext uri="{BB962C8B-B14F-4D97-AF65-F5344CB8AC3E}">
        <p14:creationId xmlns:p14="http://schemas.microsoft.com/office/powerpoint/2010/main" val="19965089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A06AA6-393E-4EF0-8D4B-48DFCE6FF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84524-E0E5-4752-8A1C-EB9C0C06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4EDBD-F533-4EE1-AD70-891672D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4762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9F155-D6B7-4CBB-8847-82BDCA6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DAB64-4FEA-45DE-A3F1-D97D7952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33375"/>
            <a:ext cx="419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90C57-4662-49FA-9652-9DAD8EE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6700"/>
            <a:ext cx="12096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A84B7-6D87-4869-8F47-BFB6CDFB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"/>
            <a:ext cx="1019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FOUNDATIONS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6C8F8-133D-47E5-9C4C-C563A32C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38BCF-C313-4AD8-B6EE-C7EC4E9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5D2AB-613D-4C21-BA3D-8A45F1A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66700"/>
            <a:ext cx="6953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2CECB-F377-4308-962E-44B7ED4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333375"/>
            <a:ext cx="504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B626B-A700-45FA-A166-12E873E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667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7598C-6C6E-4266-8092-B29705BC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2925" y="333375"/>
            <a:ext cx="933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2E779-5C00-4F30-B41A-F9990AA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66700"/>
            <a:ext cx="8667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2E979-F27C-400E-8099-F061EE07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3375"/>
            <a:ext cx="6762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</a:defRPr>
            </a:pPr>
            <a:r>
              <a:rPr sz="713" b="1">
                <a:solidFill>
                  <a:srgbClr val="64748B"/>
                </a:solidFill>
              </a:rPr>
              <a:t>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82EEB-8F1B-48E7-B34C-4BE39653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266700"/>
            <a:ext cx="1200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F7B9F-9969-44C4-9CA0-ECE0C0A0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4150" y="333375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</a:defRPr>
            </a:pPr>
            <a:r>
              <a:rPr sz="713" b="1">
                <a:solidFill>
                  <a:srgbClr val="FFFFFF"/>
                </a:solidFill>
              </a:rPr>
              <a:t>PROJECT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6AC77-1E9D-42F2-9D0B-54BF767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229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PROJECT MAP  -  24 / 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3BEA5-C36C-4005-AEB6-D9159E9F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0769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B7204-5924-4D48-BE39-9CE597F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7810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Live Demo Run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5A08C-9964-4CF3-B0FF-BD6A088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525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041"/>
                </a:solidFill>
              </a:defRPr>
            </a:pPr>
            <a:r>
              <a:rPr sz="1200" b="0">
                <a:solidFill>
                  <a:srgbClr val="243041"/>
                </a:solidFill>
              </a:rPr>
              <a:t>A practical path for the seven-hour workshop: show breadth, then show code-level and system-level depth.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D2EC7-B207-4FEA-92A3-E340BC4A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36776-81B8-45ED-A13A-1C73546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247900"/>
            <a:ext cx="1695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B1792-22F0-4E48-9253-AD8B2F30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23145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Axiom business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EB0E9-3E6C-47A0-8305-52992407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Open dashboard or supplier view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Show risk/forecast/agent recommendation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Point to audit, queue, API, validation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1FB38-F2B1-4A2B-86B3-132EAA11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E4C0C-9D09-41B1-A49A-551F664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247900"/>
            <a:ext cx="1924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978BC-D74D-4877-A784-3E9F6B4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314575"/>
            <a:ext cx="1695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Mastiff data analyst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92AF6-2041-4002-8894-18408C06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Upload a dataset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Ask a natural-language question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Inspect generated Python, chart, and export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043E9-B7F6-41F1-9C1A-C6AA6106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114550"/>
            <a:ext cx="32194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EE2A3-2686-4055-A423-3473A6E5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22479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9E2E"/>
          </a:solidFill>
          <a:ln xmlns:a="http://schemas.openxmlformats.org/drawingml/2006/main" w="9525">
            <a:solidFill>
              <a:srgbClr val="D69E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848D7-279D-441D-A46E-7FB6259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314575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OEE Box edge 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3A346-7AE4-4E9F-914D-C30EC2AB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667000"/>
            <a:ext cx="28765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Simulate machine telemetry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Ask why OEE dropped</a:t>
            </a:r>
          </a:p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Show RAG answer, trust score, gatekeeper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93A63B-0598-4C95-86E1-0022FBA9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305300"/>
            <a:ext cx="990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934320-D73A-4798-9182-52CB2E9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5148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Closing proof statement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EE1AF-3A1E-4F00-987E-C1EB541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43450"/>
            <a:ext cx="914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7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We are not only prompting models. We are connecting AI to data, APIs, workflows, jobs, security controls, tests, dashboards, and measurable business outcomes.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EDACE-E3C6-48C6-AAA3-D68E0315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035C36-BEEC-4CE4-BA5F-B068C85E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56260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FE0811-3347-4E7A-B67F-01E16E07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6292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Breadth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EE6936-4F2C-4E7B-AF30-0712342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LLMs, RAG, ML, agents, vision-ready flows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62FDC4-8F68-4487-9170-0149503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CE2824-EA30-4FF2-A554-08661E3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5562600"/>
            <a:ext cx="781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A37F"/>
          </a:solidFill>
          <a:ln xmlns:a="http://schemas.openxmlformats.org/drawingml/2006/main" w="9525">
            <a:solidFill>
              <a:srgbClr val="10A37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4F8A03-FF2E-415A-A3B1-E1666301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56292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F27395-654B-4091-BA4C-1A00DB5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Full-stack apps, APIs, queues, data, cloud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5310E0-D206-4D24-BB58-E0B0796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5429250"/>
            <a:ext cx="2686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BB4EDD-0A4E-4454-BA25-962C8CE8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5562600"/>
            <a:ext cx="1009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F3F509-3970-4581-A0DD-027F835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5629275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Maturity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521D57-287D-4D0A-BF49-CC75FC8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981700"/>
            <a:ext cx="2343150" cy="-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041"/>
                </a:solidFill>
              </a:defRPr>
            </a:pPr>
            <a:r>
              <a:rPr sz="900" b="0">
                <a:solidFill>
                  <a:srgbClr val="243041"/>
                </a:solidFill>
              </a:rPr>
              <a:t>- Guardrails, audit, tests, telemetry, fallbacks</a:t>
            </a:r>
          </a:p>
        </p:txBody>
      </p:sp>
    </p:spTree>
    <p:extLst>
      <p:ext uri="{BB962C8B-B14F-4D97-AF65-F5344CB8AC3E}">
        <p14:creationId xmlns:p14="http://schemas.microsoft.com/office/powerpoint/2010/main" val="340422752"/>
      </p:ext>
    </p:extLst>
  </p:cSld>
</p:sld>
</file>

<file path=ppt/theme/theme1.xml><?xml version="1.0" encoding="utf-8"?>
<a:theme xmlns:a="http://schemas.openxmlformats.org/drawingml/2006/main" name="AI Workshop Project Map">
  <a:themeElements>
    <a:clrScheme name="AI Workshop Project Map">
      <a:accent1>
        <a:srgbClr val="10A37F"/>
      </a:accent1>
      <a:accent2>
        <a:srgbClr val="2563EB"/>
      </a:accent2>
      <a:accent3>
        <a:srgbClr val="D69E2E"/>
      </a:accent3>
      <a:accent4>
        <a:srgbClr val="E76F51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 Workshop Project Map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2026-04-22T12:04:59.3200000Z</dcterms:created>
  <dcterms:modified xsi:type="dcterms:W3CDTF">2026-04-22T12:04:59.3200000Z</dcterms:modified>
</coreProperties>
</file>