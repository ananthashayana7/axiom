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01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35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38BDF8">
              <a:alpha val="6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4D399">
              <a:alpha val="6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1325880"/>
            <a:ext cx="9144000" cy="25146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84832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986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443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301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74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457200" y="2304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ideas to reliable intelligent software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data + APIs + product engineering + governance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WITH AGENDA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41605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5176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OPEN DEMO PORTFOLIO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1005840"/>
            <a:ext cx="3200400" cy="3200400"/>
          </a:xfrm>
          <a:prstGeom prst="ellipse">
            <a:avLst/>
          </a:prstGeom>
          <a:solidFill>
            <a:srgbClr val="1A2F4A">
              <a:alpha val="65000"/>
            </a:srgbClr>
          </a:solidFill>
          <a:ln w="635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223760" y="640080"/>
            <a:ext cx="566928" cy="56692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384048" cy="3840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955280" y="1737360"/>
            <a:ext cx="566928" cy="566928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84048" cy="3840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98080" y="2926080"/>
            <a:ext cx="566928" cy="56692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017520"/>
            <a:ext cx="384048" cy="38404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83680" y="365760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749040"/>
            <a:ext cx="384048" cy="38404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760720" y="2834640"/>
            <a:ext cx="566928" cy="566928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926080"/>
            <a:ext cx="384048" cy="38404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035040" y="1554480"/>
            <a:ext cx="566928" cy="56692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164592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•  02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Control Room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into any section, return home anytime, and keep the day moving.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50292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8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Seven-hour flow and pacing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46120" y="1691640"/>
            <a:ext cx="50292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9280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3192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93192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basics, RAG, architecture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26480" y="1691640"/>
            <a:ext cx="50292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9280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81228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showcase demos and runbook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6576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365760" y="3154680"/>
            <a:ext cx="50292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55848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5156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5156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and API connects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246120" y="3154680"/>
            <a:ext cx="50292" cy="1188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355848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3192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93192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evals, responsible AI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2648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6126480" y="3154680"/>
            <a:ext cx="50292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355848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1228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81228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plan and 30-60-90 path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365760" y="45902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slideshow mode - use this control room as your navigation cue.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04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1234440"/>
            <a:ext cx="8321040" cy="111556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032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234440"/>
            <a:ext cx="73152" cy="11155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1298448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is a capability layer: data, models, APIs, UX, evaluation, security, and operations working together."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6352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1016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76072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generation, classification, embeddings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18688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218688" y="26334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816352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078224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3383280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tools, jobs, data, APIs, state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25896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025896" y="2633472"/>
            <a:ext cx="26517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816352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85432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190488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evals, audit logs,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05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show breadth without turning the workshop into a random collection of experiments.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5029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9164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3327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3327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semantic search, citations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46120" y="1508760"/>
            <a:ext cx="50292" cy="13716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69164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1363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91363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extraction, validation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26480" y="1508760"/>
            <a:ext cx="50292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9164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9399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79399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anomalies, risk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6576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365760" y="3063240"/>
            <a:ext cx="50292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4612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3327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03327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approvals, logs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246120" y="3063240"/>
            <a:ext cx="50292" cy="1371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4612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1363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391363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charts, screenshots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2648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6126480" y="3063240"/>
            <a:ext cx="5029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246120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9399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Intelligence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79399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review, docs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06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production-minded AI system coordinates UX, APIs, orchestration, models, retrieval, data, and operations.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72768"/>
            <a:ext cx="5029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1609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16276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dashboards, chat, admin console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93976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093976"/>
            <a:ext cx="50292" cy="43891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21488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REST/GraphQL, auth, validation, rate limits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21671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15184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50292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80360" y="26700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engine, agent planner, queues, approvals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268833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36392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136392"/>
            <a:ext cx="5029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172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Retrieval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31912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embeddings, vector search, reranking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320954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F472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50292" cy="43891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3694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Integrations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80360" y="371246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files, CRM, ERP, email, calendar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37307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78808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4178808"/>
            <a:ext cx="5029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4215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Ops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80360" y="42336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logs, evals, monitoring, CI/CD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46720" y="4251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07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grounds answers in trusted sources instead of asking the model to guess.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82880" y="1536192"/>
            <a:ext cx="138988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" y="166420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3113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56032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7744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tickets, reports, wikis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572768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1618488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1618488" y="1536192"/>
            <a:ext cx="1389888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093976" y="1664208"/>
            <a:ext cx="438912" cy="43891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093976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231136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91640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673352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clean, chunk, enrich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008376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3054096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3054096" y="1536192"/>
            <a:ext cx="1389888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3529584" y="1664208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3529584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2231136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127248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108960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searchable vector signals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443984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4489704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4489704" y="1536192"/>
            <a:ext cx="1389888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4965192" y="1664208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4965192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231136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562856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544568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and reranking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79592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9"/>
          <p:cNvSpPr/>
          <p:nvPr/>
        </p:nvSpPr>
        <p:spPr>
          <a:xfrm>
            <a:off x="5925312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0"/>
          <p:cNvSpPr/>
          <p:nvPr/>
        </p:nvSpPr>
        <p:spPr>
          <a:xfrm>
            <a:off x="5925312" y="1536192"/>
            <a:ext cx="1389888" cy="5029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1"/>
          <p:cNvSpPr/>
          <p:nvPr/>
        </p:nvSpPr>
        <p:spPr>
          <a:xfrm>
            <a:off x="6400800" y="1664208"/>
            <a:ext cx="438912" cy="43891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400800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231136"/>
            <a:ext cx="365760" cy="36576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998464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5980176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 with citations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7315200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6"/>
          <p:cNvSpPr/>
          <p:nvPr/>
        </p:nvSpPr>
        <p:spPr>
          <a:xfrm>
            <a:off x="7360920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7"/>
          <p:cNvSpPr/>
          <p:nvPr/>
        </p:nvSpPr>
        <p:spPr>
          <a:xfrm>
            <a:off x="7360920" y="1536192"/>
            <a:ext cx="138988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8"/>
          <p:cNvSpPr/>
          <p:nvPr/>
        </p:nvSpPr>
        <p:spPr>
          <a:xfrm>
            <a:off x="7836408" y="166420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9"/>
          <p:cNvSpPr/>
          <p:nvPr/>
        </p:nvSpPr>
        <p:spPr>
          <a:xfrm>
            <a:off x="783640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2231136"/>
            <a:ext cx="365760" cy="36576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7434072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7415784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golden tests, refusal checks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182880" y="3913632"/>
            <a:ext cx="87782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3"/>
          <p:cNvSpPr/>
          <p:nvPr/>
        </p:nvSpPr>
        <p:spPr>
          <a:xfrm>
            <a:off x="182880" y="3913632"/>
            <a:ext cx="64008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384048" y="3931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Contract</a:t>
            </a:r>
            <a:endParaRPr lang="en-US" sz="1100" dirty="0"/>
          </a:p>
        </p:txBody>
      </p:sp>
      <p:sp>
        <p:nvSpPr>
          <p:cNvPr id="63" name="Text 55"/>
          <p:cNvSpPr/>
          <p:nvPr/>
        </p:nvSpPr>
        <p:spPr>
          <a:xfrm>
            <a:off x="384048" y="424281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directly, cite sources, separate fact from interpretation, show uncertainty, and refuse unsupported questions.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08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Knowledge Copilot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knowledge assistant that answers from approved documents with citations and refusal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19659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24712" y="18288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247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connect docs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and metadata filters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3172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1460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14600" y="1664208"/>
            <a:ext cx="196596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73552" y="1828800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grounded question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selects 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196596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22392" y="18288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223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citations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and inspect context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1228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12280" y="1664208"/>
            <a:ext cx="196596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571232" y="182880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712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question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or ask for clarification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" y="4233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  · 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hybrid retrieval, reranking, citations, feedback loop, evaluation 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09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Document Intelligence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unstructured documents into validated, reviewable, API-ready structured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1572768"/>
            <a:ext cx="150876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5623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84832" y="1572768"/>
            <a:ext cx="1508760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8483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9359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22192" y="1572768"/>
            <a:ext cx="15087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2219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3095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59552" y="1572768"/>
            <a:ext cx="1508760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5955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6831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96912" y="1572768"/>
            <a:ext cx="1508760" cy="4754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9691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7472" y="2331720"/>
            <a:ext cx="50292" cy="2331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68880"/>
            <a:ext cx="411480" cy="411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7899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463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fields are defined up front and validated before export.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2783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3227832" y="2331720"/>
            <a:ext cx="50292" cy="2331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468880"/>
            <a:ext cx="411480" cy="4114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95935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336499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values are routed to human review instead of hidden.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10819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6108192" y="2331720"/>
            <a:ext cx="50292" cy="2331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468880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83971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24535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 payloads can move into workflow systems safely.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10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Predictive ML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applied AI is broader than chat: forecasting, anomaly detection, scoring, and decision support.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" y="2157984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7784" y="2359152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50545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7784" y="2706624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467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2852928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57784" y="3054096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2004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57784" y="3401568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4672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" y="3547872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57784" y="3749040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4672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" y="3895344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57784" y="4096512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" y="424281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4672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0" y="16642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Demo Scorecard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0" y="2212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06440" y="2286000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806440" y="2286000"/>
            <a:ext cx="209946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430768" y="22128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06440" y="2907792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806440" y="2907792"/>
            <a:ext cx="1715414" cy="182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30768" y="2834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3456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3529584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806440" y="3529584"/>
            <a:ext cx="2329891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430768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0" y="40782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06440" y="4151376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806440" y="4151376"/>
            <a:ext cx="2253082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430768" y="40782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4663440"/>
            <a:ext cx="4206240" cy="3200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1772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metrics to show that ML is measurable, not magical.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11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4: Agentic Workflow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answers to controlled actions through typed tools, approvals, API execution, and audit logs.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2880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98448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44752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44752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06624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06624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22192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68496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68496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4064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30368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30368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45936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92240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07808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54112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54112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2359152"/>
            <a:ext cx="50292" cy="2331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05456"/>
            <a:ext cx="402336" cy="40233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6070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Boundary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9377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 and write tools are separate. External writes require explicit approval.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4612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3246120" y="2359152"/>
            <a:ext cx="50292" cy="2331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505456"/>
            <a:ext cx="402336" cy="40233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394106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337413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a schema, validation, timeout, retry behavior, and audit payload.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12648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>
            <a:off x="6126480" y="2359152"/>
            <a:ext cx="50292" cy="2331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505456"/>
            <a:ext cx="402336" cy="402336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82142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Mode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625449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proposed actions before execution. Keep demos safe and inspectable.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12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Topology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becomes useful when it can safely read context, call tools, and write approved outcomes.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0" y="1965960"/>
            <a:ext cx="2194560" cy="1188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0200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15910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15468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" y="32826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011680" y="434340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FBBF2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448056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487168" y="4471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623560" y="434340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8BD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48056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99048" y="4471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498080" y="146304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6002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73568" y="15910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Systems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498080" y="315468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29184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73568" y="32826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Permission first, then retrieval, then action.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13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and Visual AI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screenshots, charts, forms, and video frames become first-class inputs for intelligent workflows.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27632"/>
            <a:ext cx="19659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24128" y="1874520"/>
            <a:ext cx="658368" cy="6583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99339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Analyzer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UI states and errors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1460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514600" y="1627632"/>
            <a:ext cx="196596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172968" y="1874520"/>
            <a:ext cx="658368" cy="6583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993392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0604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Image Reader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62432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structured extraction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6344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663440" y="1627632"/>
            <a:ext cx="196596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321808" y="1874520"/>
            <a:ext cx="658368" cy="6583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99339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Explainer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77316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visual data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81228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812280" y="1627632"/>
            <a:ext cx="196596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470648" y="1874520"/>
            <a:ext cx="658368" cy="6583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993392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72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QA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2200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defects and flag uncertainty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+ Human Review keeps AI visual outputs safe and auditable.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14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Intelligence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understand code, generate tests, review diffs, explain logs, and speed up delivery.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54864" cy="2606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24128" y="1920240"/>
            <a:ext cx="658368" cy="65836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03911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548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 repo, explain modules, map dependencies.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1460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514600" y="1719072"/>
            <a:ext cx="54864" cy="2606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172968" y="1920240"/>
            <a:ext cx="658368" cy="658368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039112"/>
            <a:ext cx="402336" cy="40233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2432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262432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focused unit tests and API documentation.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6344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663440" y="1719072"/>
            <a:ext cx="54864" cy="2606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321808" y="1920240"/>
            <a:ext cx="658368" cy="65836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039112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7316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77316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diffs for bugs, regressions, missing tests.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1228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812280" y="1719072"/>
            <a:ext cx="54864" cy="2606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470648" y="1920240"/>
            <a:ext cx="658368" cy="65836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2039112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2200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2200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logs and propose next diagnostic checks.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365760" y="4526280"/>
            <a:ext cx="64008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548640" y="454456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review remains the gate: AI proposes, engineers verify, tests prove.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•  15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Deep Dive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should prove full-stack competence, not only model familiarity.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5361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5029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719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87552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" y="1975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UI, dashboards, chat, uploads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7720" y="15361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17720" y="1536192"/>
            <a:ext cx="50292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71907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9512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239512" y="1975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APIs, auth, validation, background jobs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25877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65760" y="2587752"/>
            <a:ext cx="5029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77063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7552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87552" y="3026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object storage, vector search, cache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17720" y="25877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4617720" y="2587752"/>
            <a:ext cx="50292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770632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39512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239512" y="3026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embeddings, vision, speech, classical ML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65760" y="36393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65760" y="3639312"/>
            <a:ext cx="50292" cy="868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822192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87552" y="4078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tests, containers, staged deploys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617720" y="36393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4617720" y="3639312"/>
            <a:ext cx="5029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3822192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39512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239512" y="4078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traces, metrics, cost controls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•  16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Security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mature question is not only what the model can do — it is how we know it works and keeps it safe.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6384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6384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6384" y="3182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source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6384" y="3712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prompts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Controls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2084832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28032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connector gets only the scope it needs.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523744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2523744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28032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Access-aware retrieval —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content before the model sees it.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62656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2962656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28032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—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writes require explicit human approval.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01568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3401568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28032" y="34381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—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prompts, tool calls, decisions, and outcomes.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840480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28032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 —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3877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cannot override system/tool rules.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279392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4279392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28032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 — 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quotas, caching, and model routing.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34840" y="1554480"/>
            <a:ext cx="457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•  17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Timeline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Wednesday, April 22, 2026 to Workshop Day on Tuesday, April 28, 2026.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78638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4632" y="2084832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57400" y="2084832"/>
            <a:ext cx="310896" cy="3108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5564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64208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demos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2084832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28416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visuals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02936" y="2084832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01184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25–26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backups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75704" y="2084832"/>
            <a:ext cx="310896" cy="3108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73952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82512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rehearsal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48472" y="2084832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4672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5528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Day! 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5760" y="3246120"/>
            <a:ext cx="50292" cy="15727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692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Checklist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3730752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124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64408" y="3730752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53872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61888" y="4206240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36208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4206240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1248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64408" y="4681728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538728" y="4681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61888" y="4681728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36208" y="4681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and commands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•  18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30-60-90 Roadmap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workshop energy into pilots, integrations, governance, and measurable production value.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2697480" cy="594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66928" y="265176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4124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 cases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3163824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124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367588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4124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bounded prototypes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612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246120" y="1664208"/>
            <a:ext cx="2697480" cy="594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47088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2336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02336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3447288" y="2651760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372160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users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447288" y="3163824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372160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APIs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447288" y="3675888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372160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evaluation sets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447288" y="4187952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3721608" y="4114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security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12648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6126480" y="1664208"/>
            <a:ext cx="2697480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47088"/>
            <a:ext cx="438912" cy="4389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0372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90372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700" dirty="0"/>
          </a:p>
        </p:txBody>
      </p:sp>
      <p:sp>
        <p:nvSpPr>
          <p:cNvPr id="42" name="Shape 37"/>
          <p:cNvSpPr/>
          <p:nvPr/>
        </p:nvSpPr>
        <p:spPr>
          <a:xfrm>
            <a:off x="6327648" y="265176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660196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winners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327648" y="316382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/>
          <p:nvPr/>
        </p:nvSpPr>
        <p:spPr>
          <a:xfrm>
            <a:off x="660196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quality/cost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327648" y="367588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60196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reusable AI platform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38BDF8">
              <a:alpha val="6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4D399">
              <a:alpha val="6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•  19 / 24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Closing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64592" y="65836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1298448"/>
            <a:ext cx="8412480" cy="71323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1298448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135331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advantage is not access to models. The advantage is knowing how to turn models into reliable capability."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457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95728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3268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prevent hallucinations?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4612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46120" y="2212848"/>
            <a:ext cx="45720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2395728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1304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workflows should be productionized first?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2648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126480" y="2212848"/>
            <a:ext cx="45720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39572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9340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connect AI safely to APIs?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65760" y="3172968"/>
            <a:ext cx="434340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65760" y="3172968"/>
            <a:ext cx="4572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355848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2688" y="3300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quality and cost?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46120" y="3172968"/>
            <a:ext cx="434340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3246120" y="3172968"/>
            <a:ext cx="45720" cy="7772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35584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13048" y="3300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and governance are required?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powerful. Reliable AI capability comes from the system around them.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2C12A8-CA94-9AE0-0884-80E6622E67CE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06BD85-8B17-90EA-5870-588D3F4C3539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C12808-7160-03E1-41D9-A982BA1CE76E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3C86B-4892-BAC9-4D52-B283DAB6544D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149E36-AD23-C8EA-8136-0A0B0D156334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DB074-4ED9-395F-14C5-FE69C80AF743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3D0F6F-5FC8-CDD0-8D91-557B591BE5BE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B6EF0-EAC2-13C9-3356-96AA357CE5B4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021EEA-99E2-6224-8BB2-C2E13D2E474D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15387-76C9-9A07-4AAC-74A643797E78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891E10-BF42-66E3-9F72-49419A926666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823A6-2629-9AC4-2D53-FA2B227F7EDA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7A2FFE-29A1-CD80-A9FE-B82296E800B3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1B60B-95BB-4440-43C5-2A9171FB33D8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29D7C5-BD4D-50C6-0386-10D77DAAE722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0E54A8-F6F6-51B5-7369-5BCF0D9D39CA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E964E-180B-F6F1-7062-6C35C58D2025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52A1-DE98-8209-C833-E00ED0D630D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19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DD8ADF-740C-A71B-107B-235DF7B87BCF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Project Mapping 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DE4A1-CE42-F958-CB19-5FA2C693A4ED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Use this section to convert the workshop from a generic AI talk into proof from our own software work.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DEB642-399F-00AD-C692-E969AD705EFD}"/>
              </a:ext>
            </a:extLst>
          </p:cNvPr>
          <p:cNvSpPr/>
          <p:nvPr/>
        </p:nvSpPr>
        <p:spPr>
          <a:xfrm>
            <a:off x="500063" y="1557338"/>
            <a:ext cx="2500312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D3133A-F161-26B1-F588-14B13A5D508E}"/>
              </a:ext>
            </a:extLst>
          </p:cNvPr>
          <p:cNvSpPr/>
          <p:nvPr/>
        </p:nvSpPr>
        <p:spPr>
          <a:xfrm>
            <a:off x="500063" y="1557338"/>
            <a:ext cx="2500312" cy="571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3ABD9-62A7-2ECB-F6C2-FC1C30046F40}"/>
              </a:ext>
            </a:extLst>
          </p:cNvPr>
          <p:cNvSpPr txBox="1"/>
          <p:nvPr/>
        </p:nvSpPr>
        <p:spPr>
          <a:xfrm>
            <a:off x="657225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2563EB"/>
                </a:solidFill>
                <a:latin typeface="Poppins" panose="00000500000000000000" pitchFamily="2" charset="0"/>
              </a:rPr>
              <a:t>Axiom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E480EF-0792-45D6-1AA0-B9822D03E536}"/>
              </a:ext>
            </a:extLst>
          </p:cNvPr>
          <p:cNvSpPr txBox="1"/>
          <p:nvPr/>
        </p:nvSpPr>
        <p:spPr>
          <a:xfrm>
            <a:off x="657225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Procurement 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DEA83-56B1-DA47-C1E9-E1D6440E786A}"/>
              </a:ext>
            </a:extLst>
          </p:cNvPr>
          <p:cNvSpPr txBox="1"/>
          <p:nvPr/>
        </p:nvSpPr>
        <p:spPr>
          <a:xfrm>
            <a:off x="685800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Agents, supplier risk, demand forecast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Invoice OCR, SAP/API route, audit export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Next.js, Postgres, Redis queues, Azure stack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964345-F213-C90D-7007-6B3AC440498A}"/>
              </a:ext>
            </a:extLst>
          </p:cNvPr>
          <p:cNvSpPr/>
          <p:nvPr/>
        </p:nvSpPr>
        <p:spPr>
          <a:xfrm>
            <a:off x="657225" y="3243263"/>
            <a:ext cx="900113" cy="214312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9195DD-B4DA-5AAE-A25F-0E8AC6AB9A0F}"/>
              </a:ext>
            </a:extLst>
          </p:cNvPr>
          <p:cNvSpPr txBox="1"/>
          <p:nvPr/>
        </p:nvSpPr>
        <p:spPr>
          <a:xfrm>
            <a:off x="728663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business AI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EFE449-0044-F681-9667-F8A4DD39D384}"/>
              </a:ext>
            </a:extLst>
          </p:cNvPr>
          <p:cNvSpPr/>
          <p:nvPr/>
        </p:nvSpPr>
        <p:spPr>
          <a:xfrm>
            <a:off x="1657350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FC642-7538-5D6B-F97E-421F4774A8B0}"/>
              </a:ext>
            </a:extLst>
          </p:cNvPr>
          <p:cNvSpPr txBox="1"/>
          <p:nvPr/>
        </p:nvSpPr>
        <p:spPr>
          <a:xfrm>
            <a:off x="1728788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2A9711-1BB0-FFE7-81FB-A97C30D2607F}"/>
              </a:ext>
            </a:extLst>
          </p:cNvPr>
          <p:cNvSpPr/>
          <p:nvPr/>
        </p:nvSpPr>
        <p:spPr>
          <a:xfrm>
            <a:off x="3286125" y="1557338"/>
            <a:ext cx="2500313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52165F-BE97-AE97-D26A-18AC1A92F2F2}"/>
              </a:ext>
            </a:extLst>
          </p:cNvPr>
          <p:cNvSpPr/>
          <p:nvPr/>
        </p:nvSpPr>
        <p:spPr>
          <a:xfrm>
            <a:off x="3286125" y="1557338"/>
            <a:ext cx="2500313" cy="57150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8724FE-7358-3D70-697C-3EBB2007CB92}"/>
              </a:ext>
            </a:extLst>
          </p:cNvPr>
          <p:cNvSpPr txBox="1"/>
          <p:nvPr/>
        </p:nvSpPr>
        <p:spPr>
          <a:xfrm>
            <a:off x="3443288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10A37F"/>
                </a:solidFill>
                <a:latin typeface="Poppins" panose="00000500000000000000" pitchFamily="2" charset="0"/>
              </a:rPr>
              <a:t>Mastiff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833D-C9FC-98EA-4A0C-AC06FA2B6B52}"/>
              </a:ext>
            </a:extLst>
          </p:cNvPr>
          <p:cNvSpPr txBox="1"/>
          <p:nvPr/>
        </p:nvSpPr>
        <p:spPr>
          <a:xfrm>
            <a:off x="3443288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Conversational data analyst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B8E92D-17BF-C492-EF0C-BC332F18E2AD}"/>
              </a:ext>
            </a:extLst>
          </p:cNvPr>
          <p:cNvSpPr txBox="1"/>
          <p:nvPr/>
        </p:nvSpPr>
        <p:spPr>
          <a:xfrm>
            <a:off x="3471863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CSV/Excel/JSON/Parquet ingestion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LLM-to-Python sandbox execution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Charts, report export, sessions, connectors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4D1BC0-A3C9-CA67-D39F-174C5E9CB9CF}"/>
              </a:ext>
            </a:extLst>
          </p:cNvPr>
          <p:cNvSpPr/>
          <p:nvPr/>
        </p:nvSpPr>
        <p:spPr>
          <a:xfrm>
            <a:off x="3443288" y="3243263"/>
            <a:ext cx="900112" cy="214312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5E862A-4EAC-7BA1-382C-23799DD98B01}"/>
              </a:ext>
            </a:extLst>
          </p:cNvPr>
          <p:cNvSpPr txBox="1"/>
          <p:nvPr/>
        </p:nvSpPr>
        <p:spPr>
          <a:xfrm>
            <a:off x="3514725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data AI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997C980-AF50-6512-C2D1-159E1CC44C71}"/>
              </a:ext>
            </a:extLst>
          </p:cNvPr>
          <p:cNvSpPr/>
          <p:nvPr/>
        </p:nvSpPr>
        <p:spPr>
          <a:xfrm>
            <a:off x="4443413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0C5260-6458-827C-AFCA-9D29DB4B5472}"/>
              </a:ext>
            </a:extLst>
          </p:cNvPr>
          <p:cNvSpPr txBox="1"/>
          <p:nvPr/>
        </p:nvSpPr>
        <p:spPr>
          <a:xfrm>
            <a:off x="4514850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7E0C54-FA78-3CCB-0FB1-2FD53A1AFCB8}"/>
              </a:ext>
            </a:extLst>
          </p:cNvPr>
          <p:cNvSpPr/>
          <p:nvPr/>
        </p:nvSpPr>
        <p:spPr>
          <a:xfrm>
            <a:off x="6072188" y="1557338"/>
            <a:ext cx="2500312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01FA1C-1F86-7E00-8552-F3EB822F16E7}"/>
              </a:ext>
            </a:extLst>
          </p:cNvPr>
          <p:cNvSpPr/>
          <p:nvPr/>
        </p:nvSpPr>
        <p:spPr>
          <a:xfrm>
            <a:off x="6072188" y="1557338"/>
            <a:ext cx="2500312" cy="57150"/>
          </a:xfrm>
          <a:prstGeom prst="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87A48F-9EEE-9278-1ABD-95C5211827EF}"/>
              </a:ext>
            </a:extLst>
          </p:cNvPr>
          <p:cNvSpPr txBox="1"/>
          <p:nvPr/>
        </p:nvSpPr>
        <p:spPr>
          <a:xfrm>
            <a:off x="6229350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D69E2E"/>
                </a:solidFill>
                <a:latin typeface="Poppins" panose="00000500000000000000" pitchFamily="2" charset="0"/>
              </a:rPr>
              <a:t>OEE Box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FDD0-42EE-29AE-8577-A1B5ABD53AF2}"/>
              </a:ext>
            </a:extLst>
          </p:cNvPr>
          <p:cNvSpPr txBox="1"/>
          <p:nvPr/>
        </p:nvSpPr>
        <p:spPr>
          <a:xfrm>
            <a:off x="6229350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Industrial edge AI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D2D05E-3D20-3152-E023-34933A163F3B}"/>
              </a:ext>
            </a:extLst>
          </p:cNvPr>
          <p:cNvSpPr txBox="1"/>
          <p:nvPr/>
        </p:nvSpPr>
        <p:spPr>
          <a:xfrm>
            <a:off x="6257925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MQTT, Modbus, OPC-UA machine data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Local RAG, schema inference, trust score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RL shadow agent and command gatekeeper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3FDD6D2-A61F-8B50-62D3-FAE0582C00AC}"/>
              </a:ext>
            </a:extLst>
          </p:cNvPr>
          <p:cNvSpPr/>
          <p:nvPr/>
        </p:nvSpPr>
        <p:spPr>
          <a:xfrm>
            <a:off x="6229350" y="3243263"/>
            <a:ext cx="900113" cy="214312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C4E660-F6ED-F66D-8D6F-3AE1F3E48F82}"/>
              </a:ext>
            </a:extLst>
          </p:cNvPr>
          <p:cNvSpPr txBox="1"/>
          <p:nvPr/>
        </p:nvSpPr>
        <p:spPr>
          <a:xfrm>
            <a:off x="6300788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edge AI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1A74746-09C2-51E0-4878-CA89B74E1709}"/>
              </a:ext>
            </a:extLst>
          </p:cNvPr>
          <p:cNvSpPr/>
          <p:nvPr/>
        </p:nvSpPr>
        <p:spPr>
          <a:xfrm>
            <a:off x="7229475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366F31-E63B-5B97-0992-693A4C49270A}"/>
              </a:ext>
            </a:extLst>
          </p:cNvPr>
          <p:cNvSpPr txBox="1"/>
          <p:nvPr/>
        </p:nvSpPr>
        <p:spPr>
          <a:xfrm>
            <a:off x="7300913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5458119-7033-38F1-8500-FA17EA47EF5F}"/>
              </a:ext>
            </a:extLst>
          </p:cNvPr>
          <p:cNvSpPr/>
          <p:nvPr/>
        </p:nvSpPr>
        <p:spPr>
          <a:xfrm>
            <a:off x="1571625" y="4014788"/>
            <a:ext cx="6000750" cy="41433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060B68-CEEE-51B8-FEC6-F1E2208E15E7}"/>
              </a:ext>
            </a:extLst>
          </p:cNvPr>
          <p:cNvSpPr/>
          <p:nvPr/>
        </p:nvSpPr>
        <p:spPr>
          <a:xfrm>
            <a:off x="1571625" y="4014788"/>
            <a:ext cx="6000750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EA6DB-3F45-FD09-753A-6D168294455D}"/>
              </a:ext>
            </a:extLst>
          </p:cNvPr>
          <p:cNvSpPr txBox="1"/>
          <p:nvPr/>
        </p:nvSpPr>
        <p:spPr>
          <a:xfrm>
            <a:off x="1700213" y="4157663"/>
            <a:ext cx="57435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Talk track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A50C54-A749-BC03-9700-01546E11198A}"/>
              </a:ext>
            </a:extLst>
          </p:cNvPr>
          <p:cNvSpPr txBox="1"/>
          <p:nvPr/>
        </p:nvSpPr>
        <p:spPr>
          <a:xfrm>
            <a:off x="1700213" y="4400550"/>
            <a:ext cx="57435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The workshop pillars are not theoretical: these projects cover business agents, data analysis, retrieval, predictive ML, edge telemetry, APIs, jobs, storage, security controls, and live software delivery.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30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3C93D9D-F188-ECC4-3F85-2812E1BC8810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5D646B-D2DA-F57B-9F75-636490B1875C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2845D1-D853-6204-4FE8-0598D16AE905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62C1D-8D9A-F5E2-D4C3-CC48F232FC6F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712695-22ED-0A3A-EBCB-2A64B04DBF7F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FC78F-727B-FFDE-3897-E7D28E239AA9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AC93C3-100A-8D24-69E5-A9595910F7C7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5C07B-41DF-5956-4370-002E90647B9A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D4F227-7EF4-62AA-3977-1F773CB2614B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2DDCF-8AED-8AAD-B2A8-838BEE7F301C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603874-63D4-63FD-684B-33204211623E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6AEEF-01D0-6E29-A6BD-575A1E941369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B4134F-030A-A9B0-C5A1-A1E419BD12CB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98215-EF1C-C046-7AE9-2020C88AF87B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19F056-A613-2240-3415-B7DC709F8FE9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CFBCE8-C02D-81A4-813D-7B8667D4A8DF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81A11E-1F07-1C2A-464F-3BCFA4CAD5ED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37153-9903-9C51-70B9-9A54CF19FEF9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20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997CE-ACE1-DA1F-D8C2-6358421473BE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Axiom: Procurement Intelligence Proof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6C92B6-D281-6F5D-AEF6-74589F0A3481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business AI, agentic workflows, document intelligence, API integration, cloud architecture, and engineering maturity.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6F2489-F141-7E84-FD18-AE824F7E80F1}"/>
              </a:ext>
            </a:extLst>
          </p:cNvPr>
          <p:cNvSpPr/>
          <p:nvPr/>
        </p:nvSpPr>
        <p:spPr>
          <a:xfrm>
            <a:off x="500063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4A0062-2C0A-0143-A457-555D2792408A}"/>
              </a:ext>
            </a:extLst>
          </p:cNvPr>
          <p:cNvSpPr/>
          <p:nvPr/>
        </p:nvSpPr>
        <p:spPr>
          <a:xfrm>
            <a:off x="600075" y="1657350"/>
            <a:ext cx="18430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D899E-B397-78A3-49AA-B6EBB5C59D5F}"/>
              </a:ext>
            </a:extLst>
          </p:cNvPr>
          <p:cNvSpPr txBox="1"/>
          <p:nvPr/>
        </p:nvSpPr>
        <p:spPr>
          <a:xfrm>
            <a:off x="671513" y="1693069"/>
            <a:ext cx="17002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Implemented product surface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65E273-9213-3192-7C7B-79AF612D4A3E}"/>
              </a:ext>
            </a:extLst>
          </p:cNvPr>
          <p:cNvSpPr txBox="1"/>
          <p:nvPr/>
        </p:nvSpPr>
        <p:spPr>
          <a:xfrm>
            <a:off x="628650" y="1971675"/>
            <a:ext cx="2200275" cy="701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Dashboards for orders, RFQs, suppliers, spend analytics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Supplier risk scoring and operational intelligence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Admin/user management, support tickets, exports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Procurement workflows with structured review surfaces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9D203D-C966-B18C-1A23-058E13FF347F}"/>
              </a:ext>
            </a:extLst>
          </p:cNvPr>
          <p:cNvSpPr/>
          <p:nvPr/>
        </p:nvSpPr>
        <p:spPr>
          <a:xfrm>
            <a:off x="3343275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E693FB-CD90-C5C1-ED99-6AC67DFDF59F}"/>
              </a:ext>
            </a:extLst>
          </p:cNvPr>
          <p:cNvSpPr/>
          <p:nvPr/>
        </p:nvSpPr>
        <p:spPr>
          <a:xfrm>
            <a:off x="3443288" y="1657350"/>
            <a:ext cx="1614487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90EE1-7CC2-25A5-A809-7602A30B2A15}"/>
              </a:ext>
            </a:extLst>
          </p:cNvPr>
          <p:cNvSpPr txBox="1"/>
          <p:nvPr/>
        </p:nvSpPr>
        <p:spPr>
          <a:xfrm>
            <a:off x="3514725" y="1693069"/>
            <a:ext cx="1471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AI and automation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1B283A-5841-7A95-8D5E-593D01C1F9F1}"/>
              </a:ext>
            </a:extLst>
          </p:cNvPr>
          <p:cNvSpPr txBox="1"/>
          <p:nvPr/>
        </p:nvSpPr>
        <p:spPr>
          <a:xfrm>
            <a:off x="3471863" y="1971675"/>
            <a:ext cx="2200275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Agent registry and orchestrator with typed inputs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Demand forecasting, fraud detection, payment optimizer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Contract clause analyzer and negotiation autopilot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Smart approval routing and bottleneck prediction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06CF24-7C55-2F96-6036-3785E207EA7C}"/>
              </a:ext>
            </a:extLst>
          </p:cNvPr>
          <p:cNvSpPr/>
          <p:nvPr/>
        </p:nvSpPr>
        <p:spPr>
          <a:xfrm>
            <a:off x="6186488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77CE737-5187-EBEF-038A-F9EE7FAC6A26}"/>
              </a:ext>
            </a:extLst>
          </p:cNvPr>
          <p:cNvSpPr/>
          <p:nvPr/>
        </p:nvSpPr>
        <p:spPr>
          <a:xfrm>
            <a:off x="6286500" y="1657350"/>
            <a:ext cx="1728788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6EE06F-312C-9938-8F69-5BDFACB39433}"/>
              </a:ext>
            </a:extLst>
          </p:cNvPr>
          <p:cNvSpPr txBox="1"/>
          <p:nvPr/>
        </p:nvSpPr>
        <p:spPr>
          <a:xfrm>
            <a:off x="6357938" y="1693069"/>
            <a:ext cx="15859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Production software stack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CA2D67-D5E0-AAAB-3CCC-220FFF517B08}"/>
              </a:ext>
            </a:extLst>
          </p:cNvPr>
          <p:cNvSpPr txBox="1"/>
          <p:nvPr/>
        </p:nvSpPr>
        <p:spPr>
          <a:xfrm>
            <a:off x="6315075" y="1971675"/>
            <a:ext cx="2200275" cy="8186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Next.js, React, Drizzle ORM, PostgreSQL, NextAuth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Google Generative AI, Azure Blob, Redis, BullMQ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Zod validation, telemetry, rate limiting, audit exports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Smoke, unit, and integration tests for release safety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632F8A4-2EFE-F519-469D-04D7A015E53B}"/>
              </a:ext>
            </a:extLst>
          </p:cNvPr>
          <p:cNvSpPr/>
          <p:nvPr/>
        </p:nvSpPr>
        <p:spPr>
          <a:xfrm>
            <a:off x="571500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5B4681-E178-54DA-B228-2E151439CADB}"/>
              </a:ext>
            </a:extLst>
          </p:cNvPr>
          <p:cNvSpPr/>
          <p:nvPr/>
        </p:nvSpPr>
        <p:spPr>
          <a:xfrm>
            <a:off x="671513" y="360045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AC7819-42E9-737B-F319-3FAADE07D938}"/>
              </a:ext>
            </a:extLst>
          </p:cNvPr>
          <p:cNvSpPr txBox="1"/>
          <p:nvPr/>
        </p:nvSpPr>
        <p:spPr>
          <a:xfrm>
            <a:off x="942975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UX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EB188D-7026-692C-EF45-3094D685352F}"/>
              </a:ext>
            </a:extLst>
          </p:cNvPr>
          <p:cNvSpPr txBox="1"/>
          <p:nvPr/>
        </p:nvSpPr>
        <p:spPr>
          <a:xfrm>
            <a:off x="700088" y="3843338"/>
            <a:ext cx="9429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Dashboards, chat, admin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ED010BA-737A-7C3B-6341-B5CC77DE52BF}"/>
              </a:ext>
            </a:extLst>
          </p:cNvPr>
          <p:cNvSpPr/>
          <p:nvPr/>
        </p:nvSpPr>
        <p:spPr>
          <a:xfrm>
            <a:off x="1814513" y="3707606"/>
            <a:ext cx="300037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C2705C-C9CD-F353-9CA6-AFC86C34FEB0}"/>
              </a:ext>
            </a:extLst>
          </p:cNvPr>
          <p:cNvSpPr/>
          <p:nvPr/>
        </p:nvSpPr>
        <p:spPr>
          <a:xfrm>
            <a:off x="2250281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5FB16B-54BB-A198-5A53-392FF088A9F3}"/>
              </a:ext>
            </a:extLst>
          </p:cNvPr>
          <p:cNvSpPr/>
          <p:nvPr/>
        </p:nvSpPr>
        <p:spPr>
          <a:xfrm>
            <a:off x="2350294" y="360045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7F604C-8A4A-D9BF-CA86-8C456801819F}"/>
              </a:ext>
            </a:extLst>
          </p:cNvPr>
          <p:cNvSpPr txBox="1"/>
          <p:nvPr/>
        </p:nvSpPr>
        <p:spPr>
          <a:xfrm>
            <a:off x="2621756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API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59E2F1-2C45-FC1C-E533-44B8A8C18808}"/>
              </a:ext>
            </a:extLst>
          </p:cNvPr>
          <p:cNvSpPr txBox="1"/>
          <p:nvPr/>
        </p:nvSpPr>
        <p:spPr>
          <a:xfrm>
            <a:off x="2378869" y="3843338"/>
            <a:ext cx="9429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Routes, auth, validation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7FB6FEBE-0BDE-1EED-DF87-9FEA6B24E28A}"/>
              </a:ext>
            </a:extLst>
          </p:cNvPr>
          <p:cNvSpPr/>
          <p:nvPr/>
        </p:nvSpPr>
        <p:spPr>
          <a:xfrm>
            <a:off x="3493294" y="3707606"/>
            <a:ext cx="300037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05AE32-DE9D-C0DA-7B78-6A23B1735E67}"/>
              </a:ext>
            </a:extLst>
          </p:cNvPr>
          <p:cNvSpPr/>
          <p:nvPr/>
        </p:nvSpPr>
        <p:spPr>
          <a:xfrm>
            <a:off x="3929063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F12C6C-0D7A-3123-E9F0-393E90D00D9C}"/>
              </a:ext>
            </a:extLst>
          </p:cNvPr>
          <p:cNvSpPr/>
          <p:nvPr/>
        </p:nvSpPr>
        <p:spPr>
          <a:xfrm>
            <a:off x="4029075" y="360045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80E8F1-BBB2-1E78-9019-B5E5130D696E}"/>
              </a:ext>
            </a:extLst>
          </p:cNvPr>
          <p:cNvSpPr txBox="1"/>
          <p:nvPr/>
        </p:nvSpPr>
        <p:spPr>
          <a:xfrm>
            <a:off x="4300538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Agents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31B989-17B7-DA1E-A5C8-AD5405D05D0D}"/>
              </a:ext>
            </a:extLst>
          </p:cNvPr>
          <p:cNvSpPr txBox="1"/>
          <p:nvPr/>
        </p:nvSpPr>
        <p:spPr>
          <a:xfrm>
            <a:off x="4057650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Planner and tools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58DAF00-1465-1305-1F33-AE57BB101B1C}"/>
              </a:ext>
            </a:extLst>
          </p:cNvPr>
          <p:cNvSpPr/>
          <p:nvPr/>
        </p:nvSpPr>
        <p:spPr>
          <a:xfrm>
            <a:off x="5172075" y="3707606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11B8663-E7CB-BFBE-BCD6-FE6A7EE460BC}"/>
              </a:ext>
            </a:extLst>
          </p:cNvPr>
          <p:cNvSpPr/>
          <p:nvPr/>
        </p:nvSpPr>
        <p:spPr>
          <a:xfrm>
            <a:off x="5607844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F488834-8262-97A9-D87B-F0E415545B7B}"/>
              </a:ext>
            </a:extLst>
          </p:cNvPr>
          <p:cNvSpPr/>
          <p:nvPr/>
        </p:nvSpPr>
        <p:spPr>
          <a:xfrm>
            <a:off x="5707856" y="360045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47C8AE-821B-D34F-731A-4AFBE4FFBBF3}"/>
              </a:ext>
            </a:extLst>
          </p:cNvPr>
          <p:cNvSpPr txBox="1"/>
          <p:nvPr/>
        </p:nvSpPr>
        <p:spPr>
          <a:xfrm>
            <a:off x="5979319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Data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E17989-AEA4-4FE3-D017-BE23F8F6559B}"/>
              </a:ext>
            </a:extLst>
          </p:cNvPr>
          <p:cNvSpPr txBox="1"/>
          <p:nvPr/>
        </p:nvSpPr>
        <p:spPr>
          <a:xfrm>
            <a:off x="5736431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Postgres, Blob, Redis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C237E1D4-2AD2-CBE0-EBC0-7F587443D236}"/>
              </a:ext>
            </a:extLst>
          </p:cNvPr>
          <p:cNvSpPr/>
          <p:nvPr/>
        </p:nvSpPr>
        <p:spPr>
          <a:xfrm>
            <a:off x="6850856" y="3707606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A4307B3-DDF9-D30E-CC4B-A767658AAC97}"/>
              </a:ext>
            </a:extLst>
          </p:cNvPr>
          <p:cNvSpPr/>
          <p:nvPr/>
        </p:nvSpPr>
        <p:spPr>
          <a:xfrm>
            <a:off x="7286625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C8CA3ED-5935-7879-4533-27FC035954B3}"/>
              </a:ext>
            </a:extLst>
          </p:cNvPr>
          <p:cNvSpPr/>
          <p:nvPr/>
        </p:nvSpPr>
        <p:spPr>
          <a:xfrm>
            <a:off x="7386638" y="3600450"/>
            <a:ext cx="200025" cy="200025"/>
          </a:xfrm>
          <a:prstGeom prst="ellipse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8042F-5523-98A6-1E98-384D59C84FA8}"/>
              </a:ext>
            </a:extLst>
          </p:cNvPr>
          <p:cNvSpPr txBox="1"/>
          <p:nvPr/>
        </p:nvSpPr>
        <p:spPr>
          <a:xfrm>
            <a:off x="7658100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E76F51"/>
                </a:solidFill>
                <a:latin typeface="Poppins" panose="00000500000000000000" pitchFamily="2" charset="0"/>
              </a:rPr>
              <a:t>Ops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13D67A-D884-48BA-9825-C82EA8712236}"/>
              </a:ext>
            </a:extLst>
          </p:cNvPr>
          <p:cNvSpPr txBox="1"/>
          <p:nvPr/>
        </p:nvSpPr>
        <p:spPr>
          <a:xfrm>
            <a:off x="7415213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Jobs, audit, telemetry</a:t>
            </a:r>
          </a:p>
        </p:txBody>
      </p:sp>
    </p:spTree>
    <p:extLst>
      <p:ext uri="{BB962C8B-B14F-4D97-AF65-F5344CB8AC3E}">
        <p14:creationId xmlns:p14="http://schemas.microsoft.com/office/powerpoint/2010/main" val="207621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CFC98E0-85B2-BE8B-8ED6-8CA187CBBA05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E2D96C-646D-B4CD-1AE0-2B5B58463914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8679A-DD43-9875-B6DB-2233E094C155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C6521-C18B-84A7-D12F-B8B815578A93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0BC2B6-8EB7-4111-3C8E-5BDA24E2963F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4FD11-F9FC-B203-90FC-9FD1697EE7ED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25730A-DC3F-A0BF-F5F9-D121388D5BAC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9BFAC-D251-134B-1F40-61AB55ED362F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99FF30-AF0A-0E1C-FFA7-8813E0A01A2A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4B1C7-C7A0-6E00-C4FD-23CB257B56BB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0B416B-FEF4-1774-93A9-FAF61E86EA37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548E6-1324-C048-9295-2E5CC25A3104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A289D6-2B99-4B6E-C624-E8153E8246FF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61AE4-3254-581A-BD99-5105400258F4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CA9CC9-0BAA-57DC-5070-78F8CDF06025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D6C13-BE8A-96E3-4A52-12CD9E9875B3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7020C-F219-47D3-B5EE-7657FD54B2C9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22E7F-1406-6008-811D-1C7BDFFE425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21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7CE1AE-4E3D-355B-A60D-106A0CEE2E74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69" b="1">
                <a:solidFill>
                  <a:srgbClr val="111827"/>
                </a:solidFill>
                <a:latin typeface="Poppins" panose="00000500000000000000" pitchFamily="2" charset="0"/>
              </a:rPr>
              <a:t>Mastiff: Conversational Data Analyst Proof</a:t>
            </a:r>
            <a:endParaRPr lang="en-IN" sz="1969" b="1">
              <a:solidFill>
                <a:srgbClr val="111827"/>
              </a:solidFill>
              <a:latin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7F305-B7F2-AC79-DB4C-E725214CFF79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natural-language analytics, file ingestion, safe code execution, charts, exports, and enterprise data connectors.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038024-4F2C-ACDB-FBFA-576915B3F88A}"/>
              </a:ext>
            </a:extLst>
          </p:cNvPr>
          <p:cNvSpPr/>
          <p:nvPr/>
        </p:nvSpPr>
        <p:spPr>
          <a:xfrm>
            <a:off x="52863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9A9629-1A97-AA75-DBA9-896BB3AB2B71}"/>
              </a:ext>
            </a:extLst>
          </p:cNvPr>
          <p:cNvSpPr/>
          <p:nvPr/>
        </p:nvSpPr>
        <p:spPr>
          <a:xfrm>
            <a:off x="628650" y="177165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E6A69-DBB4-CE58-82CF-C75D812E1A58}"/>
              </a:ext>
            </a:extLst>
          </p:cNvPr>
          <p:cNvSpPr txBox="1"/>
          <p:nvPr/>
        </p:nvSpPr>
        <p:spPr>
          <a:xfrm>
            <a:off x="90011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Upload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410DBF-9E43-884A-F209-B65C2478FE61}"/>
              </a:ext>
            </a:extLst>
          </p:cNvPr>
          <p:cNvSpPr txBox="1"/>
          <p:nvPr/>
        </p:nvSpPr>
        <p:spPr>
          <a:xfrm>
            <a:off x="65722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CSV, Excel, JSON, Parquet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733D037-2FDB-8BEB-2B13-0F81F2F18D8A}"/>
              </a:ext>
            </a:extLst>
          </p:cNvPr>
          <p:cNvSpPr/>
          <p:nvPr/>
        </p:nvSpPr>
        <p:spPr>
          <a:xfrm>
            <a:off x="1771650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D41997-7DA6-D14C-5EB3-D7617305AD78}"/>
              </a:ext>
            </a:extLst>
          </p:cNvPr>
          <p:cNvSpPr/>
          <p:nvPr/>
        </p:nvSpPr>
        <p:spPr>
          <a:xfrm>
            <a:off x="2214563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9C4949B-E527-6F90-E06D-931AA0D497F3}"/>
              </a:ext>
            </a:extLst>
          </p:cNvPr>
          <p:cNvSpPr/>
          <p:nvPr/>
        </p:nvSpPr>
        <p:spPr>
          <a:xfrm>
            <a:off x="2314575" y="177165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618836-22A9-9D5F-A8D9-C5D541C09EBE}"/>
              </a:ext>
            </a:extLst>
          </p:cNvPr>
          <p:cNvSpPr txBox="1"/>
          <p:nvPr/>
        </p:nvSpPr>
        <p:spPr>
          <a:xfrm>
            <a:off x="2586038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Profile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69CC6-65F7-AD63-965B-39EB174D8DB8}"/>
              </a:ext>
            </a:extLst>
          </p:cNvPr>
          <p:cNvSpPr txBox="1"/>
          <p:nvPr/>
        </p:nvSpPr>
        <p:spPr>
          <a:xfrm>
            <a:off x="2343150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Schema, sample rows, metadata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A14DC8-879A-4FD3-824F-1B0A4F62F303}"/>
              </a:ext>
            </a:extLst>
          </p:cNvPr>
          <p:cNvSpPr/>
          <p:nvPr/>
        </p:nvSpPr>
        <p:spPr>
          <a:xfrm>
            <a:off x="3457575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BF1F513-D4A9-3DB0-5AB8-E7917641C63D}"/>
              </a:ext>
            </a:extLst>
          </p:cNvPr>
          <p:cNvSpPr/>
          <p:nvPr/>
        </p:nvSpPr>
        <p:spPr>
          <a:xfrm>
            <a:off x="390048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D6282D7-CD70-AF29-8276-2DC037A9E0D9}"/>
              </a:ext>
            </a:extLst>
          </p:cNvPr>
          <p:cNvSpPr/>
          <p:nvPr/>
        </p:nvSpPr>
        <p:spPr>
          <a:xfrm>
            <a:off x="4000500" y="177165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154-8AD3-28F2-66F2-F6C37B48AD9E}"/>
              </a:ext>
            </a:extLst>
          </p:cNvPr>
          <p:cNvSpPr txBox="1"/>
          <p:nvPr/>
        </p:nvSpPr>
        <p:spPr>
          <a:xfrm>
            <a:off x="427196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Plan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2C1096-3181-C6F9-A3C7-554071F9EB35}"/>
              </a:ext>
            </a:extLst>
          </p:cNvPr>
          <p:cNvSpPr txBox="1"/>
          <p:nvPr/>
        </p:nvSpPr>
        <p:spPr>
          <a:xfrm>
            <a:off x="402907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LLM creates analysis plan and Python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EAAC990-BB2A-97A6-FABF-5ABAB901B63E}"/>
              </a:ext>
            </a:extLst>
          </p:cNvPr>
          <p:cNvSpPr/>
          <p:nvPr/>
        </p:nvSpPr>
        <p:spPr>
          <a:xfrm>
            <a:off x="5143500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1B1563-66F3-98A5-F559-6CE90D3D02E2}"/>
              </a:ext>
            </a:extLst>
          </p:cNvPr>
          <p:cNvSpPr/>
          <p:nvPr/>
        </p:nvSpPr>
        <p:spPr>
          <a:xfrm>
            <a:off x="5586413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010274-0144-8CCE-D79D-BDAF192EACDB}"/>
              </a:ext>
            </a:extLst>
          </p:cNvPr>
          <p:cNvSpPr/>
          <p:nvPr/>
        </p:nvSpPr>
        <p:spPr>
          <a:xfrm>
            <a:off x="5686425" y="177165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000210-00C3-93FE-AC4D-23891BFCD082}"/>
              </a:ext>
            </a:extLst>
          </p:cNvPr>
          <p:cNvSpPr txBox="1"/>
          <p:nvPr/>
        </p:nvSpPr>
        <p:spPr>
          <a:xfrm>
            <a:off x="5957888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Execute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BED9F3-F114-F5B8-BA55-B840182BB5FB}"/>
              </a:ext>
            </a:extLst>
          </p:cNvPr>
          <p:cNvSpPr txBox="1"/>
          <p:nvPr/>
        </p:nvSpPr>
        <p:spPr>
          <a:xfrm>
            <a:off x="5715000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Sandboxed pandas, numpy, matplotlib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FAE2081-5CE5-EC6C-94DB-4F38B4DE16D5}"/>
              </a:ext>
            </a:extLst>
          </p:cNvPr>
          <p:cNvSpPr/>
          <p:nvPr/>
        </p:nvSpPr>
        <p:spPr>
          <a:xfrm>
            <a:off x="6829425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335402-0B8F-3300-42E0-8C5FA7AD7615}"/>
              </a:ext>
            </a:extLst>
          </p:cNvPr>
          <p:cNvSpPr/>
          <p:nvPr/>
        </p:nvSpPr>
        <p:spPr>
          <a:xfrm>
            <a:off x="727233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FA47DC1-DB32-5F39-E65B-DF20CA69E71C}"/>
              </a:ext>
            </a:extLst>
          </p:cNvPr>
          <p:cNvSpPr/>
          <p:nvPr/>
        </p:nvSpPr>
        <p:spPr>
          <a:xfrm>
            <a:off x="7372350" y="1771650"/>
            <a:ext cx="200025" cy="200025"/>
          </a:xfrm>
          <a:prstGeom prst="ellipse">
            <a:avLst/>
          </a:prstGeom>
          <a:solidFill>
            <a:srgbClr val="22A0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2D8826-269C-56BC-54A7-F5D3BF9BED0C}"/>
              </a:ext>
            </a:extLst>
          </p:cNvPr>
          <p:cNvSpPr txBox="1"/>
          <p:nvPr/>
        </p:nvSpPr>
        <p:spPr>
          <a:xfrm>
            <a:off x="764381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2A06B"/>
                </a:solidFill>
                <a:latin typeface="Poppins" panose="00000500000000000000" pitchFamily="2" charset="0"/>
              </a:rPr>
              <a:t>Explain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ED987D-CEBE-C643-CE3F-8D37DCDE348A}"/>
              </a:ext>
            </a:extLst>
          </p:cNvPr>
          <p:cNvSpPr txBox="1"/>
          <p:nvPr/>
        </p:nvSpPr>
        <p:spPr>
          <a:xfrm>
            <a:off x="740092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Charts, narrative insight, export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E80F3B9-42CC-8A0F-819A-59F686C8A3A7}"/>
              </a:ext>
            </a:extLst>
          </p:cNvPr>
          <p:cNvSpPr/>
          <p:nvPr/>
        </p:nvSpPr>
        <p:spPr>
          <a:xfrm>
            <a:off x="642938" y="2843213"/>
            <a:ext cx="2357437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3D29E85-2FAA-88C5-FBA7-491DBBBEF56F}"/>
              </a:ext>
            </a:extLst>
          </p:cNvPr>
          <p:cNvSpPr/>
          <p:nvPr/>
        </p:nvSpPr>
        <p:spPr>
          <a:xfrm>
            <a:off x="742950" y="2943225"/>
            <a:ext cx="144303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EDF066-7857-64C4-3941-317EFD00E025}"/>
              </a:ext>
            </a:extLst>
          </p:cNvPr>
          <p:cNvSpPr txBox="1"/>
          <p:nvPr/>
        </p:nvSpPr>
        <p:spPr>
          <a:xfrm>
            <a:off x="814388" y="29789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API and app surfaces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69FFCB-BC0E-5DFB-7DFD-CE6C91F26421}"/>
              </a:ext>
            </a:extLst>
          </p:cNvPr>
          <p:cNvSpPr txBox="1"/>
          <p:nvPr/>
        </p:nvSpPr>
        <p:spPr>
          <a:xfrm>
            <a:off x="771525" y="3257550"/>
            <a:ext cx="210026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Upload, preview, metadata, delete endpoints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Chat message, history, regenerate endpoints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Visualization and report export endpoints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1F1FBC2-4B7C-C10F-B4EB-ED64DC109EA8}"/>
              </a:ext>
            </a:extLst>
          </p:cNvPr>
          <p:cNvSpPr/>
          <p:nvPr/>
        </p:nvSpPr>
        <p:spPr>
          <a:xfrm>
            <a:off x="3393281" y="2843213"/>
            <a:ext cx="2357438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DBEDD9F-DCF9-7B94-B5F1-49A6D6EE55E6}"/>
              </a:ext>
            </a:extLst>
          </p:cNvPr>
          <p:cNvSpPr/>
          <p:nvPr/>
        </p:nvSpPr>
        <p:spPr>
          <a:xfrm>
            <a:off x="3493294" y="2943225"/>
            <a:ext cx="1557337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552452-CB6F-10DB-E7B6-0C162ECF2DFA}"/>
              </a:ext>
            </a:extLst>
          </p:cNvPr>
          <p:cNvSpPr txBox="1"/>
          <p:nvPr/>
        </p:nvSpPr>
        <p:spPr>
          <a:xfrm>
            <a:off x="3564731" y="2978944"/>
            <a:ext cx="14144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Safety and reliability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7C9C8F-7D34-F16B-F92B-B93020016A52}"/>
              </a:ext>
            </a:extLst>
          </p:cNvPr>
          <p:cNvSpPr txBox="1"/>
          <p:nvPr/>
        </p:nvSpPr>
        <p:spPr>
          <a:xfrm>
            <a:off x="3521869" y="3257550"/>
            <a:ext cx="210026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Never execute user code directly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Docker or restricted execution boundary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Timeouts, file limits, no internet, rate limits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DAB98F3-D106-0416-E00D-055749464556}"/>
              </a:ext>
            </a:extLst>
          </p:cNvPr>
          <p:cNvSpPr/>
          <p:nvPr/>
        </p:nvSpPr>
        <p:spPr>
          <a:xfrm>
            <a:off x="6143625" y="2843213"/>
            <a:ext cx="2357438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6E8CC4-7E61-0A08-1D59-9C65CC043344}"/>
              </a:ext>
            </a:extLst>
          </p:cNvPr>
          <p:cNvSpPr/>
          <p:nvPr/>
        </p:nvSpPr>
        <p:spPr>
          <a:xfrm>
            <a:off x="6243638" y="2943225"/>
            <a:ext cx="1443037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BFF3-8EAC-1CCB-1B67-FA21A57CEA50}"/>
              </a:ext>
            </a:extLst>
          </p:cNvPr>
          <p:cNvSpPr txBox="1"/>
          <p:nvPr/>
        </p:nvSpPr>
        <p:spPr>
          <a:xfrm>
            <a:off x="6315075" y="29789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Enterprise expansion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725637-DB26-201E-0AB9-9750E33F310F}"/>
              </a:ext>
            </a:extLst>
          </p:cNvPr>
          <p:cNvSpPr txBox="1"/>
          <p:nvPr/>
        </p:nvSpPr>
        <p:spPr>
          <a:xfrm>
            <a:off x="6272213" y="3257550"/>
            <a:ext cx="2100263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SharePoint, Drive, Snowflake, BigQuery, Postgres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pgvector semantic memory and shared workspaces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Scheduled reports, SSO/SAML, audit logs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03F9FA2-2E99-DB21-DA97-92184CB206DA}"/>
              </a:ext>
            </a:extLst>
          </p:cNvPr>
          <p:cNvSpPr/>
          <p:nvPr/>
        </p:nvSpPr>
        <p:spPr>
          <a:xfrm>
            <a:off x="1585913" y="4071938"/>
            <a:ext cx="5972175" cy="3571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BDD2DB-32E5-6DFC-9802-E0848F13F547}"/>
              </a:ext>
            </a:extLst>
          </p:cNvPr>
          <p:cNvSpPr/>
          <p:nvPr/>
        </p:nvSpPr>
        <p:spPr>
          <a:xfrm>
            <a:off x="1585913" y="4071938"/>
            <a:ext cx="5972175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1B6534-81A0-2F73-EC22-EC1DEBE8BC89}"/>
              </a:ext>
            </a:extLst>
          </p:cNvPr>
          <p:cNvSpPr txBox="1"/>
          <p:nvPr/>
        </p:nvSpPr>
        <p:spPr>
          <a:xfrm>
            <a:off x="1714500" y="4214813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Workshop proof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16A913-B8EE-4064-E88C-077C63840263}"/>
              </a:ext>
            </a:extLst>
          </p:cNvPr>
          <p:cNvSpPr txBox="1"/>
          <p:nvPr/>
        </p:nvSpPr>
        <p:spPr>
          <a:xfrm>
            <a:off x="1714500" y="4457700"/>
            <a:ext cx="5715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Files become schema, schema becomes executable code, execution becomes visual insight, and insight becomes an exportable artifact.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0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338AAB4-DF8A-0ACF-842C-B7DAE5AB2AC7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1F30E5-4AC3-6F1E-F5E9-B1C0898EBC2F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7E65FA-CB88-4BCC-9C18-BCD401AD1750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07B53-AFDD-A185-7D0C-A0978AFE957B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6DCEE7-382A-C93A-CEB1-76530FF91407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03C3B-BE1C-CD6F-E232-ACCC211E5E26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198909-C0F3-EE2A-613B-A22F21989C52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75E8C-0994-5E55-88C5-939591723605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31A6A2-3B17-FC68-0EEC-630FCB59AB66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FDE4C-7FD1-CEF6-B323-DB46176F938C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A6EEF2-4C8B-30AF-9E9B-6C47E84BC608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3BDAD-DF89-3A78-26F2-D85E024CA7E2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E16EE5-5C08-8109-E7A4-5D5A889BC0CB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77608-9C6C-880A-2752-1DF713C405F4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7EAEE7-E6B0-53F7-A621-277DBC055A44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377DE-DF6F-E577-1511-8F96794BF35D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E3FE9-CE59-4375-4BB5-5818FB45B3E7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D091F7-5A9E-798F-7987-299F06D89E95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22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D72AD1-4248-FE36-7414-9F0DFAC87555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OEE Box: Edge AI + Industrial Intelligence Proof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F1B231-F165-F1D4-DB63-EEBC32220362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edge telemetry, local retrieval, machine reasoning, data trust, RL shadow mode, and safe command execution.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D91F15-70CB-4622-1984-C4621040CB35}"/>
              </a:ext>
            </a:extLst>
          </p:cNvPr>
          <p:cNvSpPr/>
          <p:nvPr/>
        </p:nvSpPr>
        <p:spPr>
          <a:xfrm>
            <a:off x="52863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A94EA0-F0A0-D945-1CFF-96CA9F9369B0}"/>
              </a:ext>
            </a:extLst>
          </p:cNvPr>
          <p:cNvSpPr/>
          <p:nvPr/>
        </p:nvSpPr>
        <p:spPr>
          <a:xfrm>
            <a:off x="628650" y="171450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E9DE9-450C-1695-37D9-16A27F7662AE}"/>
              </a:ext>
            </a:extLst>
          </p:cNvPr>
          <p:cNvSpPr txBox="1"/>
          <p:nvPr/>
        </p:nvSpPr>
        <p:spPr>
          <a:xfrm>
            <a:off x="90011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Signals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AD4A0F-0AED-6E5B-E87A-16C8F10E76C8}"/>
              </a:ext>
            </a:extLst>
          </p:cNvPr>
          <p:cNvSpPr txBox="1"/>
          <p:nvPr/>
        </p:nvSpPr>
        <p:spPr>
          <a:xfrm>
            <a:off x="657225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MQTT, Modbus, OPC-UA, simulator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E548A1D-E4C7-39AD-A70D-0496FCF70804}"/>
              </a:ext>
            </a:extLst>
          </p:cNvPr>
          <p:cNvSpPr/>
          <p:nvPr/>
        </p:nvSpPr>
        <p:spPr>
          <a:xfrm>
            <a:off x="1771650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0BC41DD-80E5-A924-7A6D-AC281145FB49}"/>
              </a:ext>
            </a:extLst>
          </p:cNvPr>
          <p:cNvSpPr/>
          <p:nvPr/>
        </p:nvSpPr>
        <p:spPr>
          <a:xfrm>
            <a:off x="2214563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F66319-8C66-9068-0608-FDA1E2FC4D92}"/>
              </a:ext>
            </a:extLst>
          </p:cNvPr>
          <p:cNvSpPr/>
          <p:nvPr/>
        </p:nvSpPr>
        <p:spPr>
          <a:xfrm>
            <a:off x="2314575" y="171450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4737F-483A-6AA8-A23C-155585A7C999}"/>
              </a:ext>
            </a:extLst>
          </p:cNvPr>
          <p:cNvSpPr txBox="1"/>
          <p:nvPr/>
        </p:nvSpPr>
        <p:spPr>
          <a:xfrm>
            <a:off x="2586038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Trust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0F0E92-744D-BF5E-FCED-F7B856C2E0C0}"/>
              </a:ext>
            </a:extLst>
          </p:cNvPr>
          <p:cNvSpPr txBox="1"/>
          <p:nvPr/>
        </p:nvSpPr>
        <p:spPr>
          <a:xfrm>
            <a:off x="2343150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Sanitize readings, score confidence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4309A0A-88CF-FC5B-6BD0-5D65D52EE31F}"/>
              </a:ext>
            </a:extLst>
          </p:cNvPr>
          <p:cNvSpPr/>
          <p:nvPr/>
        </p:nvSpPr>
        <p:spPr>
          <a:xfrm>
            <a:off x="3457575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428C3E-6D7B-2F1D-4823-B946C63B500D}"/>
              </a:ext>
            </a:extLst>
          </p:cNvPr>
          <p:cNvSpPr/>
          <p:nvPr/>
        </p:nvSpPr>
        <p:spPr>
          <a:xfrm>
            <a:off x="390048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91F717-0C42-6A22-A9D4-5705178F3CEA}"/>
              </a:ext>
            </a:extLst>
          </p:cNvPr>
          <p:cNvSpPr/>
          <p:nvPr/>
        </p:nvSpPr>
        <p:spPr>
          <a:xfrm>
            <a:off x="4000500" y="171450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D539DB-68E2-1CFF-A833-0D24D3F82C92}"/>
              </a:ext>
            </a:extLst>
          </p:cNvPr>
          <p:cNvSpPr txBox="1"/>
          <p:nvPr/>
        </p:nvSpPr>
        <p:spPr>
          <a:xfrm>
            <a:off x="427196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Reason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65E6D0-FC00-0BCE-71A6-200747827DA5}"/>
              </a:ext>
            </a:extLst>
          </p:cNvPr>
          <p:cNvSpPr txBox="1"/>
          <p:nvPr/>
        </p:nvSpPr>
        <p:spPr>
          <a:xfrm>
            <a:off x="4029075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OEE calculator, schema inference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5CFB7F7-E79D-5DDD-598B-FE0848A8C77E}"/>
              </a:ext>
            </a:extLst>
          </p:cNvPr>
          <p:cNvSpPr/>
          <p:nvPr/>
        </p:nvSpPr>
        <p:spPr>
          <a:xfrm>
            <a:off x="5143500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823C011-D1BF-8AC8-220B-D2341CE35334}"/>
              </a:ext>
            </a:extLst>
          </p:cNvPr>
          <p:cNvSpPr/>
          <p:nvPr/>
        </p:nvSpPr>
        <p:spPr>
          <a:xfrm>
            <a:off x="5586413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226ECE-0F7E-352B-6B04-275C2F674640}"/>
              </a:ext>
            </a:extLst>
          </p:cNvPr>
          <p:cNvSpPr/>
          <p:nvPr/>
        </p:nvSpPr>
        <p:spPr>
          <a:xfrm>
            <a:off x="5686425" y="171450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DFDDF9-231B-039E-E759-A06F00A36AAA}"/>
              </a:ext>
            </a:extLst>
          </p:cNvPr>
          <p:cNvSpPr txBox="1"/>
          <p:nvPr/>
        </p:nvSpPr>
        <p:spPr>
          <a:xfrm>
            <a:off x="5957888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Assist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9A313C-41DD-E770-BB1E-FD3E45E4ED83}"/>
              </a:ext>
            </a:extLst>
          </p:cNvPr>
          <p:cNvSpPr txBox="1"/>
          <p:nvPr/>
        </p:nvSpPr>
        <p:spPr>
          <a:xfrm>
            <a:off x="5715000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Manual RAG, copilot, offline fallback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8B03BAD-0EAF-227A-D3DE-265C9CBBF091}"/>
              </a:ext>
            </a:extLst>
          </p:cNvPr>
          <p:cNvSpPr/>
          <p:nvPr/>
        </p:nvSpPr>
        <p:spPr>
          <a:xfrm>
            <a:off x="6829425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F2CA25D-585D-1043-58B1-91F6E3243991}"/>
              </a:ext>
            </a:extLst>
          </p:cNvPr>
          <p:cNvSpPr/>
          <p:nvPr/>
        </p:nvSpPr>
        <p:spPr>
          <a:xfrm>
            <a:off x="727233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9582C18-DE90-0A79-F182-058BCFC9013E}"/>
              </a:ext>
            </a:extLst>
          </p:cNvPr>
          <p:cNvSpPr/>
          <p:nvPr/>
        </p:nvSpPr>
        <p:spPr>
          <a:xfrm>
            <a:off x="7372350" y="1714500"/>
            <a:ext cx="200025" cy="200025"/>
          </a:xfrm>
          <a:prstGeom prst="ellipse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B84D8B-50D8-E1E4-B372-947E2B2853AC}"/>
              </a:ext>
            </a:extLst>
          </p:cNvPr>
          <p:cNvSpPr txBox="1"/>
          <p:nvPr/>
        </p:nvSpPr>
        <p:spPr>
          <a:xfrm>
            <a:off x="764381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E76F51"/>
                </a:solidFill>
                <a:latin typeface="Poppins" panose="00000500000000000000" pitchFamily="2" charset="0"/>
              </a:rPr>
              <a:t>Act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37F32C-C64D-089E-3346-34DA073B6264}"/>
              </a:ext>
            </a:extLst>
          </p:cNvPr>
          <p:cNvSpPr txBox="1"/>
          <p:nvPr/>
        </p:nvSpPr>
        <p:spPr>
          <a:xfrm>
            <a:off x="7400925" y="1957388"/>
            <a:ext cx="928688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RL shadow suggestions, gatekeeper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7EE45A0-01EB-B5CE-34F6-D8465600204C}"/>
              </a:ext>
            </a:extLst>
          </p:cNvPr>
          <p:cNvSpPr/>
          <p:nvPr/>
        </p:nvSpPr>
        <p:spPr>
          <a:xfrm>
            <a:off x="500063" y="2871788"/>
            <a:ext cx="1928812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2C6924C-F5B5-B203-972C-24657F70E0E2}"/>
              </a:ext>
            </a:extLst>
          </p:cNvPr>
          <p:cNvSpPr/>
          <p:nvPr/>
        </p:nvSpPr>
        <p:spPr>
          <a:xfrm>
            <a:off x="600075" y="2971800"/>
            <a:ext cx="121443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3EC21C-DAFD-AAFE-8F77-226D9BDB5EAE}"/>
              </a:ext>
            </a:extLst>
          </p:cNvPr>
          <p:cNvSpPr txBox="1"/>
          <p:nvPr/>
        </p:nvSpPr>
        <p:spPr>
          <a:xfrm>
            <a:off x="671513" y="3007519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Semantic copilot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EAF3D7-0738-7757-221D-CAA77F797D9C}"/>
              </a:ext>
            </a:extLst>
          </p:cNvPr>
          <p:cNvSpPr txBox="1"/>
          <p:nvPr/>
        </p:nvSpPr>
        <p:spPr>
          <a:xfrm>
            <a:off x="628650" y="3286125"/>
            <a:ext cx="1671638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Local RAG over manuals and safety protocols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FAISS with Sentence Transformers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LLM answers operator questions with context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D9F582C-104A-FB8D-4BEF-4FFDC85A6981}"/>
              </a:ext>
            </a:extLst>
          </p:cNvPr>
          <p:cNvSpPr/>
          <p:nvPr/>
        </p:nvSpPr>
        <p:spPr>
          <a:xfrm>
            <a:off x="2657475" y="2871788"/>
            <a:ext cx="1928813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9C9AFC7-9630-74A9-ADAD-9772C8106B81}"/>
              </a:ext>
            </a:extLst>
          </p:cNvPr>
          <p:cNvSpPr/>
          <p:nvPr/>
        </p:nvSpPr>
        <p:spPr>
          <a:xfrm>
            <a:off x="2757488" y="2971800"/>
            <a:ext cx="1614487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D5D619-1A00-A7B9-406B-D26B5318AFE2}"/>
              </a:ext>
            </a:extLst>
          </p:cNvPr>
          <p:cNvSpPr txBox="1"/>
          <p:nvPr/>
        </p:nvSpPr>
        <p:spPr>
          <a:xfrm>
            <a:off x="2828925" y="3007519"/>
            <a:ext cx="1471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Autonomous intelligence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2EF9A-F656-895B-88AD-BCA107B74337}"/>
              </a:ext>
            </a:extLst>
          </p:cNvPr>
          <p:cNvSpPr txBox="1"/>
          <p:nvPr/>
        </p:nvSpPr>
        <p:spPr>
          <a:xfrm>
            <a:off x="2786063" y="3286125"/>
            <a:ext cx="1671638" cy="701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RL agent observes and simulates in shadow mode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Virtual sensors infer missing machine states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Predictive health roadmap with RUL models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31D0049-A687-026D-5BF2-9B1B34A225E6}"/>
              </a:ext>
            </a:extLst>
          </p:cNvPr>
          <p:cNvSpPr/>
          <p:nvPr/>
        </p:nvSpPr>
        <p:spPr>
          <a:xfrm>
            <a:off x="4814888" y="2871788"/>
            <a:ext cx="1928812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E18310B-8494-32EC-DFCB-2F86476E427B}"/>
              </a:ext>
            </a:extLst>
          </p:cNvPr>
          <p:cNvSpPr/>
          <p:nvPr/>
        </p:nvSpPr>
        <p:spPr>
          <a:xfrm>
            <a:off x="4914900" y="2971800"/>
            <a:ext cx="1214438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84A0F1-4EFD-B1C2-5417-4B90E85D6130}"/>
              </a:ext>
            </a:extLst>
          </p:cNvPr>
          <p:cNvSpPr txBox="1"/>
          <p:nvPr/>
        </p:nvSpPr>
        <p:spPr>
          <a:xfrm>
            <a:off x="4986338" y="3007519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Safety-by-design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D28CAB-68DD-F487-21AC-99555F09AA7C}"/>
              </a:ext>
            </a:extLst>
          </p:cNvPr>
          <p:cNvSpPr txBox="1"/>
          <p:nvPr/>
        </p:nvSpPr>
        <p:spPr>
          <a:xfrm>
            <a:off x="4943475" y="3286125"/>
            <a:ext cx="1671638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Command gatekeeper before machine action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Offline heuristic fallback when AI is unavailable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Audit trace from signal to suggestion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9DEA43-FF21-71B4-F0E8-7045E9A176A6}"/>
              </a:ext>
            </a:extLst>
          </p:cNvPr>
          <p:cNvSpPr/>
          <p:nvPr/>
        </p:nvSpPr>
        <p:spPr>
          <a:xfrm>
            <a:off x="6972300" y="2871788"/>
            <a:ext cx="1671638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243DEBF-5E91-6C35-F5A6-82CC968B0328}"/>
              </a:ext>
            </a:extLst>
          </p:cNvPr>
          <p:cNvSpPr/>
          <p:nvPr/>
        </p:nvSpPr>
        <p:spPr>
          <a:xfrm>
            <a:off x="7072313" y="2971800"/>
            <a:ext cx="1157287" cy="200025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229F36-D3FC-F010-952F-4FD7CE3E829F}"/>
              </a:ext>
            </a:extLst>
          </p:cNvPr>
          <p:cNvSpPr txBox="1"/>
          <p:nvPr/>
        </p:nvSpPr>
        <p:spPr>
          <a:xfrm>
            <a:off x="7143750" y="3007519"/>
            <a:ext cx="10144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Real-time stack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E43D17-743D-8F7A-55C6-2305DBB99CE2}"/>
              </a:ext>
            </a:extLst>
          </p:cNvPr>
          <p:cNvSpPr txBox="1"/>
          <p:nvPr/>
        </p:nvSpPr>
        <p:spPr>
          <a:xfrm>
            <a:off x="7100888" y="3286125"/>
            <a:ext cx="1414463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FastAPI, SQLite async, WebSockets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React, Vite, MUI dashboard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Docker Compose edge deployment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420A534-8C55-E3CF-4CCA-BE229DB12218}"/>
              </a:ext>
            </a:extLst>
          </p:cNvPr>
          <p:cNvSpPr/>
          <p:nvPr/>
        </p:nvSpPr>
        <p:spPr>
          <a:xfrm>
            <a:off x="1700213" y="4100513"/>
            <a:ext cx="5743575" cy="3286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619CB1-D3BC-E427-69B3-3E21F70D7738}"/>
              </a:ext>
            </a:extLst>
          </p:cNvPr>
          <p:cNvSpPr/>
          <p:nvPr/>
        </p:nvSpPr>
        <p:spPr>
          <a:xfrm>
            <a:off x="1700213" y="4100513"/>
            <a:ext cx="5743575" cy="50006"/>
          </a:xfrm>
          <a:prstGeom prst="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412FE8-F64C-3B0C-F510-465DDC6C33A3}"/>
              </a:ext>
            </a:extLst>
          </p:cNvPr>
          <p:cNvSpPr txBox="1"/>
          <p:nvPr/>
        </p:nvSpPr>
        <p:spPr>
          <a:xfrm>
            <a:off x="1828800" y="4243388"/>
            <a:ext cx="548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D69E2E"/>
                </a:solidFill>
                <a:latin typeface="Poppins" panose="00000500000000000000" pitchFamily="2" charset="0"/>
              </a:rPr>
              <a:t>Workshop proof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76C49B-F758-12FC-A1C5-DEF76731B852}"/>
              </a:ext>
            </a:extLst>
          </p:cNvPr>
          <p:cNvSpPr txBox="1"/>
          <p:nvPr/>
        </p:nvSpPr>
        <p:spPr>
          <a:xfrm>
            <a:off x="1828800" y="4486275"/>
            <a:ext cx="54864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It reads industrial signals, reasons locally, explains machine behavior, and gates every optimization before action.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92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7F0C0CC-8AC2-CA7C-C986-22F09B2D9175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E030BB-5A7D-3CD4-A912-07E2091164C1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E22966-CAA7-13DF-E023-D18E50A48722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C9B60-12C3-B54B-B0F1-ADC0365BBA7F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76FDDE-1DF5-2523-DD29-441C31670F5A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4FA5A-4B1B-C2A2-FB40-F2F91D1FBB24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30DBEF-AC57-3C14-7465-4F1AB593EB69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29540-DCA9-D547-5516-420988B0449A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927055-5E20-83F2-53C1-DA77A0319D86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2B6810-40E1-6BF1-6650-15E516DBF961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53BAB1-C8C3-2055-655A-9F185E95E1F3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11A64-7EE5-0DDA-FD2C-24B608F0D582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239A2C-5213-A335-6F72-BDED88AAB15A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AEF8CA-7E81-4F00-BA81-1911782CD14D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3884CA-68D5-E4A7-6E92-4C79226E4C38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CFC0A-5051-B743-A326-0E21706EA2D8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F24CBE-CD2F-53C2-A933-A0CA9E09758B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B04AC9-1513-E6A3-23AC-4D1BCA756D9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23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51C56-B472-12AE-1912-529050D91B66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Slide-by-Slide Talking Map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980BBC-C09A-4C20-AB5F-EC742DC72806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Use this as the presenter cheat sheet: theme first, project proof second, technical competency third.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003AED-8AA0-1944-BAEF-CE2B171062F1}"/>
              </a:ext>
            </a:extLst>
          </p:cNvPr>
          <p:cNvSpPr/>
          <p:nvPr/>
        </p:nvSpPr>
        <p:spPr>
          <a:xfrm>
            <a:off x="585788" y="1585913"/>
            <a:ext cx="7972425" cy="2457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B17F98-DF40-405D-E31F-792B5095A288}"/>
              </a:ext>
            </a:extLst>
          </p:cNvPr>
          <p:cNvSpPr txBox="1"/>
          <p:nvPr/>
        </p:nvSpPr>
        <p:spPr>
          <a:xfrm>
            <a:off x="800100" y="1757363"/>
            <a:ext cx="150018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Workshop theme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C6712A-BB7B-6AA6-C7A6-CBD5C7C61BBB}"/>
              </a:ext>
            </a:extLst>
          </p:cNvPr>
          <p:cNvSpPr txBox="1"/>
          <p:nvPr/>
        </p:nvSpPr>
        <p:spPr>
          <a:xfrm>
            <a:off x="2543175" y="1757363"/>
            <a:ext cx="435768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proof 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A509C-7954-FD10-0917-1A2B86B2BBA6}"/>
              </a:ext>
            </a:extLst>
          </p:cNvPr>
          <p:cNvSpPr txBox="1"/>
          <p:nvPr/>
        </p:nvSpPr>
        <p:spPr>
          <a:xfrm>
            <a:off x="7143750" y="1757363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Competency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BB59F5-8CFB-0936-7403-F4A2F543208C}"/>
              </a:ext>
            </a:extLst>
          </p:cNvPr>
          <p:cNvSpPr/>
          <p:nvPr/>
        </p:nvSpPr>
        <p:spPr>
          <a:xfrm>
            <a:off x="728663" y="1971675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8D56F0-9614-CC87-1C09-0FE1582E50FE}"/>
              </a:ext>
            </a:extLst>
          </p:cNvPr>
          <p:cNvSpPr/>
          <p:nvPr/>
        </p:nvSpPr>
        <p:spPr>
          <a:xfrm>
            <a:off x="800100" y="2028825"/>
            <a:ext cx="1357313" cy="17145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79674E-4890-3B5A-7BD7-F9228B909F57}"/>
              </a:ext>
            </a:extLst>
          </p:cNvPr>
          <p:cNvSpPr txBox="1"/>
          <p:nvPr/>
        </p:nvSpPr>
        <p:spPr>
          <a:xfrm>
            <a:off x="871538" y="2064544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Capability 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12E844-86D1-4F85-4D17-2A777D0D588B}"/>
              </a:ext>
            </a:extLst>
          </p:cNvPr>
          <p:cNvSpPr txBox="1"/>
          <p:nvPr/>
        </p:nvSpPr>
        <p:spPr>
          <a:xfrm>
            <a:off x="2543175" y="2043113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760">
                <a:solidFill>
                  <a:srgbClr val="243041"/>
                </a:solidFill>
                <a:latin typeface="Lato" panose="020F0502020204030203" pitchFamily="34" charset="0"/>
              </a:rPr>
              <a:t>Axiom = business AI; Mastiff = data AI; OEE Box = edge AI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89529B-72FF-4FF4-73A0-2344FF2B83D8}"/>
              </a:ext>
            </a:extLst>
          </p:cNvPr>
          <p:cNvSpPr txBox="1"/>
          <p:nvPr/>
        </p:nvSpPr>
        <p:spPr>
          <a:xfrm>
            <a:off x="7172325" y="2043113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2563EB"/>
                </a:solidFill>
                <a:latin typeface="Aptos Mono" panose="020B0009020202020204" pitchFamily="49" charset="0"/>
              </a:rPr>
              <a:t>RAG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EF9A8F-81EE-F204-CACD-23C7D4EEFDED}"/>
              </a:ext>
            </a:extLst>
          </p:cNvPr>
          <p:cNvSpPr/>
          <p:nvPr/>
        </p:nvSpPr>
        <p:spPr>
          <a:xfrm>
            <a:off x="728663" y="2243138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918C1-CC5A-94DB-CA73-C5E4A13FF18D}"/>
              </a:ext>
            </a:extLst>
          </p:cNvPr>
          <p:cNvSpPr/>
          <p:nvPr/>
        </p:nvSpPr>
        <p:spPr>
          <a:xfrm>
            <a:off x="800100" y="2300288"/>
            <a:ext cx="1357313" cy="171450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2F51A5-7459-6A62-A796-3BBACB261904}"/>
              </a:ext>
            </a:extLst>
          </p:cNvPr>
          <p:cNvSpPr txBox="1"/>
          <p:nvPr/>
        </p:nvSpPr>
        <p:spPr>
          <a:xfrm>
            <a:off x="871538" y="2336006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RAG pipeline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913ACF-3D7C-1635-D142-DBC389EE2B31}"/>
              </a:ext>
            </a:extLst>
          </p:cNvPr>
          <p:cNvSpPr txBox="1"/>
          <p:nvPr/>
        </p:nvSpPr>
        <p:spPr>
          <a:xfrm>
            <a:off x="2543175" y="2314575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OEE manuals copilot; Axiom evidence-grounded answers and audit posture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0613D0-DCCF-50B7-9BCF-CD150912C422}"/>
              </a:ext>
            </a:extLst>
          </p:cNvPr>
          <p:cNvSpPr txBox="1"/>
          <p:nvPr/>
        </p:nvSpPr>
        <p:spPr>
          <a:xfrm>
            <a:off x="7172325" y="2314575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10A37F"/>
                </a:solidFill>
                <a:latin typeface="Aptos Mono" panose="020B0009020202020204" pitchFamily="49" charset="0"/>
              </a:rPr>
              <a:t>RAG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A3112-5962-E234-DDE1-D1EF9A765969}"/>
              </a:ext>
            </a:extLst>
          </p:cNvPr>
          <p:cNvSpPr/>
          <p:nvPr/>
        </p:nvSpPr>
        <p:spPr>
          <a:xfrm>
            <a:off x="728663" y="2514600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A5F8EA-ED9A-BC7E-E92F-7422E8CAE5EA}"/>
              </a:ext>
            </a:extLst>
          </p:cNvPr>
          <p:cNvSpPr/>
          <p:nvPr/>
        </p:nvSpPr>
        <p:spPr>
          <a:xfrm>
            <a:off x="800100" y="2571750"/>
            <a:ext cx="1357313" cy="171450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9DD723-8058-C5B2-B25D-FF1FDDE36FD9}"/>
              </a:ext>
            </a:extLst>
          </p:cNvPr>
          <p:cNvSpPr txBox="1"/>
          <p:nvPr/>
        </p:nvSpPr>
        <p:spPr>
          <a:xfrm>
            <a:off x="871538" y="2607469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Document intelligence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A85E12-7744-F601-3403-523EDBB152AE}"/>
              </a:ext>
            </a:extLst>
          </p:cNvPr>
          <p:cNvSpPr txBox="1"/>
          <p:nvPr/>
        </p:nvSpPr>
        <p:spPr>
          <a:xfrm>
            <a:off x="2543175" y="2586038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invoice OCR/upload routes; Mastiff file parsing and schema extraction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D42C3D-0AE2-2005-B97B-84A2C0198B0F}"/>
              </a:ext>
            </a:extLst>
          </p:cNvPr>
          <p:cNvSpPr txBox="1"/>
          <p:nvPr/>
        </p:nvSpPr>
        <p:spPr>
          <a:xfrm>
            <a:off x="7172325" y="2586038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7C3AED"/>
                </a:solidFill>
                <a:latin typeface="Aptos Mono" panose="020B0009020202020204" pitchFamily="49" charset="0"/>
              </a:rPr>
              <a:t>ML/data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52D7FB-9F91-3C85-D22C-BC2E9E6B8EA5}"/>
              </a:ext>
            </a:extLst>
          </p:cNvPr>
          <p:cNvSpPr/>
          <p:nvPr/>
        </p:nvSpPr>
        <p:spPr>
          <a:xfrm>
            <a:off x="728663" y="2786063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D75BC0-1A53-737C-94C3-7B333A5F4B99}"/>
              </a:ext>
            </a:extLst>
          </p:cNvPr>
          <p:cNvSpPr/>
          <p:nvPr/>
        </p:nvSpPr>
        <p:spPr>
          <a:xfrm>
            <a:off x="800100" y="2843213"/>
            <a:ext cx="1357313" cy="171450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604F22-BC55-D3C1-EC78-8102903A9F0C}"/>
              </a:ext>
            </a:extLst>
          </p:cNvPr>
          <p:cNvSpPr txBox="1"/>
          <p:nvPr/>
        </p:nvSpPr>
        <p:spPr>
          <a:xfrm>
            <a:off x="871538" y="2878931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Predictive ML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37D5E1-1BEB-2149-20A5-0F2F59BE0EEF}"/>
              </a:ext>
            </a:extLst>
          </p:cNvPr>
          <p:cNvSpPr txBox="1"/>
          <p:nvPr/>
        </p:nvSpPr>
        <p:spPr>
          <a:xfrm>
            <a:off x="2543175" y="2857500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demand forecast and supplier scoring; OEE RL/predictive health roadmap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F449FB-C6A3-BFBC-EA78-EAC0541D1D6C}"/>
              </a:ext>
            </a:extLst>
          </p:cNvPr>
          <p:cNvSpPr txBox="1"/>
          <p:nvPr/>
        </p:nvSpPr>
        <p:spPr>
          <a:xfrm>
            <a:off x="7172325" y="2857500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D69E2E"/>
                </a:solidFill>
                <a:latin typeface="Aptos Mono" panose="020B0009020202020204" pitchFamily="49" charset="0"/>
              </a:rPr>
              <a:t>ML/data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BEEEE5-64CE-1E87-BDC1-947E272F371E}"/>
              </a:ext>
            </a:extLst>
          </p:cNvPr>
          <p:cNvSpPr/>
          <p:nvPr/>
        </p:nvSpPr>
        <p:spPr>
          <a:xfrm>
            <a:off x="728663" y="3057525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4CBBC64-74BB-6A8F-9ABE-F6117193D481}"/>
              </a:ext>
            </a:extLst>
          </p:cNvPr>
          <p:cNvSpPr/>
          <p:nvPr/>
        </p:nvSpPr>
        <p:spPr>
          <a:xfrm>
            <a:off x="800100" y="3114675"/>
            <a:ext cx="1357313" cy="171450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D1E2E7-9DF4-469C-6CD6-82F5FFD86CA0}"/>
              </a:ext>
            </a:extLst>
          </p:cNvPr>
          <p:cNvSpPr txBox="1"/>
          <p:nvPr/>
        </p:nvSpPr>
        <p:spPr>
          <a:xfrm>
            <a:off x="871538" y="3150394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Agentic workflow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9DF37F-C6DB-B410-2424-F1DB46852B5C}"/>
              </a:ext>
            </a:extLst>
          </p:cNvPr>
          <p:cNvSpPr txBox="1"/>
          <p:nvPr/>
        </p:nvSpPr>
        <p:spPr>
          <a:xfrm>
            <a:off x="2543175" y="3128963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agent orchestrator; OEE command gatekeeper; Mastiff sandboxed code tool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EA161C-2F7A-9E1C-94E4-2514B5D0103B}"/>
              </a:ext>
            </a:extLst>
          </p:cNvPr>
          <p:cNvSpPr txBox="1"/>
          <p:nvPr/>
        </p:nvSpPr>
        <p:spPr>
          <a:xfrm>
            <a:off x="7172325" y="3128963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E76F51"/>
                </a:solidFill>
                <a:latin typeface="Aptos Mono" panose="020B0009020202020204" pitchFamily="49" charset="0"/>
              </a:rPr>
              <a:t>APIs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3E69CB-CD0C-E107-7BAD-53E8C29E22AD}"/>
              </a:ext>
            </a:extLst>
          </p:cNvPr>
          <p:cNvSpPr/>
          <p:nvPr/>
        </p:nvSpPr>
        <p:spPr>
          <a:xfrm>
            <a:off x="728663" y="3328988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450C74-035E-F11B-C7C9-D534532137F6}"/>
              </a:ext>
            </a:extLst>
          </p:cNvPr>
          <p:cNvSpPr/>
          <p:nvPr/>
        </p:nvSpPr>
        <p:spPr>
          <a:xfrm>
            <a:off x="800100" y="3386138"/>
            <a:ext cx="1357313" cy="171450"/>
          </a:xfrm>
          <a:prstGeom prst="roundRect">
            <a:avLst/>
          </a:prstGeom>
          <a:solidFill>
            <a:srgbClr val="22A0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929F4F-94A0-7EC0-F3EC-D55197436A99}"/>
              </a:ext>
            </a:extLst>
          </p:cNvPr>
          <p:cNvSpPr txBox="1"/>
          <p:nvPr/>
        </p:nvSpPr>
        <p:spPr>
          <a:xfrm>
            <a:off x="871538" y="3421856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API topology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D88485-E2F0-A81A-1A37-19C9143B20B8}"/>
              </a:ext>
            </a:extLst>
          </p:cNvPr>
          <p:cNvSpPr txBox="1"/>
          <p:nvPr/>
        </p:nvSpPr>
        <p:spPr>
          <a:xfrm>
            <a:off x="2543175" y="3400425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SAP/API routes, cron jobs, queues, email, Blob, Redis, Postgres, MQTT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7C47F2-70A9-875F-D012-D66046790DBD}"/>
              </a:ext>
            </a:extLst>
          </p:cNvPr>
          <p:cNvSpPr txBox="1"/>
          <p:nvPr/>
        </p:nvSpPr>
        <p:spPr>
          <a:xfrm>
            <a:off x="7172325" y="3400425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22A06B"/>
                </a:solidFill>
                <a:latin typeface="Aptos Mono" panose="020B0009020202020204" pitchFamily="49" charset="0"/>
              </a:rPr>
              <a:t>APIs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78AE1C-1F6F-DC14-56C8-E3D3EB67B6BA}"/>
              </a:ext>
            </a:extLst>
          </p:cNvPr>
          <p:cNvSpPr/>
          <p:nvPr/>
        </p:nvSpPr>
        <p:spPr>
          <a:xfrm>
            <a:off x="728663" y="3600450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DFC12C8-B779-3740-14BC-78AA20F773D2}"/>
              </a:ext>
            </a:extLst>
          </p:cNvPr>
          <p:cNvSpPr/>
          <p:nvPr/>
        </p:nvSpPr>
        <p:spPr>
          <a:xfrm>
            <a:off x="800100" y="3657600"/>
            <a:ext cx="1357313" cy="17145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9BF4B8-E0FC-3C30-BB97-7D3AD97DE8E8}"/>
              </a:ext>
            </a:extLst>
          </p:cNvPr>
          <p:cNvSpPr txBox="1"/>
          <p:nvPr/>
        </p:nvSpPr>
        <p:spPr>
          <a:xfrm>
            <a:off x="871538" y="3693319"/>
            <a:ext cx="121443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Developer intelligence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FABB5E-4E61-EC3B-625C-C54F2FE16F2C}"/>
              </a:ext>
            </a:extLst>
          </p:cNvPr>
          <p:cNvSpPr txBox="1"/>
          <p:nvPr/>
        </p:nvSpPr>
        <p:spPr>
          <a:xfrm>
            <a:off x="2543175" y="3671888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Next.js, React, FastAPI, Docker, typed validation, tests, telemetry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327816-A605-CFFF-8DC5-96E7B705F68B}"/>
              </a:ext>
            </a:extLst>
          </p:cNvPr>
          <p:cNvSpPr txBox="1"/>
          <p:nvPr/>
        </p:nvSpPr>
        <p:spPr>
          <a:xfrm>
            <a:off x="7172325" y="3671888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334155"/>
                </a:solidFill>
                <a:latin typeface="Aptos Mono" panose="020B0009020202020204" pitchFamily="49" charset="0"/>
              </a:rPr>
              <a:t>code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D56D157-B126-7997-C5E6-D6C666C7F659}"/>
              </a:ext>
            </a:extLst>
          </p:cNvPr>
          <p:cNvSpPr/>
          <p:nvPr/>
        </p:nvSpPr>
        <p:spPr>
          <a:xfrm>
            <a:off x="1285875" y="4214813"/>
            <a:ext cx="6572250" cy="30003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C92392-18BD-7741-CBCD-36CC6BBB7620}"/>
              </a:ext>
            </a:extLst>
          </p:cNvPr>
          <p:cNvSpPr/>
          <p:nvPr/>
        </p:nvSpPr>
        <p:spPr>
          <a:xfrm>
            <a:off x="1285875" y="4214813"/>
            <a:ext cx="6572250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3302DA-388C-6FF8-AC6E-75769A92B2F4}"/>
              </a:ext>
            </a:extLst>
          </p:cNvPr>
          <p:cNvSpPr txBox="1"/>
          <p:nvPr/>
        </p:nvSpPr>
        <p:spPr>
          <a:xfrm>
            <a:off x="1414463" y="4357688"/>
            <a:ext cx="63150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Presenter rhythm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205413-77A5-58EF-D714-723605AC99DD}"/>
              </a:ext>
            </a:extLst>
          </p:cNvPr>
          <p:cNvSpPr txBox="1"/>
          <p:nvPr/>
        </p:nvSpPr>
        <p:spPr>
          <a:xfrm>
            <a:off x="1414463" y="4600575"/>
            <a:ext cx="63150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For every concept slide, say: here is the pattern, here is where we used it, here is the engineering control that makes it reliable.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9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26EDCE9-B199-D4EC-EE0C-C2D6D3AF9312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272AE2-DB6F-298A-63F2-B1B1CB3A4F4F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643E5F-116B-19B6-E007-43F22E216B6A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E0B9A-E3C8-30CC-C769-98D1FA6F7B14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8374E-8879-027A-C1BA-E4B18E070B93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71BCF-D34D-93BE-1C23-E2EBE4244506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19225A-0560-531A-BECA-3FB755FA4343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1F4FF-698B-66D9-4464-501EC4A903E4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EF352C-8EB6-9B1A-1A3F-F3C305F14DDD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D71D4-D964-D83C-F9E2-8EB83ACBEE2A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7A267-344E-D6F4-91FF-FCD5F7B567FD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1A275-FA71-19DC-DFF1-AACBC22FA208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8F7B8B-C3AC-ABD1-68E1-74FEB5539414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5EDED-70E1-E7AB-79DD-046414804BC7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4B4C0F-8D20-3796-0EEE-AFF9082AE7AA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B37F9-03D9-BE78-6664-69EA7609E334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F1B7F-5C25-6AB5-930D-E7534BAF569F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990C7-DD13-3D68-60A7-8504E4539231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24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B281A-0622-73DA-9209-C4772D4902BD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Live Demo Run Sheet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4EA6C-413F-BAC9-162E-B8DECB87C799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A practical path for the seven-hour workshop: show breadth, then show code-level and system-level depth.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532585-C4C9-FF64-89C6-122375BF3599}"/>
              </a:ext>
            </a:extLst>
          </p:cNvPr>
          <p:cNvSpPr/>
          <p:nvPr/>
        </p:nvSpPr>
        <p:spPr>
          <a:xfrm>
            <a:off x="614363" y="1585913"/>
            <a:ext cx="2414587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30639C7-6AB9-845B-9884-5B1AA10DF04E}"/>
              </a:ext>
            </a:extLst>
          </p:cNvPr>
          <p:cNvSpPr/>
          <p:nvPr/>
        </p:nvSpPr>
        <p:spPr>
          <a:xfrm>
            <a:off x="714375" y="1685925"/>
            <a:ext cx="12715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4A41CD-F506-A37C-6CCA-E18B49A45191}"/>
              </a:ext>
            </a:extLst>
          </p:cNvPr>
          <p:cNvSpPr txBox="1"/>
          <p:nvPr/>
        </p:nvSpPr>
        <p:spPr>
          <a:xfrm>
            <a:off x="785813" y="1721644"/>
            <a:ext cx="11287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Axiom business AI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A6EE75-6FC7-1B42-3FA5-A3E9D721A4C0}"/>
              </a:ext>
            </a:extLst>
          </p:cNvPr>
          <p:cNvSpPr txBox="1"/>
          <p:nvPr/>
        </p:nvSpPr>
        <p:spPr>
          <a:xfrm>
            <a:off x="742950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Open dashboard or supplier view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Show risk/forecast/agent recommendation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Point to audit, queue, API, validation path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5EB301-EEE9-8B91-D67E-D7F6DC458D61}"/>
              </a:ext>
            </a:extLst>
          </p:cNvPr>
          <p:cNvSpPr/>
          <p:nvPr/>
        </p:nvSpPr>
        <p:spPr>
          <a:xfrm>
            <a:off x="3457575" y="1585913"/>
            <a:ext cx="2414588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1FE734-4A62-3ACF-53B5-7C067005D287}"/>
              </a:ext>
            </a:extLst>
          </p:cNvPr>
          <p:cNvSpPr/>
          <p:nvPr/>
        </p:nvSpPr>
        <p:spPr>
          <a:xfrm>
            <a:off x="3557588" y="1685925"/>
            <a:ext cx="1443037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DF518-6750-D1A5-E082-212C28AC024E}"/>
              </a:ext>
            </a:extLst>
          </p:cNvPr>
          <p:cNvSpPr txBox="1"/>
          <p:nvPr/>
        </p:nvSpPr>
        <p:spPr>
          <a:xfrm>
            <a:off x="3629025" y="17216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Mastiff data analyst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5CC58-CAC0-E311-F741-E5BC5DAEA4AA}"/>
              </a:ext>
            </a:extLst>
          </p:cNvPr>
          <p:cNvSpPr txBox="1"/>
          <p:nvPr/>
        </p:nvSpPr>
        <p:spPr>
          <a:xfrm>
            <a:off x="3586163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Upload a dataset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Ask a natural-language question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Inspect generated Python, chart, and export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65BF270-B9AD-E67B-B13F-A9A6B5DC1375}"/>
              </a:ext>
            </a:extLst>
          </p:cNvPr>
          <p:cNvSpPr/>
          <p:nvPr/>
        </p:nvSpPr>
        <p:spPr>
          <a:xfrm>
            <a:off x="6300788" y="1585913"/>
            <a:ext cx="2414587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EE9A5A-0E4B-F5C8-78EF-64E90AE07605}"/>
              </a:ext>
            </a:extLst>
          </p:cNvPr>
          <p:cNvSpPr/>
          <p:nvPr/>
        </p:nvSpPr>
        <p:spPr>
          <a:xfrm>
            <a:off x="6400800" y="1685925"/>
            <a:ext cx="1157288" cy="200025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A431D1-79E9-6514-F960-242B3ACFFF88}"/>
              </a:ext>
            </a:extLst>
          </p:cNvPr>
          <p:cNvSpPr txBox="1"/>
          <p:nvPr/>
        </p:nvSpPr>
        <p:spPr>
          <a:xfrm>
            <a:off x="6472238" y="1721644"/>
            <a:ext cx="10144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OEE Box edge AI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B917AE-2AA4-B48D-6EBD-BE23D5E0341C}"/>
              </a:ext>
            </a:extLst>
          </p:cNvPr>
          <p:cNvSpPr txBox="1"/>
          <p:nvPr/>
        </p:nvSpPr>
        <p:spPr>
          <a:xfrm>
            <a:off x="6429375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Simulate machine telemetry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Ask why OEE dropped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Show RAG answer, trust score, gatekeeper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74F4FFC-7B4A-7C67-08F8-58B61216CE93}"/>
              </a:ext>
            </a:extLst>
          </p:cNvPr>
          <p:cNvSpPr/>
          <p:nvPr/>
        </p:nvSpPr>
        <p:spPr>
          <a:xfrm>
            <a:off x="857250" y="3228975"/>
            <a:ext cx="7429500" cy="600075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5194A2-DFEA-6E51-ECF7-58C336A1A42B}"/>
              </a:ext>
            </a:extLst>
          </p:cNvPr>
          <p:cNvSpPr txBox="1"/>
          <p:nvPr/>
        </p:nvSpPr>
        <p:spPr>
          <a:xfrm>
            <a:off x="1100138" y="3386138"/>
            <a:ext cx="1857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CBD5E1"/>
                </a:solidFill>
                <a:latin typeface="Aptos Mono" panose="020B0009020202020204" pitchFamily="49" charset="0"/>
              </a:rPr>
              <a:t>Closing proof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2250F8-DA41-D971-4576-8E8A07698F9C}"/>
              </a:ext>
            </a:extLst>
          </p:cNvPr>
          <p:cNvSpPr txBox="1"/>
          <p:nvPr/>
        </p:nvSpPr>
        <p:spPr>
          <a:xfrm>
            <a:off x="1100138" y="3557588"/>
            <a:ext cx="6858000" cy="3117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13" b="1">
                <a:solidFill>
                  <a:srgbClr val="FFFFFF"/>
                </a:solidFill>
                <a:latin typeface="Poppins" panose="00000500000000000000" pitchFamily="2" charset="0"/>
              </a:rPr>
              <a:t>We are not only prompting models. We are connecting AI to data, APIs, workflows, jobs, security controls, tests, dashboards, and measurable business outcomes.</a:t>
            </a:r>
            <a:endParaRPr lang="en-IN" sz="1013" b="1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890B0B-8CE6-A5EE-A28B-ADA120ED80A5}"/>
              </a:ext>
            </a:extLst>
          </p:cNvPr>
          <p:cNvSpPr/>
          <p:nvPr/>
        </p:nvSpPr>
        <p:spPr>
          <a:xfrm>
            <a:off x="10429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709DFD8-D774-84DC-6A1C-426392E9961E}"/>
              </a:ext>
            </a:extLst>
          </p:cNvPr>
          <p:cNvSpPr/>
          <p:nvPr/>
        </p:nvSpPr>
        <p:spPr>
          <a:xfrm>
            <a:off x="1143000" y="4171950"/>
            <a:ext cx="7000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160EE6-E501-57F2-6399-F49BE4D1F6D5}"/>
              </a:ext>
            </a:extLst>
          </p:cNvPr>
          <p:cNvSpPr txBox="1"/>
          <p:nvPr/>
        </p:nvSpPr>
        <p:spPr>
          <a:xfrm>
            <a:off x="1214438" y="4207669"/>
            <a:ext cx="5572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Breadth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1E48AC-21E5-A8CE-EADE-695A68F19833}"/>
              </a:ext>
            </a:extLst>
          </p:cNvPr>
          <p:cNvSpPr txBox="1"/>
          <p:nvPr/>
        </p:nvSpPr>
        <p:spPr>
          <a:xfrm>
            <a:off x="11715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LLMs, RAG, ML, agents, vision-ready flows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5640A84-89E4-B89B-3947-79988F7BDA6B}"/>
              </a:ext>
            </a:extLst>
          </p:cNvPr>
          <p:cNvSpPr/>
          <p:nvPr/>
        </p:nvSpPr>
        <p:spPr>
          <a:xfrm>
            <a:off x="35575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0C9CC39-2EB1-1514-926C-C5451E3C6BAB}"/>
              </a:ext>
            </a:extLst>
          </p:cNvPr>
          <p:cNvSpPr/>
          <p:nvPr/>
        </p:nvSpPr>
        <p:spPr>
          <a:xfrm>
            <a:off x="3657600" y="4171950"/>
            <a:ext cx="58578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5442F6-1BD8-46BD-9785-234F5CDA2D20}"/>
              </a:ext>
            </a:extLst>
          </p:cNvPr>
          <p:cNvSpPr txBox="1"/>
          <p:nvPr/>
        </p:nvSpPr>
        <p:spPr>
          <a:xfrm>
            <a:off x="3729038" y="4207669"/>
            <a:ext cx="4429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Depth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6BEEE5-01AE-3F1B-89E2-DEC0E56D2A93}"/>
              </a:ext>
            </a:extLst>
          </p:cNvPr>
          <p:cNvSpPr txBox="1"/>
          <p:nvPr/>
        </p:nvSpPr>
        <p:spPr>
          <a:xfrm>
            <a:off x="36861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Full-stack apps, APIs, queues, data, cloud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5491C90-7E0E-47F9-9119-0766F46F5F9C}"/>
              </a:ext>
            </a:extLst>
          </p:cNvPr>
          <p:cNvSpPr/>
          <p:nvPr/>
        </p:nvSpPr>
        <p:spPr>
          <a:xfrm>
            <a:off x="60721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A001B65-20E5-AE48-50BE-A56074D992C0}"/>
              </a:ext>
            </a:extLst>
          </p:cNvPr>
          <p:cNvSpPr/>
          <p:nvPr/>
        </p:nvSpPr>
        <p:spPr>
          <a:xfrm>
            <a:off x="6172200" y="4171950"/>
            <a:ext cx="757238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9BFA28-DC55-6BE0-D3CA-BF461B23D08D}"/>
              </a:ext>
            </a:extLst>
          </p:cNvPr>
          <p:cNvSpPr txBox="1"/>
          <p:nvPr/>
        </p:nvSpPr>
        <p:spPr>
          <a:xfrm>
            <a:off x="6243638" y="4207669"/>
            <a:ext cx="6143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Maturity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BEB41E-5B4F-625E-ECC2-A28B9FC6E198}"/>
              </a:ext>
            </a:extLst>
          </p:cNvPr>
          <p:cNvSpPr txBox="1"/>
          <p:nvPr/>
        </p:nvSpPr>
        <p:spPr>
          <a:xfrm>
            <a:off x="62007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Guardrails, audit, tests, telemetry, fallbacks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251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2574</Words>
  <Application>Microsoft Office PowerPoint</Application>
  <PresentationFormat>On-screen Show (16:9)</PresentationFormat>
  <Paragraphs>611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 Mono</vt:lpstr>
      <vt:lpstr>Arial</vt:lpstr>
      <vt:lpstr>Calibri</vt:lpstr>
      <vt:lpstr>Georgia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Workshop — Interactive Showcase</dc:title>
  <dc:subject>PptxGenJS Presentation</dc:subject>
  <dc:creator>AI Workshop</dc:creator>
  <cp:lastModifiedBy>Shayana, Anantha</cp:lastModifiedBy>
  <cp:revision>3</cp:revision>
  <dcterms:created xsi:type="dcterms:W3CDTF">2026-04-22T11:37:05Z</dcterms:created>
  <dcterms:modified xsi:type="dcterms:W3CDTF">2026-04-22T12:11:16Z</dcterms:modified>
</cp:coreProperties>
</file>